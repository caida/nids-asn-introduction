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1" d="100"/>
          <a:sy n="161" d="100"/>
        </p:scale>
        <p:origin x="260" y="1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 Ma" userId="76ce3eca6332f494" providerId="LiveId" clId="{321A1A51-A02B-408D-8854-C08751FFD88A}"/>
    <pc:docChg chg="modSld">
      <pc:chgData name="Alex Ma" userId="76ce3eca6332f494" providerId="LiveId" clId="{321A1A51-A02B-408D-8854-C08751FFD88A}" dt="2026-06-19T15:00:26.002" v="10" actId="20577"/>
      <pc:docMkLst>
        <pc:docMk/>
      </pc:docMkLst>
      <pc:sldChg chg="modSp mod">
        <pc:chgData name="Alex Ma" userId="76ce3eca6332f494" providerId="LiveId" clId="{321A1A51-A02B-408D-8854-C08751FFD88A}" dt="2026-06-19T15:00:26.002" v="10" actId="20577"/>
        <pc:sldMkLst>
          <pc:docMk/>
          <pc:sldMk cId="0" sldId="294"/>
        </pc:sldMkLst>
        <pc:spChg chg="mod">
          <ac:chgData name="Alex Ma" userId="76ce3eca6332f494" providerId="LiveId" clId="{321A1A51-A02B-408D-8854-C08751FFD88A}" dt="2026-06-19T15:00:26.002" v="10" actId="20577"/>
          <ac:spMkLst>
            <pc:docMk/>
            <pc:sldMk cId="0" sldId="294"/>
            <ac:spMk id="102" creationId="{00000000-0000-0000-0000-000000000000}"/>
          </ac:spMkLst>
        </pc:spChg>
      </pc:sldChg>
      <pc:sldChg chg="modSp mod">
        <pc:chgData name="Alex Ma" userId="76ce3eca6332f494" providerId="LiveId" clId="{321A1A51-A02B-408D-8854-C08751FFD88A}" dt="2026-06-19T14:59:57.485" v="2" actId="6549"/>
        <pc:sldMkLst>
          <pc:docMk/>
          <pc:sldMk cId="0" sldId="295"/>
        </pc:sldMkLst>
        <pc:spChg chg="mod">
          <ac:chgData name="Alex Ma" userId="76ce3eca6332f494" providerId="LiveId" clId="{321A1A51-A02B-408D-8854-C08751FFD88A}" dt="2026-06-19T14:59:57.485" v="2" actId="6549"/>
          <ac:spMkLst>
            <pc:docMk/>
            <pc:sldMk cId="0" sldId="295"/>
            <ac:spMk id="10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34913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Week 1. The picture on the right is an AS-level graph of the Internet — each dot is an autonomous network, sized by its customer cone, and the teal cluster is the kind of densely connected core we'll learn to analyze. This whole program is about learning to see structure like this in real, global-scale data. Plenary is Tuesday at noon Pacific; it won't be recorded, but all materials are posted and there's a hands-on hour plus mentor help for anyone who can't make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orientation. Nine weeks remote, then a four-day in-person hackathon at the San Diego Supercomputer Center, August 18–21. It's a pilot cohort of up to 24. We don't grade with letters — milestones gate progression, and mentors certify them in weekly one-on-ones.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kc leads; Brad, Ricky, and Jennifer are senior mentors who are actively building the modules and will help you through them — and help you create your own. Alex Ma handles admin and is your point of contact. Join Mattermost as soon as you can; that's where everything day-to-day happens.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program reuses the assignment backbone of a graduate measurement course, CSE 291-e, but the whole point is scale: we take exercises that fit on a laptop and push them to global datasets that don't. That's why you need NRP and Expanse. And unlike the original course, this is hands-on infrastructure training — we're not running a critical-reading seminar.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hours of contact a week: a plenary hour for the concepts, and a hands-on hour for infrastructure help. Around that, each week has its topics, its datasets and tools, a scaled assignment, and a module milestone. Optional background reading is provided each week, but there are no graded summaries and we won't be running paper discussions in the plenary.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capstone question — our north star for ten weeks. The hard part isn't 'is the country offline'; it's detecting and attributing partial degradation when nothing is fully down, and saying with calibrated confidence whether it's a cable, a cyber event, politics, or something routine. Every dataset we learn is one instrument for answering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answer the capstone question we turn 'degradation' into four observable signals — latency, path diversity, reachability, traffic volume — and each maps to a dataset family we'll cover in a later week. Today is the foundation: the AS structure that all of these signals are anchored to.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whole arc. Each week is one building block, deliberately ordered so later weeks depend on earlier ones. We're in block 1: Internet structure and ASNs. By week 9 you'll be fusing all of these; week 10 is the in-person hackathon.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is the conceptual foundation: what an autonomous system is, how the Internet is carved into them, and how we quantify a network's reach with its customer cone. The little tree on the right is exactly that — one AS at the top and the networks underneath it that depend on it.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mental model worth keeping all program: the hourglass. Many applications at the top, many physical technologies at the bottom, and a single thin waist — IP — connecting any app to any medium. Around that waist sit four jobs: addressing, routing, naming, and trust. Each is something we can measure, and each can fail in ways that show up as degradation.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 four jobs is observable, and each has a characteristic failure. You don't need the details today — the point is that the plumbing is measurable, and its failures are exactly the kind of evidence the capstone question asks about. There's a reference appendix at the end of the deck that goes a level deeper on each job for anyone reading on their own.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atom of Internet structure is the autonomous system — one network, one routing policy, one globally unique number. Registries hand out those numbers, and a single organization often holds several. CAIDA infers which org owns which ASN from WHOIS, and that AS-to-Org dataset is one of the two you'll work with this week.</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customer cone is the week's key metric. Follow only provider-to-customer links downward from an AS, and everything you reach is its cone; the number of ASNs is a simple measure of reach. It matters for the capstone because if a whole country depends on a handful of large cones, that's concentrated risk — and we quantify exactly that in week 4.</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the infrastructure. The reason this program exists is that real measurement datasets don't fit on a laptop, so we learn to run analyses on shared research computing — often the same job fanned out across many parallel workers, as on the right.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systems. NRP — the National Research Platform, also called Nautilus — is Kubernetes-based; you'll meet it through JupyterHub, move from interactive notebooks to parallel jobs, and your work lives in our namespace, caida-nids. Expanse is a traditional supercomputer at SDSC, scheduled with Slurm, for the heaviest longitudinal jobs starting around week 4. This week is all NRP.</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thing to do before Tuesday. Five steps: visit nrp.ai, log in with your institution, email us the exact address you used so we can add you to the caida-nids namespace, then open JupyterHub and start a server with the default options. Do it early so we have time to fix any access issues. And join Mattermost.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first assignment is an existing module, nids-asn-introduction, run entirely on NRP. It walks through ASN distribution and customer cones and ends with you tiering ASes by cone size. Finish every task and question. Because you're the pilot cohort, your milestone is also to document the onboarding experience as feedback — you're the module's first real evaluators.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datasets. AS-to-Org maps numbers to the organizations behind them, from WHOIS, delivered as JSON-lines. The customer cone dataset, serial-1, lists each AS's cone; you'll download the May 2026 ppdc-ases file. The format is simple, shown at the bottom: each line is an AS followed by its cone members, so the cone size is just the number of tokens minus one.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five things this week. Setup before Tuesday, join Mattermost, come to the plenary or catch up afterward, lean on the hands-on hour and your mentor, and finish Assignment 1. The reading is optional background — the AS-hegemony paper gives context for the dependency idea and comes back in week 9; there's no summary to write. Fastest way to reach us is Mattermost.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appendix slides expand the four jobs from the narrow-waist section. They aren't part of the live plenary — they're reference for anyone who wants the next level of detail on their own.</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detail on addressing. Addresses are locators handed out in a hierarchy from IANA to the RIRs to operators, who announce them as prefixes. IPv4 scarcity and uneven IPv6 adoption both matter for measurement coverage. WHOIS/IRR is what lets CAIDA infer which org holds which ASN.</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detail on routing. BGP is path-vector: ASes advertise full AS-paths and reject loops. Crucially, route choice is policy-first — local preference encodes business relationships and outranks path length, so paths are valley-free, not shortest. With no native authentication, hijacks and leaks are possible; RPKI and route-origin validation give partial protection.</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detail on naming. A stub resolver hands off to a recursive resolver that walks the delegated hierarchy and caches by TTL. Different record types carry different facts. Caching is why DNS is fast and why changes lag. DNSSEC adds integrity to detect poisoning, but it isn't universally deployed.</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detail on trust. TLS gives encryption; certificates give identity, validated up a chain to a trusted root. Clients check signatures, name match, and validity. Certificate Transparency logs make mis-issuance detectable. The last point ties it back: forged trust plus DNS or BGP manipulation is an impersonation event — the kind of thing the program's forensic question must distinguish from benign causes.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ero.png"/>
          <p:cNvPicPr>
            <a:picLocks noChangeAspect="1"/>
          </p:cNvPicPr>
          <p:nvPr/>
        </p:nvPicPr>
        <p:blipFill>
          <a:blip r:embed="rId3"/>
          <a:stretch>
            <a:fillRect/>
          </a:stretch>
        </p:blipFill>
        <p:spPr>
          <a:xfrm>
            <a:off x="5074920" y="411480"/>
            <a:ext cx="7040880" cy="3959352"/>
          </a:xfrm>
          <a:prstGeom prst="rect">
            <a:avLst/>
          </a:prstGeom>
        </p:spPr>
      </p:pic>
      <p:sp>
        <p:nvSpPr>
          <p:cNvPr id="3" name="Text 0"/>
          <p:cNvSpPr/>
          <p:nvPr/>
        </p:nvSpPr>
        <p:spPr>
          <a:xfrm>
            <a:off x="822960" y="960120"/>
            <a:ext cx="4754880" cy="274320"/>
          </a:xfrm>
          <a:prstGeom prst="rect">
            <a:avLst/>
          </a:prstGeom>
          <a:noFill/>
          <a:ln/>
        </p:spPr>
        <p:txBody>
          <a:bodyPr wrap="square" lIns="0" tIns="0" rIns="0" bIns="0" rtlCol="0" anchor="t"/>
          <a:lstStyle/>
          <a:p>
            <a:pPr marL="0" indent="0">
              <a:buNone/>
            </a:pPr>
            <a:r>
              <a:rPr lang="en-US" sz="1100" b="1" kern="0" spc="220" dirty="0">
                <a:solidFill>
                  <a:srgbClr val="2B5187"/>
                </a:solidFill>
                <a:latin typeface="Arial" pitchFamily="34" charset="0"/>
                <a:ea typeface="Arial" pitchFamily="34" charset="-122"/>
                <a:cs typeface="Arial" pitchFamily="34" charset="-120"/>
              </a:rPr>
              <a:t>ESCALATE TRAINING PROGRAM  ·  SUMMER 2026</a:t>
            </a:r>
            <a:endParaRPr lang="en-US" sz="1100" dirty="0"/>
          </a:p>
        </p:txBody>
      </p:sp>
      <p:sp>
        <p:nvSpPr>
          <p:cNvPr id="4" name="Text 1"/>
          <p:cNvSpPr/>
          <p:nvPr/>
        </p:nvSpPr>
        <p:spPr>
          <a:xfrm>
            <a:off x="822960" y="1371600"/>
            <a:ext cx="4937760" cy="1188720"/>
          </a:xfrm>
          <a:prstGeom prst="rect">
            <a:avLst/>
          </a:prstGeom>
          <a:noFill/>
          <a:ln/>
        </p:spPr>
        <p:txBody>
          <a:bodyPr wrap="square" lIns="0" tIns="0" rIns="0" bIns="0" rtlCol="0" anchor="t"/>
          <a:lstStyle/>
          <a:p>
            <a:pPr marL="0" indent="0">
              <a:lnSpc>
                <a:spcPct val="98000"/>
              </a:lnSpc>
              <a:buNone/>
            </a:pPr>
            <a:r>
              <a:rPr lang="en-US" sz="4200" b="1" dirty="0">
                <a:solidFill>
                  <a:srgbClr val="15171C"/>
                </a:solidFill>
                <a:latin typeface="Arial" pitchFamily="34" charset="0"/>
                <a:ea typeface="Arial" pitchFamily="34" charset="-122"/>
                <a:cs typeface="Arial" pitchFamily="34" charset="-120"/>
              </a:rPr>
              <a:t>How the Internet</a:t>
            </a:r>
            <a:endParaRPr lang="en-US" sz="4200" dirty="0"/>
          </a:p>
          <a:p>
            <a:pPr marL="0" indent="0">
              <a:lnSpc>
                <a:spcPct val="98000"/>
              </a:lnSpc>
              <a:buNone/>
            </a:pPr>
            <a:r>
              <a:rPr lang="en-US" sz="4200" b="1" dirty="0">
                <a:solidFill>
                  <a:srgbClr val="15171C"/>
                </a:solidFill>
                <a:latin typeface="Arial" pitchFamily="34" charset="0"/>
                <a:ea typeface="Arial" pitchFamily="34" charset="-122"/>
                <a:cs typeface="Arial" pitchFamily="34" charset="-120"/>
              </a:rPr>
              <a:t>is organized</a:t>
            </a:r>
            <a:endParaRPr lang="en-US" sz="4200" dirty="0"/>
          </a:p>
        </p:txBody>
      </p:sp>
      <p:sp>
        <p:nvSpPr>
          <p:cNvPr id="5" name="Text 2"/>
          <p:cNvSpPr/>
          <p:nvPr/>
        </p:nvSpPr>
        <p:spPr>
          <a:xfrm>
            <a:off x="822960" y="3063240"/>
            <a:ext cx="4297680" cy="822960"/>
          </a:xfrm>
          <a:prstGeom prst="rect">
            <a:avLst/>
          </a:prstGeom>
          <a:noFill/>
          <a:ln/>
        </p:spPr>
        <p:txBody>
          <a:bodyPr wrap="square" lIns="0" tIns="0" rIns="0" bIns="0" rtlCol="0" anchor="ctr"/>
          <a:lstStyle/>
          <a:p>
            <a:pPr marL="0" indent="0">
              <a:lnSpc>
                <a:spcPct val="110000"/>
              </a:lnSpc>
              <a:buNone/>
            </a:pPr>
            <a:r>
              <a:rPr lang="en-US" sz="1600" dirty="0">
                <a:solidFill>
                  <a:srgbClr val="33373F"/>
                </a:solidFill>
                <a:latin typeface="Arial" pitchFamily="34" charset="0"/>
                <a:ea typeface="Arial" pitchFamily="34" charset="-122"/>
                <a:cs typeface="Arial" pitchFamily="34" charset="-120"/>
              </a:rPr>
              <a:t>Week 1: the building blocks of Internet structure, and your first steps on NRP.</a:t>
            </a:r>
            <a:endParaRPr lang="en-US" sz="1600" dirty="0"/>
          </a:p>
        </p:txBody>
      </p:sp>
      <p:sp>
        <p:nvSpPr>
          <p:cNvPr id="6" name="Text 3"/>
          <p:cNvSpPr/>
          <p:nvPr/>
        </p:nvSpPr>
        <p:spPr>
          <a:xfrm>
            <a:off x="822960" y="5074920"/>
            <a:ext cx="2452878" cy="228600"/>
          </a:xfrm>
          <a:prstGeom prst="rect">
            <a:avLst/>
          </a:prstGeom>
          <a:noFill/>
          <a:ln/>
        </p:spPr>
        <p:txBody>
          <a:bodyPr wrap="square" lIns="0" tIns="0" rIns="0" bIns="0" rtlCol="0" anchor="ctr"/>
          <a:lstStyle/>
          <a:p>
            <a:pPr marL="0" indent="0">
              <a:buNone/>
            </a:pPr>
            <a:r>
              <a:rPr lang="en-US" sz="950" b="1" kern="0" spc="140" dirty="0">
                <a:solidFill>
                  <a:srgbClr val="6B7280"/>
                </a:solidFill>
                <a:latin typeface="Arial" pitchFamily="34" charset="0"/>
                <a:ea typeface="Arial" pitchFamily="34" charset="-122"/>
                <a:cs typeface="Arial" pitchFamily="34" charset="-120"/>
              </a:rPr>
              <a:t>PLENARY</a:t>
            </a:r>
            <a:endParaRPr lang="en-US" sz="950" dirty="0"/>
          </a:p>
        </p:txBody>
      </p:sp>
      <p:sp>
        <p:nvSpPr>
          <p:cNvPr id="7" name="Text 4"/>
          <p:cNvSpPr/>
          <p:nvPr/>
        </p:nvSpPr>
        <p:spPr>
          <a:xfrm>
            <a:off x="822960" y="5312664"/>
            <a:ext cx="2498598" cy="411480"/>
          </a:xfrm>
          <a:prstGeom prst="rect">
            <a:avLst/>
          </a:prstGeom>
          <a:noFill/>
          <a:ln/>
        </p:spPr>
        <p:txBody>
          <a:bodyPr wrap="square" lIns="0" tIns="0" rIns="0" bIns="0" rtlCol="0" anchor="ctr"/>
          <a:lstStyle/>
          <a:p>
            <a:pPr marL="0" indent="0">
              <a:buNone/>
            </a:pPr>
            <a:r>
              <a:rPr lang="en-US" sz="1300" b="1" dirty="0">
                <a:solidFill>
                  <a:srgbClr val="15171C"/>
                </a:solidFill>
                <a:latin typeface="Arial" pitchFamily="34" charset="0"/>
                <a:ea typeface="Arial" pitchFamily="34" charset="-122"/>
                <a:cs typeface="Arial" pitchFamily="34" charset="-120"/>
              </a:rPr>
              <a:t>Tue Jun 16 · 12:00 PT</a:t>
            </a:r>
            <a:endParaRPr lang="en-US" sz="1300" dirty="0"/>
          </a:p>
        </p:txBody>
      </p:sp>
      <p:sp>
        <p:nvSpPr>
          <p:cNvPr id="8" name="Text 5"/>
          <p:cNvSpPr/>
          <p:nvPr/>
        </p:nvSpPr>
        <p:spPr>
          <a:xfrm>
            <a:off x="3458718" y="5074920"/>
            <a:ext cx="2452878" cy="228600"/>
          </a:xfrm>
          <a:prstGeom prst="rect">
            <a:avLst/>
          </a:prstGeom>
          <a:noFill/>
          <a:ln/>
        </p:spPr>
        <p:txBody>
          <a:bodyPr wrap="square" lIns="0" tIns="0" rIns="0" bIns="0" rtlCol="0" anchor="ctr"/>
          <a:lstStyle/>
          <a:p>
            <a:pPr marL="0" indent="0">
              <a:buNone/>
            </a:pPr>
            <a:r>
              <a:rPr lang="en-US" sz="950" b="1" kern="0" spc="140" dirty="0">
                <a:solidFill>
                  <a:srgbClr val="6B7280"/>
                </a:solidFill>
                <a:latin typeface="Arial" pitchFamily="34" charset="0"/>
                <a:ea typeface="Arial" pitchFamily="34" charset="-122"/>
                <a:cs typeface="Arial" pitchFamily="34" charset="-120"/>
              </a:rPr>
              <a:t>INSTRUCTOR</a:t>
            </a:r>
            <a:endParaRPr lang="en-US" sz="950" dirty="0"/>
          </a:p>
        </p:txBody>
      </p:sp>
      <p:sp>
        <p:nvSpPr>
          <p:cNvPr id="9" name="Text 6"/>
          <p:cNvSpPr/>
          <p:nvPr/>
        </p:nvSpPr>
        <p:spPr>
          <a:xfrm>
            <a:off x="3458718" y="5312664"/>
            <a:ext cx="2498598" cy="411480"/>
          </a:xfrm>
          <a:prstGeom prst="rect">
            <a:avLst/>
          </a:prstGeom>
          <a:noFill/>
          <a:ln/>
        </p:spPr>
        <p:txBody>
          <a:bodyPr wrap="square" lIns="0" tIns="0" rIns="0" bIns="0" rtlCol="0" anchor="ctr"/>
          <a:lstStyle/>
          <a:p>
            <a:pPr marL="0" indent="0">
              <a:buNone/>
            </a:pPr>
            <a:r>
              <a:rPr lang="en-US" sz="1300" b="1" dirty="0">
                <a:solidFill>
                  <a:srgbClr val="15171C"/>
                </a:solidFill>
                <a:latin typeface="Arial" pitchFamily="34" charset="0"/>
                <a:ea typeface="Arial" pitchFamily="34" charset="-122"/>
                <a:cs typeface="Arial" pitchFamily="34" charset="-120"/>
              </a:rPr>
              <a:t>kc claffy</a:t>
            </a:r>
            <a:endParaRPr lang="en-US" sz="1300" dirty="0"/>
          </a:p>
        </p:txBody>
      </p:sp>
      <p:sp>
        <p:nvSpPr>
          <p:cNvPr id="10" name="Text 7"/>
          <p:cNvSpPr/>
          <p:nvPr/>
        </p:nvSpPr>
        <p:spPr>
          <a:xfrm>
            <a:off x="6094476" y="5074920"/>
            <a:ext cx="2452878" cy="228600"/>
          </a:xfrm>
          <a:prstGeom prst="rect">
            <a:avLst/>
          </a:prstGeom>
          <a:noFill/>
          <a:ln/>
        </p:spPr>
        <p:txBody>
          <a:bodyPr wrap="square" lIns="0" tIns="0" rIns="0" bIns="0" rtlCol="0" anchor="ctr"/>
          <a:lstStyle/>
          <a:p>
            <a:pPr marL="0" indent="0">
              <a:buNone/>
            </a:pPr>
            <a:r>
              <a:rPr lang="en-US" sz="950" b="1" kern="0" spc="140" dirty="0">
                <a:solidFill>
                  <a:srgbClr val="6B7280"/>
                </a:solidFill>
                <a:latin typeface="Arial" pitchFamily="34" charset="0"/>
                <a:ea typeface="Arial" pitchFamily="34" charset="-122"/>
                <a:cs typeface="Arial" pitchFamily="34" charset="-120"/>
              </a:rPr>
              <a:t>SENIOR MENTORS</a:t>
            </a:r>
            <a:endParaRPr lang="en-US" sz="950" dirty="0"/>
          </a:p>
        </p:txBody>
      </p:sp>
      <p:sp>
        <p:nvSpPr>
          <p:cNvPr id="11" name="Text 8"/>
          <p:cNvSpPr/>
          <p:nvPr/>
        </p:nvSpPr>
        <p:spPr>
          <a:xfrm>
            <a:off x="6096762" y="5312664"/>
            <a:ext cx="2498598" cy="411480"/>
          </a:xfrm>
          <a:prstGeom prst="rect">
            <a:avLst/>
          </a:prstGeom>
          <a:noFill/>
          <a:ln/>
        </p:spPr>
        <p:txBody>
          <a:bodyPr wrap="square" lIns="0" tIns="0" rIns="0" bIns="0" rtlCol="0" anchor="ctr"/>
          <a:lstStyle/>
          <a:p>
            <a:pPr marL="0" indent="0">
              <a:buNone/>
            </a:pPr>
            <a:r>
              <a:rPr lang="en-US" sz="1300" b="1" dirty="0">
                <a:solidFill>
                  <a:srgbClr val="15171C"/>
                </a:solidFill>
                <a:latin typeface="Arial" pitchFamily="34" charset="0"/>
                <a:ea typeface="Arial" pitchFamily="34" charset="-122"/>
                <a:cs typeface="Arial" pitchFamily="34" charset="-120"/>
              </a:rPr>
              <a:t>Ricky Mok</a:t>
            </a:r>
          </a:p>
          <a:p>
            <a:pPr marL="0" indent="0">
              <a:buNone/>
            </a:pPr>
            <a:r>
              <a:rPr lang="en-US" sz="1300" b="1" dirty="0">
                <a:solidFill>
                  <a:srgbClr val="15171C"/>
                </a:solidFill>
                <a:latin typeface="Arial" pitchFamily="34" charset="0"/>
                <a:ea typeface="Arial" pitchFamily="34" charset="-122"/>
                <a:cs typeface="Arial" pitchFamily="34" charset="-120"/>
              </a:rPr>
              <a:t>Bradley Huffaker</a:t>
            </a:r>
          </a:p>
          <a:p>
            <a:pPr marL="0" indent="0">
              <a:buNone/>
            </a:pPr>
            <a:r>
              <a:rPr lang="en-US" sz="1300" b="1" dirty="0">
                <a:solidFill>
                  <a:srgbClr val="15171C"/>
                </a:solidFill>
                <a:latin typeface="Arial" pitchFamily="34" charset="0"/>
                <a:ea typeface="Arial" pitchFamily="34" charset="-122"/>
                <a:cs typeface="Arial" pitchFamily="34" charset="-120"/>
              </a:rPr>
              <a:t>Rocky Chang</a:t>
            </a:r>
          </a:p>
        </p:txBody>
      </p:sp>
      <p:sp>
        <p:nvSpPr>
          <p:cNvPr id="12" name="Text 9"/>
          <p:cNvSpPr/>
          <p:nvPr/>
        </p:nvSpPr>
        <p:spPr>
          <a:xfrm>
            <a:off x="8730234" y="5074920"/>
            <a:ext cx="2452878" cy="228600"/>
          </a:xfrm>
          <a:prstGeom prst="rect">
            <a:avLst/>
          </a:prstGeom>
          <a:noFill/>
          <a:ln/>
        </p:spPr>
        <p:txBody>
          <a:bodyPr wrap="square" lIns="0" tIns="0" rIns="0" bIns="0" rtlCol="0" anchor="ctr"/>
          <a:lstStyle/>
          <a:p>
            <a:pPr marL="0" indent="0">
              <a:buNone/>
            </a:pPr>
            <a:r>
              <a:rPr lang="en-US" sz="950" b="1" kern="0" spc="140" dirty="0">
                <a:solidFill>
                  <a:srgbClr val="6B7280"/>
                </a:solidFill>
                <a:latin typeface="Arial" pitchFamily="34" charset="0"/>
                <a:cs typeface="Arial" pitchFamily="34" charset="-120"/>
              </a:rPr>
              <a:t>PROGRAM CONTACT</a:t>
            </a:r>
            <a:endParaRPr lang="en-US" sz="950" dirty="0"/>
          </a:p>
        </p:txBody>
      </p:sp>
      <p:sp>
        <p:nvSpPr>
          <p:cNvPr id="13" name="Text 10"/>
          <p:cNvSpPr/>
          <p:nvPr/>
        </p:nvSpPr>
        <p:spPr>
          <a:xfrm>
            <a:off x="8730234" y="5312664"/>
            <a:ext cx="2950000" cy="411480"/>
          </a:xfrm>
          <a:prstGeom prst="rect">
            <a:avLst/>
          </a:prstGeom>
          <a:noFill/>
          <a:ln/>
        </p:spPr>
        <p:txBody>
          <a:bodyPr wrap="square" lIns="0" tIns="0" rIns="0" bIns="0" rtlCol="0" anchor="ctr"/>
          <a:lstStyle/>
          <a:p>
            <a:r>
              <a:rPr lang="en-US" sz="1300" b="1" dirty="0">
                <a:solidFill>
                  <a:srgbClr val="15171C"/>
                </a:solidFill>
                <a:latin typeface="Arial" pitchFamily="34" charset="0"/>
                <a:ea typeface="Arial" pitchFamily="34" charset="-122"/>
                <a:cs typeface="Arial" pitchFamily="34" charset="-120"/>
              </a:rPr>
              <a:t>Alex Ma</a:t>
            </a:r>
          </a:p>
        </p:txBody>
      </p:sp>
      <p:sp>
        <p:nvSpPr>
          <p:cNvPr id="14" name="Text 11"/>
          <p:cNvSpPr/>
          <p:nvPr/>
        </p:nvSpPr>
        <p:spPr>
          <a:xfrm>
            <a:off x="822960" y="6263640"/>
            <a:ext cx="8229600" cy="274320"/>
          </a:xfrm>
          <a:prstGeom prst="rect">
            <a:avLst/>
          </a:prstGeom>
          <a:noFill/>
          <a:ln/>
        </p:spPr>
        <p:txBody>
          <a:bodyPr wrap="square" lIns="0" tIns="0" rIns="0" bIns="0" rtlCol="0" anchor="ctr"/>
          <a:lstStyle/>
          <a:p>
            <a:pPr marL="0" indent="0">
              <a:buNone/>
            </a:pPr>
            <a:r>
              <a:rPr lang="en-US" sz="1000" dirty="0">
                <a:solidFill>
                  <a:srgbClr val="6B7280"/>
                </a:solidFill>
                <a:latin typeface="Arial" pitchFamily="34" charset="0"/>
                <a:ea typeface="Arial" pitchFamily="34" charset="-122"/>
                <a:cs typeface="Arial" pitchFamily="34" charset="-120"/>
              </a:rPr>
              <a:t>Supported by the NSF ESCALATE project · OAC-2519416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074152" y="384048"/>
            <a:ext cx="3291840" cy="274320"/>
          </a:xfrm>
          <a:prstGeom prst="rect">
            <a:avLst/>
          </a:prstGeom>
          <a:noFill/>
          <a:ln/>
        </p:spPr>
        <p:txBody>
          <a:bodyPr wrap="square" lIns="0" tIns="0" rIns="0" bIns="0" rtlCol="0" anchor="ctr"/>
          <a:lstStyle/>
          <a:p>
            <a:pPr marL="0" indent="0" algn="r">
              <a:buNone/>
            </a:pPr>
            <a:r>
              <a:rPr lang="en-US" sz="1000" b="1" kern="0" spc="120" dirty="0">
                <a:solidFill>
                  <a:srgbClr val="15171C"/>
                </a:solidFill>
                <a:latin typeface="Arial" pitchFamily="34" charset="0"/>
                <a:ea typeface="Arial" pitchFamily="34" charset="-122"/>
                <a:cs typeface="Arial" pitchFamily="34" charset="-120"/>
              </a:rPr>
              <a:t>WEEK 1</a:t>
            </a:r>
            <a:r>
              <a:rPr lang="en-US" sz="1000" kern="0" spc="120" dirty="0">
                <a:solidFill>
                  <a:srgbClr val="6B7280"/>
                </a:solidFill>
                <a:latin typeface="Arial" pitchFamily="34" charset="0"/>
                <a:ea typeface="Arial" pitchFamily="34" charset="-122"/>
                <a:cs typeface="Arial" pitchFamily="34" charset="-120"/>
              </a:rPr>
              <a:t>  ·  BUILDING BLOCK </a:t>
            </a:r>
            <a:r>
              <a:rPr lang="en-US" sz="1000" b="1" kern="0" spc="120" dirty="0">
                <a:solidFill>
                  <a:srgbClr val="2B5187"/>
                </a:solidFill>
                <a:latin typeface="Arial" pitchFamily="34" charset="0"/>
                <a:ea typeface="Arial" pitchFamily="34" charset="-122"/>
                <a:cs typeface="Arial" pitchFamily="34" charset="-120"/>
              </a:rPr>
              <a:t>1</a:t>
            </a:r>
            <a:r>
              <a:rPr lang="en-US" sz="1000" kern="0" spc="120" dirty="0">
                <a:solidFill>
                  <a:srgbClr val="6B7280"/>
                </a:solidFill>
                <a:latin typeface="Arial" pitchFamily="34" charset="0"/>
                <a:ea typeface="Arial" pitchFamily="34" charset="-122"/>
                <a:cs typeface="Arial" pitchFamily="34" charset="-120"/>
              </a:rPr>
              <a:t> / 10</a:t>
            </a:r>
            <a:endParaRPr lang="en-US" sz="1000" dirty="0"/>
          </a:p>
        </p:txBody>
      </p:sp>
      <p:sp>
        <p:nvSpPr>
          <p:cNvPr id="3" name="Text 1"/>
          <p:cNvSpPr/>
          <p:nvPr/>
        </p:nvSpPr>
        <p:spPr>
          <a:xfrm>
            <a:off x="822960" y="640080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Arial" pitchFamily="34" charset="0"/>
                <a:ea typeface="Arial" pitchFamily="34" charset="-122"/>
                <a:cs typeface="Arial" pitchFamily="34" charset="-120"/>
              </a:rPr>
              <a:t>ESCALATE Training Program · Summer 2026</a:t>
            </a:r>
            <a:endParaRPr lang="en-US" sz="900" dirty="0"/>
          </a:p>
        </p:txBody>
      </p:sp>
      <p:sp>
        <p:nvSpPr>
          <p:cNvPr id="5" name="Text 3"/>
          <p:cNvSpPr/>
          <p:nvPr/>
        </p:nvSpPr>
        <p:spPr>
          <a:xfrm>
            <a:off x="822960" y="548640"/>
            <a:ext cx="5486400" cy="274320"/>
          </a:xfrm>
          <a:prstGeom prst="rect">
            <a:avLst/>
          </a:prstGeom>
          <a:noFill/>
          <a:ln/>
        </p:spPr>
        <p:txBody>
          <a:bodyPr wrap="square" lIns="0" tIns="0" rIns="0" bIns="0" rtlCol="0" anchor="t"/>
          <a:lstStyle/>
          <a:p>
            <a:pPr marL="0" indent="0">
              <a:buNone/>
            </a:pPr>
            <a:r>
              <a:rPr lang="en-US" sz="1100" b="1" kern="0" spc="220" dirty="0">
                <a:solidFill>
                  <a:srgbClr val="2B5187"/>
                </a:solidFill>
                <a:latin typeface="Arial" pitchFamily="34" charset="0"/>
                <a:ea typeface="Arial" pitchFamily="34" charset="-122"/>
                <a:cs typeface="Arial" pitchFamily="34" charset="-120"/>
              </a:rPr>
              <a:t>WELCOME</a:t>
            </a:r>
            <a:endParaRPr lang="en-US" sz="1100" dirty="0"/>
          </a:p>
        </p:txBody>
      </p:sp>
      <p:sp>
        <p:nvSpPr>
          <p:cNvPr id="6" name="Text 4"/>
          <p:cNvSpPr/>
          <p:nvPr/>
        </p:nvSpPr>
        <p:spPr>
          <a:xfrm>
            <a:off x="822960" y="868680"/>
            <a:ext cx="10607040" cy="1188720"/>
          </a:xfrm>
          <a:prstGeom prst="rect">
            <a:avLst/>
          </a:prstGeom>
          <a:noFill/>
          <a:ln/>
        </p:spPr>
        <p:txBody>
          <a:bodyPr wrap="square" lIns="0" tIns="0" rIns="0" bIns="0" rtlCol="0" anchor="t"/>
          <a:lstStyle/>
          <a:p>
            <a:pPr marL="0" indent="0">
              <a:lnSpc>
                <a:spcPct val="98000"/>
              </a:lnSpc>
              <a:buNone/>
            </a:pPr>
            <a:r>
              <a:rPr lang="en-US" sz="3000" b="1" dirty="0">
                <a:solidFill>
                  <a:srgbClr val="15171C"/>
                </a:solidFill>
                <a:latin typeface="Arial" pitchFamily="34" charset="0"/>
                <a:ea typeface="Arial" pitchFamily="34" charset="-122"/>
                <a:cs typeface="Arial" pitchFamily="34" charset="-120"/>
              </a:rPr>
              <a:t>A ten-week program in Internet measurement</a:t>
            </a:r>
            <a:endParaRPr lang="en-US" sz="3000" dirty="0"/>
          </a:p>
        </p:txBody>
      </p:sp>
      <p:sp>
        <p:nvSpPr>
          <p:cNvPr id="7" name="Text 5"/>
          <p:cNvSpPr/>
          <p:nvPr/>
        </p:nvSpPr>
        <p:spPr>
          <a:xfrm>
            <a:off x="822960" y="1783080"/>
            <a:ext cx="10543032" cy="822960"/>
          </a:xfrm>
          <a:prstGeom prst="rect">
            <a:avLst/>
          </a:prstGeom>
          <a:noFill/>
          <a:ln/>
        </p:spPr>
        <p:txBody>
          <a:bodyPr wrap="square" lIns="0" tIns="0" rIns="0" bIns="0" rtlCol="0" anchor="ctr"/>
          <a:lstStyle/>
          <a:p>
            <a:pPr marL="0" indent="0">
              <a:lnSpc>
                <a:spcPct val="112000"/>
              </a:lnSpc>
              <a:buNone/>
            </a:pPr>
            <a:r>
              <a:rPr lang="en-US" sz="2000" dirty="0">
                <a:solidFill>
                  <a:srgbClr val="33373F"/>
                </a:solidFill>
                <a:latin typeface="Arial" pitchFamily="34" charset="0"/>
                <a:ea typeface="Arial" pitchFamily="34" charset="-122"/>
                <a:cs typeface="Arial" pitchFamily="34" charset="-120"/>
              </a:rPr>
              <a:t>You'll take the small-data assignments of a graduate measurement course and scale them to global datasets, learning to run them on research supercomputing along the way. Every assignment also becomes a section of your own reusable training module, the program's main deliverable.</a:t>
            </a:r>
            <a:endParaRPr lang="en-US" sz="1500" dirty="0"/>
          </a:p>
        </p:txBody>
      </p:sp>
      <p:sp>
        <p:nvSpPr>
          <p:cNvPr id="8" name="Shape 6"/>
          <p:cNvSpPr/>
          <p:nvPr/>
        </p:nvSpPr>
        <p:spPr>
          <a:xfrm>
            <a:off x="822960" y="2971800"/>
            <a:ext cx="2430018" cy="1737360"/>
          </a:xfrm>
          <a:prstGeom prst="roundRect">
            <a:avLst>
              <a:gd name="adj" fmla="val 3684"/>
            </a:avLst>
          </a:prstGeom>
          <a:solidFill>
            <a:srgbClr val="F7F8FA"/>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9" name="Text 7"/>
          <p:cNvSpPr/>
          <p:nvPr/>
        </p:nvSpPr>
        <p:spPr>
          <a:xfrm>
            <a:off x="1051560" y="3264408"/>
            <a:ext cx="2018538" cy="640080"/>
          </a:xfrm>
          <a:prstGeom prst="rect">
            <a:avLst/>
          </a:prstGeom>
          <a:noFill/>
          <a:ln/>
        </p:spPr>
        <p:txBody>
          <a:bodyPr wrap="square" lIns="0" tIns="0" rIns="0" bIns="0" rtlCol="0" anchor="ctr"/>
          <a:lstStyle/>
          <a:p>
            <a:pPr marL="0" indent="0">
              <a:buNone/>
            </a:pPr>
            <a:r>
              <a:rPr lang="en-US" sz="2700" b="1" dirty="0">
                <a:solidFill>
                  <a:srgbClr val="2B5187"/>
                </a:solidFill>
                <a:latin typeface="Arial" pitchFamily="34" charset="0"/>
                <a:ea typeface="Arial" pitchFamily="34" charset="-122"/>
                <a:cs typeface="Arial" pitchFamily="34" charset="-120"/>
              </a:rPr>
              <a:t>10</a:t>
            </a:r>
            <a:endParaRPr lang="en-US" sz="2700" dirty="0"/>
          </a:p>
        </p:txBody>
      </p:sp>
      <p:sp>
        <p:nvSpPr>
          <p:cNvPr id="10" name="Text 8"/>
          <p:cNvSpPr/>
          <p:nvPr/>
        </p:nvSpPr>
        <p:spPr>
          <a:xfrm>
            <a:off x="1051560" y="3995928"/>
            <a:ext cx="1972818" cy="594360"/>
          </a:xfrm>
          <a:prstGeom prst="rect">
            <a:avLst/>
          </a:prstGeom>
          <a:noFill/>
          <a:ln/>
        </p:spPr>
        <p:txBody>
          <a:bodyPr wrap="square" lIns="0" tIns="0" rIns="0" bIns="0" rtlCol="0" anchor="ctr"/>
          <a:lstStyle/>
          <a:p>
            <a:pPr marL="0" indent="0">
              <a:lnSpc>
                <a:spcPct val="105000"/>
              </a:lnSpc>
              <a:buNone/>
            </a:pPr>
            <a:r>
              <a:rPr lang="en-US" sz="1600" dirty="0">
                <a:solidFill>
                  <a:srgbClr val="33373F"/>
                </a:solidFill>
                <a:latin typeface="Arial" pitchFamily="34" charset="0"/>
                <a:ea typeface="Arial" pitchFamily="34" charset="-122"/>
                <a:cs typeface="Arial" pitchFamily="34" charset="-120"/>
              </a:rPr>
              <a:t>weeks, Jun 15 – Aug 21</a:t>
            </a:r>
            <a:endParaRPr lang="en-US" sz="1250" dirty="0"/>
          </a:p>
        </p:txBody>
      </p:sp>
      <p:sp>
        <p:nvSpPr>
          <p:cNvPr id="11" name="Shape 9"/>
          <p:cNvSpPr/>
          <p:nvPr/>
        </p:nvSpPr>
        <p:spPr>
          <a:xfrm>
            <a:off x="3527298" y="2971800"/>
            <a:ext cx="2430018" cy="1737360"/>
          </a:xfrm>
          <a:prstGeom prst="roundRect">
            <a:avLst>
              <a:gd name="adj" fmla="val 3684"/>
            </a:avLst>
          </a:prstGeom>
          <a:solidFill>
            <a:srgbClr val="F7F8FA"/>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12" name="Text 10"/>
          <p:cNvSpPr/>
          <p:nvPr/>
        </p:nvSpPr>
        <p:spPr>
          <a:xfrm>
            <a:off x="3755898" y="3264408"/>
            <a:ext cx="2018538" cy="640080"/>
          </a:xfrm>
          <a:prstGeom prst="rect">
            <a:avLst/>
          </a:prstGeom>
          <a:noFill/>
          <a:ln/>
        </p:spPr>
        <p:txBody>
          <a:bodyPr wrap="square" lIns="0" tIns="0" rIns="0" bIns="0" rtlCol="0" anchor="ctr"/>
          <a:lstStyle/>
          <a:p>
            <a:pPr marL="0" indent="0">
              <a:buNone/>
            </a:pPr>
            <a:r>
              <a:rPr lang="en-US" sz="2700" b="1" dirty="0">
                <a:solidFill>
                  <a:srgbClr val="2B5187"/>
                </a:solidFill>
                <a:latin typeface="Arial" pitchFamily="34" charset="0"/>
                <a:ea typeface="Arial" pitchFamily="34" charset="-122"/>
                <a:cs typeface="Arial" pitchFamily="34" charset="-120"/>
              </a:rPr>
              <a:t>9 + 1</a:t>
            </a:r>
            <a:endParaRPr lang="en-US" sz="2700" dirty="0"/>
          </a:p>
        </p:txBody>
      </p:sp>
      <p:sp>
        <p:nvSpPr>
          <p:cNvPr id="13" name="Text 11"/>
          <p:cNvSpPr/>
          <p:nvPr/>
        </p:nvSpPr>
        <p:spPr>
          <a:xfrm>
            <a:off x="3755898" y="3995928"/>
            <a:ext cx="1972818" cy="594360"/>
          </a:xfrm>
          <a:prstGeom prst="rect">
            <a:avLst/>
          </a:prstGeom>
          <a:noFill/>
          <a:ln/>
        </p:spPr>
        <p:txBody>
          <a:bodyPr wrap="square" lIns="0" tIns="0" rIns="0" bIns="0" rtlCol="0" anchor="ctr"/>
          <a:lstStyle/>
          <a:p>
            <a:pPr marL="0" indent="0">
              <a:lnSpc>
                <a:spcPct val="105000"/>
              </a:lnSpc>
              <a:buNone/>
            </a:pPr>
            <a:r>
              <a:rPr lang="en-US" sz="1600" dirty="0">
                <a:solidFill>
                  <a:srgbClr val="33373F"/>
                </a:solidFill>
                <a:latin typeface="Arial" pitchFamily="34" charset="0"/>
                <a:ea typeface="Arial" pitchFamily="34" charset="-122"/>
                <a:cs typeface="Arial" pitchFamily="34" charset="-120"/>
              </a:rPr>
              <a:t>weeks remote, then on-site</a:t>
            </a:r>
            <a:endParaRPr lang="en-US" sz="1250" dirty="0"/>
          </a:p>
        </p:txBody>
      </p:sp>
      <p:sp>
        <p:nvSpPr>
          <p:cNvPr id="14" name="Shape 12"/>
          <p:cNvSpPr/>
          <p:nvPr/>
        </p:nvSpPr>
        <p:spPr>
          <a:xfrm>
            <a:off x="6231636" y="2971800"/>
            <a:ext cx="2430018" cy="1737360"/>
          </a:xfrm>
          <a:prstGeom prst="roundRect">
            <a:avLst>
              <a:gd name="adj" fmla="val 3684"/>
            </a:avLst>
          </a:prstGeom>
          <a:solidFill>
            <a:srgbClr val="F7F8FA"/>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15" name="Text 13"/>
          <p:cNvSpPr/>
          <p:nvPr/>
        </p:nvSpPr>
        <p:spPr>
          <a:xfrm>
            <a:off x="6460236" y="3264408"/>
            <a:ext cx="2018538" cy="640080"/>
          </a:xfrm>
          <a:prstGeom prst="rect">
            <a:avLst/>
          </a:prstGeom>
          <a:noFill/>
          <a:ln/>
        </p:spPr>
        <p:txBody>
          <a:bodyPr wrap="square" lIns="0" tIns="0" rIns="0" bIns="0" rtlCol="0" anchor="ctr"/>
          <a:lstStyle/>
          <a:p>
            <a:pPr marL="0" indent="0">
              <a:buNone/>
            </a:pPr>
            <a:r>
              <a:rPr lang="en-US" sz="2700" b="1" dirty="0">
                <a:solidFill>
                  <a:srgbClr val="2B5187"/>
                </a:solidFill>
                <a:latin typeface="Arial" pitchFamily="34" charset="0"/>
                <a:ea typeface="Arial" pitchFamily="34" charset="-122"/>
                <a:cs typeface="Arial" pitchFamily="34" charset="-120"/>
              </a:rPr>
              <a:t>≤ 24</a:t>
            </a:r>
            <a:endParaRPr lang="en-US" sz="2700" dirty="0"/>
          </a:p>
        </p:txBody>
      </p:sp>
      <p:sp>
        <p:nvSpPr>
          <p:cNvPr id="16" name="Text 14"/>
          <p:cNvSpPr/>
          <p:nvPr/>
        </p:nvSpPr>
        <p:spPr>
          <a:xfrm>
            <a:off x="6460236" y="3995928"/>
            <a:ext cx="1972818" cy="594360"/>
          </a:xfrm>
          <a:prstGeom prst="rect">
            <a:avLst/>
          </a:prstGeom>
          <a:noFill/>
          <a:ln/>
        </p:spPr>
        <p:txBody>
          <a:bodyPr wrap="square" lIns="0" tIns="0" rIns="0" bIns="0" rtlCol="0" anchor="ctr"/>
          <a:lstStyle/>
          <a:p>
            <a:pPr marL="0" indent="0">
              <a:lnSpc>
                <a:spcPct val="105000"/>
              </a:lnSpc>
              <a:buNone/>
            </a:pPr>
            <a:r>
              <a:rPr lang="en-US" sz="1600" dirty="0">
                <a:solidFill>
                  <a:srgbClr val="33373F"/>
                </a:solidFill>
                <a:latin typeface="Arial" pitchFamily="34" charset="0"/>
                <a:ea typeface="Arial" pitchFamily="34" charset="-122"/>
                <a:cs typeface="Arial" pitchFamily="34" charset="-120"/>
              </a:rPr>
              <a:t>participants in the pilot cohort</a:t>
            </a:r>
            <a:endParaRPr lang="en-US" sz="1250" dirty="0"/>
          </a:p>
        </p:txBody>
      </p:sp>
      <p:sp>
        <p:nvSpPr>
          <p:cNvPr id="17" name="Shape 15"/>
          <p:cNvSpPr/>
          <p:nvPr/>
        </p:nvSpPr>
        <p:spPr>
          <a:xfrm>
            <a:off x="8935974" y="2971800"/>
            <a:ext cx="2430018" cy="1737360"/>
          </a:xfrm>
          <a:prstGeom prst="roundRect">
            <a:avLst>
              <a:gd name="adj" fmla="val 3684"/>
            </a:avLst>
          </a:prstGeom>
          <a:solidFill>
            <a:srgbClr val="F7F8FA"/>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18" name="Text 16"/>
          <p:cNvSpPr/>
          <p:nvPr/>
        </p:nvSpPr>
        <p:spPr>
          <a:xfrm>
            <a:off x="9164574" y="3264408"/>
            <a:ext cx="2018538" cy="640080"/>
          </a:xfrm>
          <a:prstGeom prst="rect">
            <a:avLst/>
          </a:prstGeom>
          <a:noFill/>
          <a:ln/>
        </p:spPr>
        <p:txBody>
          <a:bodyPr wrap="square" lIns="0" tIns="0" rIns="0" bIns="0" rtlCol="0" anchor="ctr"/>
          <a:lstStyle/>
          <a:p>
            <a:pPr marL="0" indent="0">
              <a:buNone/>
            </a:pPr>
            <a:r>
              <a:rPr lang="en-US" sz="2700" b="1" dirty="0">
                <a:solidFill>
                  <a:srgbClr val="2B5187"/>
                </a:solidFill>
                <a:latin typeface="Arial" pitchFamily="34" charset="0"/>
                <a:ea typeface="Arial" pitchFamily="34" charset="-122"/>
                <a:cs typeface="Arial" pitchFamily="34" charset="-120"/>
              </a:rPr>
              <a:t>Aug 18–21</a:t>
            </a:r>
            <a:endParaRPr lang="en-US" sz="2700" dirty="0"/>
          </a:p>
        </p:txBody>
      </p:sp>
      <p:sp>
        <p:nvSpPr>
          <p:cNvPr id="19" name="Text 17"/>
          <p:cNvSpPr/>
          <p:nvPr/>
        </p:nvSpPr>
        <p:spPr>
          <a:xfrm>
            <a:off x="9164574" y="3995928"/>
            <a:ext cx="1972818" cy="594360"/>
          </a:xfrm>
          <a:prstGeom prst="rect">
            <a:avLst/>
          </a:prstGeom>
          <a:noFill/>
          <a:ln/>
        </p:spPr>
        <p:txBody>
          <a:bodyPr wrap="square" lIns="0" tIns="0" rIns="0" bIns="0" rtlCol="0" anchor="ctr"/>
          <a:lstStyle/>
          <a:p>
            <a:pPr marL="0" indent="0">
              <a:lnSpc>
                <a:spcPct val="105000"/>
              </a:lnSpc>
              <a:buNone/>
            </a:pPr>
            <a:r>
              <a:rPr lang="en-US" sz="1600" dirty="0">
                <a:solidFill>
                  <a:srgbClr val="33373F"/>
                </a:solidFill>
                <a:latin typeface="Arial" pitchFamily="34" charset="0"/>
                <a:ea typeface="Arial" pitchFamily="34" charset="-122"/>
                <a:cs typeface="Arial" pitchFamily="34" charset="-120"/>
              </a:rPr>
              <a:t>hackathon at SDSC</a:t>
            </a:r>
            <a:endParaRPr lang="en-US" sz="1250" dirty="0"/>
          </a:p>
        </p:txBody>
      </p:sp>
      <p:sp>
        <p:nvSpPr>
          <p:cNvPr id="20" name="Text 18"/>
          <p:cNvSpPr/>
          <p:nvPr/>
        </p:nvSpPr>
        <p:spPr>
          <a:xfrm>
            <a:off x="822960" y="5074920"/>
            <a:ext cx="10543032" cy="731520"/>
          </a:xfrm>
          <a:prstGeom prst="rect">
            <a:avLst/>
          </a:prstGeom>
          <a:noFill/>
          <a:ln/>
        </p:spPr>
        <p:txBody>
          <a:bodyPr wrap="square" lIns="0" tIns="0" rIns="0" bIns="0" rtlCol="0" anchor="ctr"/>
          <a:lstStyle/>
          <a:p>
            <a:pPr marL="0" indent="0">
              <a:lnSpc>
                <a:spcPct val="110000"/>
              </a:lnSpc>
              <a:buNone/>
            </a:pPr>
            <a:r>
              <a:rPr lang="en-US" sz="2000" i="1" dirty="0">
                <a:solidFill>
                  <a:srgbClr val="6B7280"/>
                </a:solidFill>
                <a:latin typeface="Arial" pitchFamily="34" charset="0"/>
                <a:ea typeface="Arial" pitchFamily="34" charset="-122"/>
                <a:cs typeface="Arial" pitchFamily="34" charset="-120"/>
              </a:rPr>
              <a:t>Milestone-structured, not letter-graded: you progress as you complete each block. Full-time runs ~10–40 hrs/week; part-time participants hit the same milestones on a longer schedule.</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074152" y="384048"/>
            <a:ext cx="3291840" cy="274320"/>
          </a:xfrm>
          <a:prstGeom prst="rect">
            <a:avLst/>
          </a:prstGeom>
          <a:noFill/>
          <a:ln/>
        </p:spPr>
        <p:txBody>
          <a:bodyPr wrap="square" lIns="0" tIns="0" rIns="0" bIns="0" rtlCol="0" anchor="ctr"/>
          <a:lstStyle/>
          <a:p>
            <a:pPr marL="0" indent="0" algn="r">
              <a:buNone/>
            </a:pPr>
            <a:r>
              <a:rPr lang="en-US" sz="1000" b="1" kern="0" spc="120" dirty="0">
                <a:solidFill>
                  <a:srgbClr val="15171C"/>
                </a:solidFill>
                <a:latin typeface="Arial" pitchFamily="34" charset="0"/>
                <a:ea typeface="Arial" pitchFamily="34" charset="-122"/>
                <a:cs typeface="Arial" pitchFamily="34" charset="-120"/>
              </a:rPr>
              <a:t>WEEK 1</a:t>
            </a:r>
            <a:r>
              <a:rPr lang="en-US" sz="1000" kern="0" spc="120" dirty="0">
                <a:solidFill>
                  <a:srgbClr val="6B7280"/>
                </a:solidFill>
                <a:latin typeface="Arial" pitchFamily="34" charset="0"/>
                <a:ea typeface="Arial" pitchFamily="34" charset="-122"/>
                <a:cs typeface="Arial" pitchFamily="34" charset="-120"/>
              </a:rPr>
              <a:t>  ·  BUILDING BLOCK </a:t>
            </a:r>
            <a:r>
              <a:rPr lang="en-US" sz="1000" b="1" kern="0" spc="120" dirty="0">
                <a:solidFill>
                  <a:srgbClr val="2B5187"/>
                </a:solidFill>
                <a:latin typeface="Arial" pitchFamily="34" charset="0"/>
                <a:ea typeface="Arial" pitchFamily="34" charset="-122"/>
                <a:cs typeface="Arial" pitchFamily="34" charset="-120"/>
              </a:rPr>
              <a:t>1</a:t>
            </a:r>
            <a:r>
              <a:rPr lang="en-US" sz="1000" kern="0" spc="120" dirty="0">
                <a:solidFill>
                  <a:srgbClr val="6B7280"/>
                </a:solidFill>
                <a:latin typeface="Arial" pitchFamily="34" charset="0"/>
                <a:ea typeface="Arial" pitchFamily="34" charset="-122"/>
                <a:cs typeface="Arial" pitchFamily="34" charset="-120"/>
              </a:rPr>
              <a:t> / 10</a:t>
            </a:r>
            <a:endParaRPr lang="en-US" sz="1000" dirty="0"/>
          </a:p>
        </p:txBody>
      </p:sp>
      <p:sp>
        <p:nvSpPr>
          <p:cNvPr id="3" name="Text 1"/>
          <p:cNvSpPr/>
          <p:nvPr/>
        </p:nvSpPr>
        <p:spPr>
          <a:xfrm>
            <a:off x="822960" y="640080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Arial" pitchFamily="34" charset="0"/>
                <a:ea typeface="Arial" pitchFamily="34" charset="-122"/>
                <a:cs typeface="Arial" pitchFamily="34" charset="-120"/>
              </a:rPr>
              <a:t>ESCALATE Training Program · Summer 2026</a:t>
            </a:r>
            <a:endParaRPr lang="en-US" sz="900" dirty="0"/>
          </a:p>
        </p:txBody>
      </p:sp>
      <p:sp>
        <p:nvSpPr>
          <p:cNvPr id="5" name="Text 3"/>
          <p:cNvSpPr/>
          <p:nvPr/>
        </p:nvSpPr>
        <p:spPr>
          <a:xfrm>
            <a:off x="822960" y="548640"/>
            <a:ext cx="5486400" cy="274320"/>
          </a:xfrm>
          <a:prstGeom prst="rect">
            <a:avLst/>
          </a:prstGeom>
          <a:noFill/>
          <a:ln/>
        </p:spPr>
        <p:txBody>
          <a:bodyPr wrap="square" lIns="0" tIns="0" rIns="0" bIns="0" rtlCol="0" anchor="t"/>
          <a:lstStyle/>
          <a:p>
            <a:pPr marL="0" indent="0">
              <a:buNone/>
            </a:pPr>
            <a:r>
              <a:rPr lang="en-US" sz="1100" b="1" kern="0" spc="220" dirty="0">
                <a:solidFill>
                  <a:srgbClr val="2B5187"/>
                </a:solidFill>
                <a:latin typeface="Arial" pitchFamily="34" charset="0"/>
                <a:ea typeface="Arial" pitchFamily="34" charset="-122"/>
                <a:cs typeface="Arial" pitchFamily="34" charset="-120"/>
              </a:rPr>
              <a:t>WHO YOU'LL WORK WITH</a:t>
            </a:r>
            <a:endParaRPr lang="en-US" sz="1100" dirty="0"/>
          </a:p>
        </p:txBody>
      </p:sp>
      <p:sp>
        <p:nvSpPr>
          <p:cNvPr id="6" name="Text 4"/>
          <p:cNvSpPr/>
          <p:nvPr/>
        </p:nvSpPr>
        <p:spPr>
          <a:xfrm>
            <a:off x="822960" y="868680"/>
            <a:ext cx="7315200" cy="1188720"/>
          </a:xfrm>
          <a:prstGeom prst="rect">
            <a:avLst/>
          </a:prstGeom>
          <a:noFill/>
          <a:ln/>
        </p:spPr>
        <p:txBody>
          <a:bodyPr wrap="square" lIns="0" tIns="0" rIns="0" bIns="0" rtlCol="0" anchor="t"/>
          <a:lstStyle/>
          <a:p>
            <a:pPr marL="0" indent="0">
              <a:lnSpc>
                <a:spcPct val="98000"/>
              </a:lnSpc>
              <a:buNone/>
            </a:pPr>
            <a:r>
              <a:rPr lang="en-US" sz="3000" b="1" dirty="0">
                <a:solidFill>
                  <a:srgbClr val="15171C"/>
                </a:solidFill>
                <a:latin typeface="Arial" pitchFamily="34" charset="0"/>
                <a:ea typeface="Arial" pitchFamily="34" charset="-122"/>
                <a:cs typeface="Arial" pitchFamily="34" charset="-120"/>
              </a:rPr>
              <a:t>Your team</a:t>
            </a:r>
            <a:endParaRPr lang="en-US" sz="3000" dirty="0"/>
          </a:p>
        </p:txBody>
      </p:sp>
      <p:sp>
        <p:nvSpPr>
          <p:cNvPr id="7" name="Text 5"/>
          <p:cNvSpPr/>
          <p:nvPr/>
        </p:nvSpPr>
        <p:spPr>
          <a:xfrm>
            <a:off x="822960" y="1645920"/>
            <a:ext cx="10543032" cy="548640"/>
          </a:xfrm>
          <a:prstGeom prst="rect">
            <a:avLst/>
          </a:prstGeom>
          <a:noFill/>
          <a:ln/>
        </p:spPr>
        <p:txBody>
          <a:bodyPr wrap="square" lIns="0" tIns="0" rIns="0" bIns="0" rtlCol="0" anchor="ctr"/>
          <a:lstStyle/>
          <a:p>
            <a:pPr marL="0" indent="0">
              <a:lnSpc>
                <a:spcPct val="110000"/>
              </a:lnSpc>
              <a:buNone/>
            </a:pPr>
            <a:r>
              <a:rPr lang="en-US" sz="2000" dirty="0">
                <a:solidFill>
                  <a:srgbClr val="33373F"/>
                </a:solidFill>
                <a:latin typeface="Arial" pitchFamily="34" charset="0"/>
                <a:ea typeface="Arial" pitchFamily="34" charset="-122"/>
                <a:cs typeface="Arial" pitchFamily="34" charset="-120"/>
              </a:rPr>
              <a:t>kc claffy leads the program. Three senior mentors build new modules and help you work through them, and build your own.</a:t>
            </a:r>
            <a:endParaRPr lang="en-US" sz="1500" dirty="0"/>
          </a:p>
        </p:txBody>
      </p:sp>
      <p:sp>
        <p:nvSpPr>
          <p:cNvPr id="8" name="Shape 6"/>
          <p:cNvSpPr/>
          <p:nvPr/>
        </p:nvSpPr>
        <p:spPr>
          <a:xfrm>
            <a:off x="822960" y="2468880"/>
            <a:ext cx="3300984" cy="1600200"/>
          </a:xfrm>
          <a:prstGeom prst="roundRect">
            <a:avLst>
              <a:gd name="adj" fmla="val 4000"/>
            </a:avLst>
          </a:prstGeom>
          <a:solidFill>
            <a:srgbClr val="F7F8FA"/>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9" name="Shape 7"/>
          <p:cNvSpPr/>
          <p:nvPr/>
        </p:nvSpPr>
        <p:spPr>
          <a:xfrm>
            <a:off x="1097280" y="2761488"/>
            <a:ext cx="310896" cy="310896"/>
          </a:xfrm>
          <a:prstGeom prst="ellipse">
            <a:avLst/>
          </a:prstGeom>
          <a:solidFill>
            <a:srgbClr val="2B5187"/>
          </a:solidFill>
          <a:ln/>
        </p:spPr>
        <p:txBody>
          <a:bodyPr/>
          <a:lstStyle/>
          <a:p>
            <a:endParaRPr lang="en-US"/>
          </a:p>
        </p:txBody>
      </p:sp>
      <p:sp>
        <p:nvSpPr>
          <p:cNvPr id="10" name="Text 8"/>
          <p:cNvSpPr/>
          <p:nvPr/>
        </p:nvSpPr>
        <p:spPr>
          <a:xfrm>
            <a:off x="1554480" y="2724912"/>
            <a:ext cx="2386584" cy="365760"/>
          </a:xfrm>
          <a:prstGeom prst="rect">
            <a:avLst/>
          </a:prstGeom>
          <a:noFill/>
          <a:ln/>
        </p:spPr>
        <p:txBody>
          <a:bodyPr wrap="square" lIns="0" tIns="0" rIns="0" bIns="0" rtlCol="0" anchor="ctr"/>
          <a:lstStyle/>
          <a:p>
            <a:pPr marL="0" indent="0">
              <a:buNone/>
            </a:pPr>
            <a:r>
              <a:rPr lang="en-US" sz="2000" b="1" dirty="0">
                <a:solidFill>
                  <a:srgbClr val="15171C"/>
                </a:solidFill>
                <a:latin typeface="Arial" pitchFamily="34" charset="0"/>
                <a:ea typeface="Arial" pitchFamily="34" charset="-122"/>
                <a:cs typeface="Arial" pitchFamily="34" charset="-120"/>
              </a:rPr>
              <a:t>Bradley Huffaker</a:t>
            </a:r>
            <a:endParaRPr lang="en-US" sz="1600" dirty="0"/>
          </a:p>
        </p:txBody>
      </p:sp>
      <p:sp>
        <p:nvSpPr>
          <p:cNvPr id="11" name="Text 9"/>
          <p:cNvSpPr/>
          <p:nvPr/>
        </p:nvSpPr>
        <p:spPr>
          <a:xfrm>
            <a:off x="1097280" y="3337560"/>
            <a:ext cx="2752344" cy="548640"/>
          </a:xfrm>
          <a:prstGeom prst="rect">
            <a:avLst/>
          </a:prstGeom>
          <a:noFill/>
          <a:ln/>
        </p:spPr>
        <p:txBody>
          <a:bodyPr wrap="square" lIns="0" tIns="0" rIns="0" bIns="0" rtlCol="0" anchor="ctr"/>
          <a:lstStyle/>
          <a:p>
            <a:pPr marL="0" indent="0">
              <a:lnSpc>
                <a:spcPct val="105000"/>
              </a:lnSpc>
              <a:buNone/>
            </a:pPr>
            <a:r>
              <a:rPr lang="en-US" sz="1600" dirty="0">
                <a:solidFill>
                  <a:srgbClr val="33373F"/>
                </a:solidFill>
                <a:latin typeface="Arial" pitchFamily="34" charset="0"/>
                <a:ea typeface="Arial" pitchFamily="34" charset="-122"/>
                <a:cs typeface="Arial" pitchFamily="34" charset="-120"/>
              </a:rPr>
              <a:t>Senior mentor · modules &amp; topology</a:t>
            </a:r>
            <a:endParaRPr lang="en-US" sz="1250" dirty="0"/>
          </a:p>
        </p:txBody>
      </p:sp>
      <p:sp>
        <p:nvSpPr>
          <p:cNvPr id="12" name="Shape 10"/>
          <p:cNvSpPr/>
          <p:nvPr/>
        </p:nvSpPr>
        <p:spPr>
          <a:xfrm>
            <a:off x="4443984" y="2468880"/>
            <a:ext cx="3300984" cy="1600200"/>
          </a:xfrm>
          <a:prstGeom prst="roundRect">
            <a:avLst>
              <a:gd name="adj" fmla="val 4000"/>
            </a:avLst>
          </a:prstGeom>
          <a:solidFill>
            <a:srgbClr val="F7F8FA"/>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13" name="Shape 11"/>
          <p:cNvSpPr/>
          <p:nvPr/>
        </p:nvSpPr>
        <p:spPr>
          <a:xfrm>
            <a:off x="4718304" y="2761488"/>
            <a:ext cx="310896" cy="310896"/>
          </a:xfrm>
          <a:prstGeom prst="ellipse">
            <a:avLst/>
          </a:prstGeom>
          <a:solidFill>
            <a:srgbClr val="2B5187"/>
          </a:solidFill>
          <a:ln/>
        </p:spPr>
        <p:txBody>
          <a:bodyPr/>
          <a:lstStyle/>
          <a:p>
            <a:endParaRPr lang="en-US"/>
          </a:p>
        </p:txBody>
      </p:sp>
      <p:sp>
        <p:nvSpPr>
          <p:cNvPr id="14" name="Text 12"/>
          <p:cNvSpPr/>
          <p:nvPr/>
        </p:nvSpPr>
        <p:spPr>
          <a:xfrm>
            <a:off x="5175504" y="2724912"/>
            <a:ext cx="2386584" cy="365760"/>
          </a:xfrm>
          <a:prstGeom prst="rect">
            <a:avLst/>
          </a:prstGeom>
          <a:noFill/>
          <a:ln/>
        </p:spPr>
        <p:txBody>
          <a:bodyPr wrap="square" lIns="0" tIns="0" rIns="0" bIns="0" rtlCol="0" anchor="ctr"/>
          <a:lstStyle/>
          <a:p>
            <a:pPr marL="0" indent="0">
              <a:buNone/>
            </a:pPr>
            <a:r>
              <a:rPr lang="en-US" sz="2000" b="1" dirty="0">
                <a:solidFill>
                  <a:srgbClr val="15171C"/>
                </a:solidFill>
                <a:latin typeface="Arial" pitchFamily="34" charset="0"/>
                <a:ea typeface="Arial" pitchFamily="34" charset="-122"/>
                <a:cs typeface="Arial" pitchFamily="34" charset="-120"/>
              </a:rPr>
              <a:t>Ricky Mok</a:t>
            </a:r>
            <a:endParaRPr lang="en-US" sz="1600" dirty="0"/>
          </a:p>
        </p:txBody>
      </p:sp>
      <p:sp>
        <p:nvSpPr>
          <p:cNvPr id="15" name="Text 13"/>
          <p:cNvSpPr/>
          <p:nvPr/>
        </p:nvSpPr>
        <p:spPr>
          <a:xfrm>
            <a:off x="4718304" y="3337560"/>
            <a:ext cx="2752344" cy="548640"/>
          </a:xfrm>
          <a:prstGeom prst="rect">
            <a:avLst/>
          </a:prstGeom>
          <a:noFill/>
          <a:ln/>
        </p:spPr>
        <p:txBody>
          <a:bodyPr wrap="square" lIns="0" tIns="0" rIns="0" bIns="0" rtlCol="0" anchor="ctr"/>
          <a:lstStyle/>
          <a:p>
            <a:pPr marL="0" indent="0">
              <a:lnSpc>
                <a:spcPct val="105000"/>
              </a:lnSpc>
              <a:buNone/>
            </a:pPr>
            <a:r>
              <a:rPr lang="en-US" sz="1600" dirty="0">
                <a:solidFill>
                  <a:srgbClr val="33373F"/>
                </a:solidFill>
                <a:latin typeface="Arial" pitchFamily="34" charset="0"/>
                <a:ea typeface="Arial" pitchFamily="34" charset="-122"/>
                <a:cs typeface="Arial" pitchFamily="34" charset="-120"/>
              </a:rPr>
              <a:t>Senior mentor · measurement &amp; data</a:t>
            </a:r>
            <a:endParaRPr lang="en-US" sz="1250" dirty="0"/>
          </a:p>
        </p:txBody>
      </p:sp>
      <p:sp>
        <p:nvSpPr>
          <p:cNvPr id="16" name="Shape 14"/>
          <p:cNvSpPr/>
          <p:nvPr/>
        </p:nvSpPr>
        <p:spPr>
          <a:xfrm>
            <a:off x="8065008" y="2468880"/>
            <a:ext cx="3300984" cy="1600200"/>
          </a:xfrm>
          <a:prstGeom prst="roundRect">
            <a:avLst>
              <a:gd name="adj" fmla="val 4000"/>
            </a:avLst>
          </a:prstGeom>
          <a:solidFill>
            <a:srgbClr val="F7F8FA"/>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17" name="Shape 15"/>
          <p:cNvSpPr/>
          <p:nvPr/>
        </p:nvSpPr>
        <p:spPr>
          <a:xfrm>
            <a:off x="8339328" y="2761488"/>
            <a:ext cx="310896" cy="310896"/>
          </a:xfrm>
          <a:prstGeom prst="ellipse">
            <a:avLst/>
          </a:prstGeom>
          <a:solidFill>
            <a:srgbClr val="2B5187"/>
          </a:solidFill>
          <a:ln/>
        </p:spPr>
        <p:txBody>
          <a:bodyPr/>
          <a:lstStyle/>
          <a:p>
            <a:endParaRPr lang="en-US"/>
          </a:p>
        </p:txBody>
      </p:sp>
      <p:sp>
        <p:nvSpPr>
          <p:cNvPr id="18" name="Text 16"/>
          <p:cNvSpPr/>
          <p:nvPr/>
        </p:nvSpPr>
        <p:spPr>
          <a:xfrm>
            <a:off x="8796528" y="2724912"/>
            <a:ext cx="2386584" cy="365760"/>
          </a:xfrm>
          <a:prstGeom prst="rect">
            <a:avLst/>
          </a:prstGeom>
          <a:noFill/>
          <a:ln/>
        </p:spPr>
        <p:txBody>
          <a:bodyPr wrap="square" lIns="0" tIns="0" rIns="0" bIns="0" rtlCol="0" anchor="ctr"/>
          <a:lstStyle/>
          <a:p>
            <a:pPr marL="0" indent="0">
              <a:buNone/>
            </a:pPr>
            <a:r>
              <a:rPr lang="en-US" sz="2000" b="1" dirty="0">
                <a:solidFill>
                  <a:srgbClr val="15171C"/>
                </a:solidFill>
                <a:latin typeface="Arial" pitchFamily="34" charset="0"/>
                <a:ea typeface="Arial" pitchFamily="34" charset="-122"/>
                <a:cs typeface="Arial" pitchFamily="34" charset="-120"/>
              </a:rPr>
              <a:t>Rocky Chang</a:t>
            </a:r>
            <a:endParaRPr lang="en-US" sz="1600" dirty="0"/>
          </a:p>
        </p:txBody>
      </p:sp>
      <p:sp>
        <p:nvSpPr>
          <p:cNvPr id="19" name="Text 17"/>
          <p:cNvSpPr/>
          <p:nvPr/>
        </p:nvSpPr>
        <p:spPr>
          <a:xfrm>
            <a:off x="8339328" y="3337560"/>
            <a:ext cx="2752344" cy="548640"/>
          </a:xfrm>
          <a:prstGeom prst="rect">
            <a:avLst/>
          </a:prstGeom>
          <a:noFill/>
          <a:ln/>
        </p:spPr>
        <p:txBody>
          <a:bodyPr wrap="square" lIns="0" tIns="0" rIns="0" bIns="0" rtlCol="0" anchor="ctr"/>
          <a:lstStyle/>
          <a:p>
            <a:pPr marL="0" indent="0">
              <a:lnSpc>
                <a:spcPct val="105000"/>
              </a:lnSpc>
              <a:buNone/>
            </a:pPr>
            <a:r>
              <a:rPr lang="en-US" sz="1600" dirty="0">
                <a:solidFill>
                  <a:srgbClr val="33373F"/>
                </a:solidFill>
                <a:latin typeface="Arial" pitchFamily="34" charset="0"/>
                <a:ea typeface="Arial" pitchFamily="34" charset="-122"/>
                <a:cs typeface="Arial" pitchFamily="34" charset="-120"/>
              </a:rPr>
              <a:t>Senior mentor · modules,  networking &amp; analysis</a:t>
            </a:r>
            <a:endParaRPr lang="en-US" sz="1250" dirty="0"/>
          </a:p>
        </p:txBody>
      </p:sp>
      <p:sp>
        <p:nvSpPr>
          <p:cNvPr id="20" name="Shape 18"/>
          <p:cNvSpPr/>
          <p:nvPr/>
        </p:nvSpPr>
        <p:spPr>
          <a:xfrm>
            <a:off x="822960" y="4343400"/>
            <a:ext cx="10543032" cy="1234440"/>
          </a:xfrm>
          <a:prstGeom prst="roundRect">
            <a:avLst>
              <a:gd name="adj" fmla="val 5185"/>
            </a:avLst>
          </a:prstGeom>
          <a:solidFill>
            <a:srgbClr val="FFFFFF"/>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21" name="Text 19"/>
          <p:cNvSpPr/>
          <p:nvPr/>
        </p:nvSpPr>
        <p:spPr>
          <a:xfrm>
            <a:off x="1143000" y="4572000"/>
            <a:ext cx="9902952" cy="365760"/>
          </a:xfrm>
          <a:prstGeom prst="rect">
            <a:avLst/>
          </a:prstGeom>
          <a:noFill/>
          <a:ln/>
        </p:spPr>
        <p:txBody>
          <a:bodyPr wrap="square" lIns="0" tIns="0" rIns="0" bIns="0" rtlCol="0" anchor="ctr"/>
          <a:lstStyle/>
          <a:p>
            <a:r>
              <a:rPr lang="en-US" sz="1600" b="1" dirty="0">
                <a:solidFill>
                  <a:srgbClr val="15171C"/>
                </a:solidFill>
                <a:latin typeface="Arial" pitchFamily="34" charset="0"/>
                <a:ea typeface="Arial" pitchFamily="34" charset="-122"/>
                <a:cs typeface="Arial" pitchFamily="34" charset="-120"/>
              </a:rPr>
              <a:t>Program Contact   </a:t>
            </a:r>
            <a:r>
              <a:rPr lang="en-US" sz="1600" b="1" dirty="0">
                <a:solidFill>
                  <a:srgbClr val="2B5187"/>
                </a:solidFill>
                <a:latin typeface="Arial" pitchFamily="34" charset="0"/>
                <a:ea typeface="Arial" pitchFamily="34" charset="-122"/>
                <a:cs typeface="Arial" pitchFamily="34" charset="-120"/>
              </a:rPr>
              <a:t>Alex Ma           </a:t>
            </a:r>
            <a:r>
              <a:rPr lang="en-US" sz="1600" b="1" dirty="0">
                <a:solidFill>
                  <a:srgbClr val="15171C"/>
                </a:solidFill>
                <a:latin typeface="Arial" pitchFamily="34" charset="0"/>
                <a:ea typeface="Arial" pitchFamily="34" charset="-122"/>
                <a:cs typeface="Arial" pitchFamily="34" charset="-120"/>
              </a:rPr>
              <a:t>System Admins   </a:t>
            </a:r>
            <a:r>
              <a:rPr lang="en-US" sz="1600" b="1" dirty="0">
                <a:solidFill>
                  <a:srgbClr val="2B5187"/>
                </a:solidFill>
                <a:latin typeface="Arial" pitchFamily="34" charset="0"/>
                <a:ea typeface="Arial" pitchFamily="34" charset="-122"/>
                <a:cs typeface="Arial" pitchFamily="34" charset="-120"/>
              </a:rPr>
              <a:t>Ethan Lee · Victoria Nguyen</a:t>
            </a:r>
            <a:endParaRPr lang="en-US" sz="1450" dirty="0"/>
          </a:p>
        </p:txBody>
      </p:sp>
      <p:sp>
        <p:nvSpPr>
          <p:cNvPr id="22" name="Text 20"/>
          <p:cNvSpPr/>
          <p:nvPr/>
        </p:nvSpPr>
        <p:spPr>
          <a:xfrm>
            <a:off x="1143000" y="4983480"/>
            <a:ext cx="9902952" cy="502920"/>
          </a:xfrm>
          <a:prstGeom prst="rect">
            <a:avLst/>
          </a:prstGeom>
          <a:noFill/>
          <a:ln/>
        </p:spPr>
        <p:txBody>
          <a:bodyPr wrap="square" lIns="0" tIns="0" rIns="0" bIns="0" rtlCol="0" anchor="ctr"/>
          <a:lstStyle/>
          <a:p>
            <a:pPr marL="0" indent="0">
              <a:lnSpc>
                <a:spcPct val="108000"/>
              </a:lnSpc>
              <a:buNone/>
            </a:pPr>
            <a:r>
              <a:rPr lang="en-US" sz="1700" dirty="0">
                <a:solidFill>
                  <a:srgbClr val="33373F"/>
                </a:solidFill>
                <a:latin typeface="Arial" pitchFamily="34" charset="0"/>
                <a:ea typeface="Arial" pitchFamily="34" charset="-122"/>
                <a:cs typeface="Arial" pitchFamily="34" charset="-120"/>
              </a:rPr>
              <a:t>Day-to-day coordination, mentor contact, and announcements happen on </a:t>
            </a:r>
            <a:r>
              <a:rPr lang="en-US" sz="1700" b="1" dirty="0">
                <a:solidFill>
                  <a:srgbClr val="15171C"/>
                </a:solidFill>
                <a:latin typeface="Arial" pitchFamily="34" charset="0"/>
                <a:ea typeface="Arial" pitchFamily="34" charset="-122"/>
                <a:cs typeface="Arial" pitchFamily="34" charset="-120"/>
              </a:rPr>
              <a:t>Mattermost</a:t>
            </a:r>
            <a:r>
              <a:rPr lang="en-US" sz="1700" dirty="0">
                <a:solidFill>
                  <a:srgbClr val="33373F"/>
                </a:solidFill>
                <a:latin typeface="Arial" pitchFamily="34" charset="0"/>
                <a:ea typeface="Arial" pitchFamily="34" charset="-122"/>
                <a:cs typeface="Arial" pitchFamily="34" charset="-120"/>
              </a:rPr>
              <a:t>. That's the primary channel. Program questions: </a:t>
            </a:r>
            <a:r>
              <a:rPr lang="en-US" sz="1700" dirty="0">
                <a:solidFill>
                  <a:srgbClr val="2B5187"/>
                </a:solidFill>
                <a:latin typeface="Arial" pitchFamily="34" charset="0"/>
                <a:ea typeface="Arial" pitchFamily="34" charset="-122"/>
                <a:cs typeface="Arial" pitchFamily="34" charset="-120"/>
              </a:rPr>
              <a:t>training-program-info@caida.org</a:t>
            </a:r>
            <a:r>
              <a:rPr lang="en-US" sz="1700" dirty="0">
                <a:solidFill>
                  <a:srgbClr val="33373F"/>
                </a:solidFill>
                <a:latin typeface="Arial" pitchFamily="34" charset="0"/>
                <a:ea typeface="Arial" pitchFamily="34" charset="-122"/>
                <a:cs typeface="Arial" pitchFamily="34" charset="-120"/>
              </a:rPr>
              <a: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074152" y="384048"/>
            <a:ext cx="3291840" cy="274320"/>
          </a:xfrm>
          <a:prstGeom prst="rect">
            <a:avLst/>
          </a:prstGeom>
          <a:noFill/>
          <a:ln/>
        </p:spPr>
        <p:txBody>
          <a:bodyPr wrap="square" lIns="0" tIns="0" rIns="0" bIns="0" rtlCol="0" anchor="ctr"/>
          <a:lstStyle/>
          <a:p>
            <a:pPr marL="0" indent="0" algn="r">
              <a:buNone/>
            </a:pPr>
            <a:r>
              <a:rPr lang="en-US" sz="1000" b="1" kern="0" spc="120" dirty="0">
                <a:solidFill>
                  <a:srgbClr val="15171C"/>
                </a:solidFill>
                <a:latin typeface="Arial" pitchFamily="34" charset="0"/>
                <a:ea typeface="Arial" pitchFamily="34" charset="-122"/>
                <a:cs typeface="Arial" pitchFamily="34" charset="-120"/>
              </a:rPr>
              <a:t>WEEK 1</a:t>
            </a:r>
            <a:r>
              <a:rPr lang="en-US" sz="1000" kern="0" spc="120" dirty="0">
                <a:solidFill>
                  <a:srgbClr val="6B7280"/>
                </a:solidFill>
                <a:latin typeface="Arial" pitchFamily="34" charset="0"/>
                <a:ea typeface="Arial" pitchFamily="34" charset="-122"/>
                <a:cs typeface="Arial" pitchFamily="34" charset="-120"/>
              </a:rPr>
              <a:t>  ·  BUILDING BLOCK </a:t>
            </a:r>
            <a:r>
              <a:rPr lang="en-US" sz="1000" b="1" kern="0" spc="120" dirty="0">
                <a:solidFill>
                  <a:srgbClr val="2B5187"/>
                </a:solidFill>
                <a:latin typeface="Arial" pitchFamily="34" charset="0"/>
                <a:ea typeface="Arial" pitchFamily="34" charset="-122"/>
                <a:cs typeface="Arial" pitchFamily="34" charset="-120"/>
              </a:rPr>
              <a:t>1</a:t>
            </a:r>
            <a:r>
              <a:rPr lang="en-US" sz="1000" kern="0" spc="120" dirty="0">
                <a:solidFill>
                  <a:srgbClr val="6B7280"/>
                </a:solidFill>
                <a:latin typeface="Arial" pitchFamily="34" charset="0"/>
                <a:ea typeface="Arial" pitchFamily="34" charset="-122"/>
                <a:cs typeface="Arial" pitchFamily="34" charset="-120"/>
              </a:rPr>
              <a:t> / 10</a:t>
            </a:r>
            <a:endParaRPr lang="en-US" sz="1000" dirty="0"/>
          </a:p>
        </p:txBody>
      </p:sp>
      <p:sp>
        <p:nvSpPr>
          <p:cNvPr id="3" name="Text 1"/>
          <p:cNvSpPr/>
          <p:nvPr/>
        </p:nvSpPr>
        <p:spPr>
          <a:xfrm>
            <a:off x="822960" y="640080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Arial" pitchFamily="34" charset="0"/>
                <a:ea typeface="Arial" pitchFamily="34" charset="-122"/>
                <a:cs typeface="Arial" pitchFamily="34" charset="-120"/>
              </a:rPr>
              <a:t>ESCALATE Training Program · Summer 2026</a:t>
            </a:r>
            <a:endParaRPr lang="en-US" sz="900" dirty="0"/>
          </a:p>
        </p:txBody>
      </p:sp>
      <p:sp>
        <p:nvSpPr>
          <p:cNvPr id="5" name="Text 3"/>
          <p:cNvSpPr/>
          <p:nvPr/>
        </p:nvSpPr>
        <p:spPr>
          <a:xfrm>
            <a:off x="822960" y="548640"/>
            <a:ext cx="5486400" cy="274320"/>
          </a:xfrm>
          <a:prstGeom prst="rect">
            <a:avLst/>
          </a:prstGeom>
          <a:noFill/>
          <a:ln/>
        </p:spPr>
        <p:txBody>
          <a:bodyPr wrap="square" lIns="0" tIns="0" rIns="0" bIns="0" rtlCol="0" anchor="t"/>
          <a:lstStyle/>
          <a:p>
            <a:pPr marL="0" indent="0">
              <a:buNone/>
            </a:pPr>
            <a:r>
              <a:rPr lang="en-US" sz="1100" b="1" kern="0" spc="220" dirty="0">
                <a:solidFill>
                  <a:srgbClr val="2B5187"/>
                </a:solidFill>
                <a:latin typeface="Arial" pitchFamily="34" charset="0"/>
                <a:ea typeface="Arial" pitchFamily="34" charset="-122"/>
                <a:cs typeface="Arial" pitchFamily="34" charset="-120"/>
              </a:rPr>
              <a:t>WHERE THIS COMES FROM</a:t>
            </a:r>
            <a:endParaRPr lang="en-US" sz="1100" dirty="0"/>
          </a:p>
        </p:txBody>
      </p:sp>
      <p:sp>
        <p:nvSpPr>
          <p:cNvPr id="6" name="Text 4"/>
          <p:cNvSpPr/>
          <p:nvPr/>
        </p:nvSpPr>
        <p:spPr>
          <a:xfrm>
            <a:off x="822960" y="868680"/>
            <a:ext cx="10607040" cy="1188720"/>
          </a:xfrm>
          <a:prstGeom prst="rect">
            <a:avLst/>
          </a:prstGeom>
          <a:noFill/>
          <a:ln/>
        </p:spPr>
        <p:txBody>
          <a:bodyPr wrap="square" lIns="0" tIns="0" rIns="0" bIns="0" rtlCol="0" anchor="t"/>
          <a:lstStyle/>
          <a:p>
            <a:pPr marL="0" indent="0">
              <a:lnSpc>
                <a:spcPct val="98000"/>
              </a:lnSpc>
              <a:buNone/>
            </a:pPr>
            <a:r>
              <a:rPr lang="en-US" sz="2900" b="1" dirty="0">
                <a:solidFill>
                  <a:srgbClr val="15171C"/>
                </a:solidFill>
                <a:latin typeface="Arial" pitchFamily="34" charset="0"/>
                <a:ea typeface="Arial" pitchFamily="34" charset="-122"/>
                <a:cs typeface="Arial" pitchFamily="34" charset="-120"/>
              </a:rPr>
              <a:t>Built on a measurement course — scaled up</a:t>
            </a:r>
            <a:endParaRPr lang="en-US" sz="2900" dirty="0"/>
          </a:p>
        </p:txBody>
      </p:sp>
      <p:sp>
        <p:nvSpPr>
          <p:cNvPr id="7" name="Shape 5"/>
          <p:cNvSpPr/>
          <p:nvPr/>
        </p:nvSpPr>
        <p:spPr>
          <a:xfrm>
            <a:off x="822960" y="2200000"/>
            <a:ext cx="4572000" cy="2950000"/>
          </a:xfrm>
          <a:prstGeom prst="roundRect">
            <a:avLst>
              <a:gd name="adj" fmla="val 2593"/>
            </a:avLst>
          </a:prstGeom>
          <a:solidFill>
            <a:srgbClr val="FFFFFF"/>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8" name="Text 6"/>
          <p:cNvSpPr/>
          <p:nvPr/>
        </p:nvSpPr>
        <p:spPr>
          <a:xfrm>
            <a:off x="1143000" y="2420000"/>
            <a:ext cx="3931920" cy="365760"/>
          </a:xfrm>
          <a:prstGeom prst="rect">
            <a:avLst/>
          </a:prstGeom>
          <a:noFill/>
          <a:ln/>
        </p:spPr>
        <p:txBody>
          <a:bodyPr wrap="square" lIns="0" tIns="0" rIns="0" bIns="0" rtlCol="0" anchor="ctr"/>
          <a:lstStyle/>
          <a:p>
            <a:pPr marL="0" indent="0">
              <a:buNone/>
            </a:pPr>
            <a:r>
              <a:rPr lang="en-US" sz="2000" b="1" dirty="0">
                <a:solidFill>
                  <a:srgbClr val="15171C"/>
                </a:solidFill>
                <a:latin typeface="Arial" pitchFamily="34" charset="0"/>
                <a:ea typeface="Arial" pitchFamily="34" charset="-122"/>
                <a:cs typeface="Arial" pitchFamily="34" charset="-120"/>
              </a:rPr>
              <a:t>UCSD CSE 291-E</a:t>
            </a:r>
            <a:endParaRPr lang="en-US" sz="1800" dirty="0"/>
          </a:p>
        </p:txBody>
      </p:sp>
      <p:sp>
        <p:nvSpPr>
          <p:cNvPr id="9" name="Text 7"/>
          <p:cNvSpPr/>
          <p:nvPr/>
        </p:nvSpPr>
        <p:spPr>
          <a:xfrm>
            <a:off x="1143000" y="2950000"/>
            <a:ext cx="3931920" cy="274320"/>
          </a:xfrm>
          <a:prstGeom prst="rect">
            <a:avLst/>
          </a:prstGeom>
          <a:noFill/>
          <a:ln/>
        </p:spPr>
        <p:txBody>
          <a:bodyPr wrap="square" lIns="0" tIns="0" rIns="0" bIns="0" rtlCol="0" anchor="ctr"/>
          <a:lstStyle/>
          <a:p>
            <a:pPr marL="0" indent="0">
              <a:buNone/>
            </a:pPr>
            <a:r>
              <a:rPr lang="en-US" sz="2000" kern="0" spc="100" dirty="0">
                <a:solidFill>
                  <a:srgbClr val="6B7280"/>
                </a:solidFill>
                <a:latin typeface="Arial" pitchFamily="34" charset="0"/>
                <a:ea typeface="Arial" pitchFamily="34" charset="-122"/>
                <a:cs typeface="Arial" pitchFamily="34" charset="-120"/>
              </a:rPr>
              <a:t>the starting point</a:t>
            </a:r>
            <a:endParaRPr lang="en-US" sz="1100" dirty="0"/>
          </a:p>
        </p:txBody>
      </p:sp>
      <p:sp>
        <p:nvSpPr>
          <p:cNvPr id="10" name="Shape 8"/>
          <p:cNvSpPr/>
          <p:nvPr/>
        </p:nvSpPr>
        <p:spPr>
          <a:xfrm>
            <a:off x="1097280" y="3520000"/>
            <a:ext cx="91440" cy="91440"/>
          </a:xfrm>
          <a:prstGeom prst="ellipse">
            <a:avLst/>
          </a:prstGeom>
          <a:solidFill>
            <a:srgbClr val="C2C8D2"/>
          </a:solidFill>
          <a:ln/>
        </p:spPr>
        <p:txBody>
          <a:bodyPr/>
          <a:lstStyle/>
          <a:p>
            <a:endParaRPr lang="en-US"/>
          </a:p>
        </p:txBody>
      </p:sp>
      <p:sp>
        <p:nvSpPr>
          <p:cNvPr id="11" name="Text 9"/>
          <p:cNvSpPr/>
          <p:nvPr/>
        </p:nvSpPr>
        <p:spPr>
          <a:xfrm>
            <a:off x="1408176" y="3500000"/>
            <a:ext cx="3712464" cy="560000"/>
          </a:xfrm>
          <a:prstGeom prst="rect">
            <a:avLst/>
          </a:prstGeom>
          <a:noFill/>
          <a:ln/>
        </p:spPr>
        <p:txBody>
          <a:bodyPr wrap="square" lIns="0" tIns="0" rIns="0" bIns="0" rtlCol="0" anchor="t"/>
          <a:lstStyle/>
          <a:p>
            <a:pPr marL="0" indent="0">
              <a:lnSpc>
                <a:spcPct val="103000"/>
              </a:lnSpc>
              <a:buNone/>
            </a:pPr>
            <a:r>
              <a:rPr lang="en-US" sz="2000" dirty="0">
                <a:solidFill>
                  <a:srgbClr val="33373F"/>
                </a:solidFill>
                <a:latin typeface="Arial" pitchFamily="34" charset="0"/>
                <a:ea typeface="Arial" pitchFamily="34" charset="-122"/>
                <a:cs typeface="Arial" pitchFamily="34" charset="-120"/>
              </a:rPr>
              <a:t>Small datasets that fit on a laptop</a:t>
            </a:r>
            <a:endParaRPr lang="en-US" sz="1300" dirty="0"/>
          </a:p>
        </p:txBody>
      </p:sp>
      <p:sp>
        <p:nvSpPr>
          <p:cNvPr id="12" name="Shape 10"/>
          <p:cNvSpPr/>
          <p:nvPr/>
        </p:nvSpPr>
        <p:spPr>
          <a:xfrm>
            <a:off x="1097280" y="4200000"/>
            <a:ext cx="91440" cy="91440"/>
          </a:xfrm>
          <a:prstGeom prst="ellipse">
            <a:avLst/>
          </a:prstGeom>
          <a:solidFill>
            <a:srgbClr val="C2C8D2"/>
          </a:solidFill>
          <a:ln/>
        </p:spPr>
        <p:txBody>
          <a:bodyPr/>
          <a:lstStyle/>
          <a:p>
            <a:endParaRPr lang="en-US"/>
          </a:p>
        </p:txBody>
      </p:sp>
      <p:sp>
        <p:nvSpPr>
          <p:cNvPr id="13" name="Text 11"/>
          <p:cNvSpPr/>
          <p:nvPr/>
        </p:nvSpPr>
        <p:spPr>
          <a:xfrm>
            <a:off x="1408176" y="4180000"/>
            <a:ext cx="3712464" cy="560000"/>
          </a:xfrm>
          <a:prstGeom prst="rect">
            <a:avLst/>
          </a:prstGeom>
          <a:noFill/>
          <a:ln/>
        </p:spPr>
        <p:txBody>
          <a:bodyPr wrap="square" lIns="0" tIns="0" rIns="0" bIns="0" rtlCol="0" anchor="t"/>
          <a:lstStyle/>
          <a:p>
            <a:pPr marL="0" indent="0">
              <a:lnSpc>
                <a:spcPct val="103000"/>
              </a:lnSpc>
              <a:buNone/>
            </a:pPr>
            <a:r>
              <a:rPr lang="en-US" sz="2000" dirty="0">
                <a:solidFill>
                  <a:srgbClr val="33373F"/>
                </a:solidFill>
                <a:latin typeface="Arial" pitchFamily="34" charset="0"/>
                <a:ea typeface="Arial" pitchFamily="34" charset="-122"/>
                <a:cs typeface="Arial" pitchFamily="34" charset="-120"/>
              </a:rPr>
              <a:t>One snapshot, one notebook at a time</a:t>
            </a:r>
            <a:endParaRPr lang="en-US" sz="1300" dirty="0"/>
          </a:p>
        </p:txBody>
      </p:sp>
      <p:sp>
        <p:nvSpPr>
          <p:cNvPr id="16" name="Shape 14"/>
          <p:cNvSpPr/>
          <p:nvPr/>
        </p:nvSpPr>
        <p:spPr>
          <a:xfrm>
            <a:off x="6766560" y="2200000"/>
            <a:ext cx="4572000" cy="2950000"/>
          </a:xfrm>
          <a:prstGeom prst="roundRect">
            <a:avLst>
              <a:gd name="adj" fmla="val 2593"/>
            </a:avLst>
          </a:prstGeom>
          <a:solidFill>
            <a:srgbClr val="F7F8FA"/>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17" name="Text 15"/>
          <p:cNvSpPr/>
          <p:nvPr/>
        </p:nvSpPr>
        <p:spPr>
          <a:xfrm>
            <a:off x="7086600" y="2420000"/>
            <a:ext cx="3931920" cy="365760"/>
          </a:xfrm>
          <a:prstGeom prst="rect">
            <a:avLst/>
          </a:prstGeom>
          <a:noFill/>
          <a:ln/>
        </p:spPr>
        <p:txBody>
          <a:bodyPr wrap="square" lIns="0" tIns="0" rIns="0" bIns="0" rtlCol="0" anchor="ctr"/>
          <a:lstStyle/>
          <a:p>
            <a:pPr marL="0" indent="0">
              <a:buNone/>
            </a:pPr>
            <a:r>
              <a:rPr lang="en-US" sz="2000" b="1" dirty="0">
                <a:solidFill>
                  <a:srgbClr val="2B5187"/>
                </a:solidFill>
                <a:latin typeface="Arial" pitchFamily="34" charset="0"/>
                <a:ea typeface="Arial" pitchFamily="34" charset="-122"/>
                <a:cs typeface="Arial" pitchFamily="34" charset="-120"/>
              </a:rPr>
              <a:t>CAIDA ETP</a:t>
            </a:r>
            <a:endParaRPr lang="en-US" sz="1800" dirty="0"/>
          </a:p>
        </p:txBody>
      </p:sp>
      <p:sp>
        <p:nvSpPr>
          <p:cNvPr id="18" name="Text 16"/>
          <p:cNvSpPr/>
          <p:nvPr/>
        </p:nvSpPr>
        <p:spPr>
          <a:xfrm>
            <a:off x="7086600" y="2950000"/>
            <a:ext cx="3931920" cy="274320"/>
          </a:xfrm>
          <a:prstGeom prst="rect">
            <a:avLst/>
          </a:prstGeom>
          <a:noFill/>
          <a:ln/>
        </p:spPr>
        <p:txBody>
          <a:bodyPr wrap="square" lIns="0" tIns="0" rIns="0" bIns="0" rtlCol="0" anchor="ctr"/>
          <a:lstStyle/>
          <a:p>
            <a:pPr marL="0" indent="0">
              <a:buNone/>
            </a:pPr>
            <a:r>
              <a:rPr lang="en-US" sz="2000" kern="0" spc="100" dirty="0">
                <a:solidFill>
                  <a:srgbClr val="6B7280"/>
                </a:solidFill>
                <a:latin typeface="Arial" pitchFamily="34" charset="0"/>
                <a:ea typeface="Arial" pitchFamily="34" charset="-122"/>
                <a:cs typeface="Arial" pitchFamily="34" charset="-120"/>
              </a:rPr>
              <a:t>the same ideas, at global scale</a:t>
            </a:r>
            <a:endParaRPr lang="en-US" sz="1100" dirty="0"/>
          </a:p>
        </p:txBody>
      </p:sp>
      <p:sp>
        <p:nvSpPr>
          <p:cNvPr id="19" name="Shape 17"/>
          <p:cNvSpPr/>
          <p:nvPr/>
        </p:nvSpPr>
        <p:spPr>
          <a:xfrm>
            <a:off x="7040880" y="3520000"/>
            <a:ext cx="91440" cy="91440"/>
          </a:xfrm>
          <a:prstGeom prst="ellipse">
            <a:avLst/>
          </a:prstGeom>
          <a:solidFill>
            <a:srgbClr val="2B5187"/>
          </a:solidFill>
          <a:ln/>
        </p:spPr>
        <p:txBody>
          <a:bodyPr/>
          <a:lstStyle/>
          <a:p>
            <a:endParaRPr lang="en-US"/>
          </a:p>
        </p:txBody>
      </p:sp>
      <p:sp>
        <p:nvSpPr>
          <p:cNvPr id="20" name="Text 18"/>
          <p:cNvSpPr/>
          <p:nvPr/>
        </p:nvSpPr>
        <p:spPr>
          <a:xfrm>
            <a:off x="7351776" y="3500000"/>
            <a:ext cx="3712464" cy="560000"/>
          </a:xfrm>
          <a:prstGeom prst="rect">
            <a:avLst/>
          </a:prstGeom>
          <a:noFill/>
          <a:ln/>
        </p:spPr>
        <p:txBody>
          <a:bodyPr wrap="square" lIns="0" tIns="0" rIns="0" bIns="0" rtlCol="0" anchor="t"/>
          <a:lstStyle/>
          <a:p>
            <a:pPr marL="0" indent="0">
              <a:lnSpc>
                <a:spcPct val="103000"/>
              </a:lnSpc>
              <a:buNone/>
            </a:pPr>
            <a:r>
              <a:rPr lang="en-US" sz="2000" dirty="0">
                <a:solidFill>
                  <a:srgbClr val="33373F"/>
                </a:solidFill>
                <a:latin typeface="Arial" pitchFamily="34" charset="0"/>
                <a:ea typeface="Arial" pitchFamily="34" charset="-122"/>
                <a:cs typeface="Arial" pitchFamily="34" charset="-120"/>
              </a:rPr>
              <a:t>Global datasets too big for any laptop</a:t>
            </a:r>
            <a:endParaRPr lang="en-US" sz="1300" dirty="0"/>
          </a:p>
        </p:txBody>
      </p:sp>
      <p:sp>
        <p:nvSpPr>
          <p:cNvPr id="21" name="Shape 19"/>
          <p:cNvSpPr/>
          <p:nvPr/>
        </p:nvSpPr>
        <p:spPr>
          <a:xfrm>
            <a:off x="7040880" y="4200000"/>
            <a:ext cx="91440" cy="91440"/>
          </a:xfrm>
          <a:prstGeom prst="ellipse">
            <a:avLst/>
          </a:prstGeom>
          <a:solidFill>
            <a:srgbClr val="2B5187"/>
          </a:solidFill>
          <a:ln/>
        </p:spPr>
        <p:txBody>
          <a:bodyPr/>
          <a:lstStyle/>
          <a:p>
            <a:endParaRPr lang="en-US"/>
          </a:p>
        </p:txBody>
      </p:sp>
      <p:sp>
        <p:nvSpPr>
          <p:cNvPr id="22" name="Text 20"/>
          <p:cNvSpPr/>
          <p:nvPr/>
        </p:nvSpPr>
        <p:spPr>
          <a:xfrm>
            <a:off x="7351776" y="4180000"/>
            <a:ext cx="3712464" cy="560000"/>
          </a:xfrm>
          <a:prstGeom prst="rect">
            <a:avLst/>
          </a:prstGeom>
          <a:noFill/>
          <a:ln/>
        </p:spPr>
        <p:txBody>
          <a:bodyPr wrap="square" lIns="0" tIns="0" rIns="0" bIns="0" rtlCol="0" anchor="t"/>
          <a:lstStyle/>
          <a:p>
            <a:pPr marL="0" indent="0">
              <a:lnSpc>
                <a:spcPct val="103000"/>
              </a:lnSpc>
              <a:buNone/>
            </a:pPr>
            <a:r>
              <a:rPr lang="en-US" sz="2000" dirty="0">
                <a:solidFill>
                  <a:srgbClr val="33373F"/>
                </a:solidFill>
                <a:latin typeface="Arial" pitchFamily="34" charset="0"/>
                <a:ea typeface="Arial" pitchFamily="34" charset="-122"/>
                <a:cs typeface="Arial" pitchFamily="34" charset="-120"/>
              </a:rPr>
              <a:t>Months of data, sharded across parallel jobs</a:t>
            </a:r>
            <a:endParaRPr lang="en-US" sz="1300" dirty="0"/>
          </a:p>
        </p:txBody>
      </p:sp>
      <p:sp>
        <p:nvSpPr>
          <p:cNvPr id="25" name="Shape 23"/>
          <p:cNvSpPr/>
          <p:nvPr/>
        </p:nvSpPr>
        <p:spPr>
          <a:xfrm>
            <a:off x="5715000" y="3300000"/>
            <a:ext cx="731520" cy="585216"/>
          </a:xfrm>
          <a:prstGeom prst="rightArrow">
            <a:avLst/>
          </a:prstGeom>
          <a:solidFill>
            <a:srgbClr val="2B5187"/>
          </a:solidFill>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074152" y="384048"/>
            <a:ext cx="3291840" cy="274320"/>
          </a:xfrm>
          <a:prstGeom prst="rect">
            <a:avLst/>
          </a:prstGeom>
          <a:noFill/>
          <a:ln/>
        </p:spPr>
        <p:txBody>
          <a:bodyPr wrap="square" lIns="0" tIns="0" rIns="0" bIns="0" rtlCol="0" anchor="ctr"/>
          <a:lstStyle/>
          <a:p>
            <a:pPr marL="0" indent="0" algn="r">
              <a:buNone/>
            </a:pPr>
            <a:r>
              <a:rPr lang="en-US" sz="1000" b="1" kern="0" spc="120" dirty="0">
                <a:solidFill>
                  <a:srgbClr val="15171C"/>
                </a:solidFill>
                <a:latin typeface="Arial" pitchFamily="34" charset="0"/>
                <a:ea typeface="Arial" pitchFamily="34" charset="-122"/>
                <a:cs typeface="Arial" pitchFamily="34" charset="-120"/>
              </a:rPr>
              <a:t>WEEK 1</a:t>
            </a:r>
            <a:r>
              <a:rPr lang="en-US" sz="1000" kern="0" spc="120" dirty="0">
                <a:solidFill>
                  <a:srgbClr val="6B7280"/>
                </a:solidFill>
                <a:latin typeface="Arial" pitchFamily="34" charset="0"/>
                <a:ea typeface="Arial" pitchFamily="34" charset="-122"/>
                <a:cs typeface="Arial" pitchFamily="34" charset="-120"/>
              </a:rPr>
              <a:t>  ·  BUILDING BLOCK </a:t>
            </a:r>
            <a:r>
              <a:rPr lang="en-US" sz="1000" b="1" kern="0" spc="120" dirty="0">
                <a:solidFill>
                  <a:srgbClr val="2B5187"/>
                </a:solidFill>
                <a:latin typeface="Arial" pitchFamily="34" charset="0"/>
                <a:ea typeface="Arial" pitchFamily="34" charset="-122"/>
                <a:cs typeface="Arial" pitchFamily="34" charset="-120"/>
              </a:rPr>
              <a:t>1</a:t>
            </a:r>
            <a:r>
              <a:rPr lang="en-US" sz="1000" kern="0" spc="120" dirty="0">
                <a:solidFill>
                  <a:srgbClr val="6B7280"/>
                </a:solidFill>
                <a:latin typeface="Arial" pitchFamily="34" charset="0"/>
                <a:ea typeface="Arial" pitchFamily="34" charset="-122"/>
                <a:cs typeface="Arial" pitchFamily="34" charset="-120"/>
              </a:rPr>
              <a:t> / 10</a:t>
            </a:r>
            <a:endParaRPr lang="en-US" sz="1000" dirty="0"/>
          </a:p>
        </p:txBody>
      </p:sp>
      <p:sp>
        <p:nvSpPr>
          <p:cNvPr id="3" name="Text 1"/>
          <p:cNvSpPr/>
          <p:nvPr/>
        </p:nvSpPr>
        <p:spPr>
          <a:xfrm>
            <a:off x="822960" y="640080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Arial" pitchFamily="34" charset="0"/>
                <a:ea typeface="Arial" pitchFamily="34" charset="-122"/>
                <a:cs typeface="Arial" pitchFamily="34" charset="-120"/>
              </a:rPr>
              <a:t>ESCALATE Training Program · Summer 2026</a:t>
            </a:r>
            <a:endParaRPr lang="en-US" sz="900" dirty="0"/>
          </a:p>
        </p:txBody>
      </p:sp>
      <p:sp>
        <p:nvSpPr>
          <p:cNvPr id="5" name="Text 3"/>
          <p:cNvSpPr/>
          <p:nvPr/>
        </p:nvSpPr>
        <p:spPr>
          <a:xfrm>
            <a:off x="822960" y="548640"/>
            <a:ext cx="5486400" cy="274320"/>
          </a:xfrm>
          <a:prstGeom prst="rect">
            <a:avLst/>
          </a:prstGeom>
          <a:noFill/>
          <a:ln/>
        </p:spPr>
        <p:txBody>
          <a:bodyPr wrap="square" lIns="0" tIns="0" rIns="0" bIns="0" rtlCol="0" anchor="t"/>
          <a:lstStyle/>
          <a:p>
            <a:pPr marL="0" indent="0">
              <a:buNone/>
            </a:pPr>
            <a:r>
              <a:rPr lang="en-US" sz="1100" b="1" kern="0" spc="220" dirty="0">
                <a:solidFill>
                  <a:srgbClr val="2B5187"/>
                </a:solidFill>
                <a:latin typeface="Arial" pitchFamily="34" charset="0"/>
                <a:ea typeface="Arial" pitchFamily="34" charset="-122"/>
                <a:cs typeface="Arial" pitchFamily="34" charset="-120"/>
              </a:rPr>
              <a:t>WHERE THIS COMES FROM</a:t>
            </a:r>
            <a:endParaRPr lang="en-US" sz="1100" dirty="0"/>
          </a:p>
        </p:txBody>
      </p:sp>
      <p:sp>
        <p:nvSpPr>
          <p:cNvPr id="6" name="Text 4"/>
          <p:cNvSpPr/>
          <p:nvPr/>
        </p:nvSpPr>
        <p:spPr>
          <a:xfrm>
            <a:off x="822960" y="868680"/>
            <a:ext cx="10607040" cy="1188720"/>
          </a:xfrm>
          <a:prstGeom prst="rect">
            <a:avLst/>
          </a:prstGeom>
          <a:noFill/>
          <a:ln/>
        </p:spPr>
        <p:txBody>
          <a:bodyPr wrap="square" lIns="0" tIns="0" rIns="0" bIns="0" rtlCol="0" anchor="t"/>
          <a:lstStyle/>
          <a:p>
            <a:pPr marL="0" indent="0">
              <a:lnSpc>
                <a:spcPct val="98000"/>
              </a:lnSpc>
              <a:buNone/>
            </a:pPr>
            <a:r>
              <a:rPr lang="en-US" sz="2900" b="1" dirty="0">
                <a:solidFill>
                  <a:srgbClr val="15171C"/>
                </a:solidFill>
                <a:latin typeface="Arial" pitchFamily="34" charset="0"/>
                <a:ea typeface="Arial" pitchFamily="34" charset="-122"/>
                <a:cs typeface="Arial" pitchFamily="34" charset="-120"/>
              </a:rPr>
              <a:t>Built on a measurement course — scaled up (cont.)</a:t>
            </a:r>
            <a:endParaRPr lang="en-US" sz="2900" dirty="0"/>
          </a:p>
        </p:txBody>
      </p:sp>
      <p:sp>
        <p:nvSpPr>
          <p:cNvPr id="7" name="Shape 5"/>
          <p:cNvSpPr/>
          <p:nvPr/>
        </p:nvSpPr>
        <p:spPr>
          <a:xfrm>
            <a:off x="822960" y="2200000"/>
            <a:ext cx="4572000" cy="2300000"/>
          </a:xfrm>
          <a:prstGeom prst="roundRect">
            <a:avLst>
              <a:gd name="adj" fmla="val 2593"/>
            </a:avLst>
          </a:prstGeom>
          <a:solidFill>
            <a:srgbClr val="FFFFFF"/>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8" name="Text 6"/>
          <p:cNvSpPr/>
          <p:nvPr/>
        </p:nvSpPr>
        <p:spPr>
          <a:xfrm>
            <a:off x="1143000" y="2420000"/>
            <a:ext cx="3931920" cy="365760"/>
          </a:xfrm>
          <a:prstGeom prst="rect">
            <a:avLst/>
          </a:prstGeom>
          <a:noFill/>
          <a:ln/>
        </p:spPr>
        <p:txBody>
          <a:bodyPr wrap="square" lIns="0" tIns="0" rIns="0" bIns="0" rtlCol="0" anchor="ctr"/>
          <a:lstStyle/>
          <a:p>
            <a:pPr marL="0" indent="0">
              <a:buNone/>
            </a:pPr>
            <a:r>
              <a:rPr lang="en-US" sz="2000" b="1" dirty="0">
                <a:solidFill>
                  <a:srgbClr val="15171C"/>
                </a:solidFill>
                <a:latin typeface="Arial" pitchFamily="34" charset="0"/>
                <a:ea typeface="Arial" pitchFamily="34" charset="-122"/>
                <a:cs typeface="Arial" pitchFamily="34" charset="-120"/>
              </a:rPr>
              <a:t>UCSD CSE 291-E</a:t>
            </a:r>
            <a:endParaRPr lang="en-US" sz="1800" dirty="0"/>
          </a:p>
        </p:txBody>
      </p:sp>
      <p:sp>
        <p:nvSpPr>
          <p:cNvPr id="9" name="Text 7"/>
          <p:cNvSpPr/>
          <p:nvPr/>
        </p:nvSpPr>
        <p:spPr>
          <a:xfrm>
            <a:off x="1143000" y="2950000"/>
            <a:ext cx="3931920" cy="274320"/>
          </a:xfrm>
          <a:prstGeom prst="rect">
            <a:avLst/>
          </a:prstGeom>
          <a:noFill/>
          <a:ln/>
        </p:spPr>
        <p:txBody>
          <a:bodyPr wrap="square" lIns="0" tIns="0" rIns="0" bIns="0" rtlCol="0" anchor="ctr"/>
          <a:lstStyle/>
          <a:p>
            <a:pPr marL="0" indent="0">
              <a:buNone/>
            </a:pPr>
            <a:r>
              <a:rPr lang="en-US" sz="2000" kern="0" spc="100" dirty="0">
                <a:solidFill>
                  <a:srgbClr val="6B7280"/>
                </a:solidFill>
                <a:latin typeface="Arial" pitchFamily="34" charset="0"/>
                <a:ea typeface="Arial" pitchFamily="34" charset="-122"/>
                <a:cs typeface="Arial" pitchFamily="34" charset="-120"/>
              </a:rPr>
              <a:t>the starting point</a:t>
            </a:r>
            <a:endParaRPr lang="en-US" sz="1100" dirty="0"/>
          </a:p>
        </p:txBody>
      </p:sp>
      <p:sp>
        <p:nvSpPr>
          <p:cNvPr id="14" name="Shape 12"/>
          <p:cNvSpPr/>
          <p:nvPr/>
        </p:nvSpPr>
        <p:spPr>
          <a:xfrm>
            <a:off x="1097280" y="3520000"/>
            <a:ext cx="91440" cy="91440"/>
          </a:xfrm>
          <a:prstGeom prst="ellipse">
            <a:avLst/>
          </a:prstGeom>
          <a:solidFill>
            <a:srgbClr val="C2C8D2"/>
          </a:solidFill>
          <a:ln/>
        </p:spPr>
        <p:txBody>
          <a:bodyPr/>
          <a:lstStyle/>
          <a:p>
            <a:endParaRPr lang="en-US"/>
          </a:p>
        </p:txBody>
      </p:sp>
      <p:sp>
        <p:nvSpPr>
          <p:cNvPr id="15" name="Text 13"/>
          <p:cNvSpPr/>
          <p:nvPr/>
        </p:nvSpPr>
        <p:spPr>
          <a:xfrm>
            <a:off x="1408176" y="3500000"/>
            <a:ext cx="3712464" cy="820000"/>
          </a:xfrm>
          <a:prstGeom prst="rect">
            <a:avLst/>
          </a:prstGeom>
          <a:noFill/>
          <a:ln/>
        </p:spPr>
        <p:txBody>
          <a:bodyPr wrap="square" lIns="0" tIns="0" rIns="0" bIns="0" rtlCol="0" anchor="t"/>
          <a:lstStyle/>
          <a:p>
            <a:pPr marL="0" indent="0">
              <a:lnSpc>
                <a:spcPct val="103000"/>
              </a:lnSpc>
              <a:buNone/>
            </a:pPr>
            <a:r>
              <a:rPr lang="en-US" sz="2000" dirty="0">
                <a:solidFill>
                  <a:srgbClr val="33373F"/>
                </a:solidFill>
                <a:latin typeface="Arial" pitchFamily="34" charset="0"/>
                <a:ea typeface="Arial" pitchFamily="34" charset="-122"/>
                <a:cs typeface="Arial" pitchFamily="34" charset="-120"/>
              </a:rPr>
              <a:t>Concepts: ASes, BGP, registries, traceroute, telescopes</a:t>
            </a:r>
            <a:endParaRPr lang="en-US" sz="1300" dirty="0"/>
          </a:p>
        </p:txBody>
      </p:sp>
      <p:sp>
        <p:nvSpPr>
          <p:cNvPr id="16" name="Shape 14"/>
          <p:cNvSpPr/>
          <p:nvPr/>
        </p:nvSpPr>
        <p:spPr>
          <a:xfrm>
            <a:off x="6766560" y="2200000"/>
            <a:ext cx="4572000" cy="2300000"/>
          </a:xfrm>
          <a:prstGeom prst="roundRect">
            <a:avLst>
              <a:gd name="adj" fmla="val 2593"/>
            </a:avLst>
          </a:prstGeom>
          <a:solidFill>
            <a:srgbClr val="F7F8FA"/>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17" name="Text 15"/>
          <p:cNvSpPr/>
          <p:nvPr/>
        </p:nvSpPr>
        <p:spPr>
          <a:xfrm>
            <a:off x="7086600" y="2420000"/>
            <a:ext cx="3931920" cy="365760"/>
          </a:xfrm>
          <a:prstGeom prst="rect">
            <a:avLst/>
          </a:prstGeom>
          <a:noFill/>
          <a:ln/>
        </p:spPr>
        <p:txBody>
          <a:bodyPr wrap="square" lIns="0" tIns="0" rIns="0" bIns="0" rtlCol="0" anchor="ctr"/>
          <a:lstStyle/>
          <a:p>
            <a:pPr marL="0" indent="0">
              <a:buNone/>
            </a:pPr>
            <a:r>
              <a:rPr lang="en-US" sz="2000" b="1" dirty="0">
                <a:solidFill>
                  <a:srgbClr val="2B5187"/>
                </a:solidFill>
                <a:latin typeface="Arial" pitchFamily="34" charset="0"/>
                <a:ea typeface="Arial" pitchFamily="34" charset="-122"/>
                <a:cs typeface="Arial" pitchFamily="34" charset="-120"/>
              </a:rPr>
              <a:t>CAIDA ETP</a:t>
            </a:r>
            <a:endParaRPr lang="en-US" sz="1800" dirty="0"/>
          </a:p>
        </p:txBody>
      </p:sp>
      <p:sp>
        <p:nvSpPr>
          <p:cNvPr id="18" name="Text 16"/>
          <p:cNvSpPr/>
          <p:nvPr/>
        </p:nvSpPr>
        <p:spPr>
          <a:xfrm>
            <a:off x="7086600" y="2950000"/>
            <a:ext cx="3931920" cy="274320"/>
          </a:xfrm>
          <a:prstGeom prst="rect">
            <a:avLst/>
          </a:prstGeom>
          <a:noFill/>
          <a:ln/>
        </p:spPr>
        <p:txBody>
          <a:bodyPr wrap="square" lIns="0" tIns="0" rIns="0" bIns="0" rtlCol="0" anchor="ctr"/>
          <a:lstStyle/>
          <a:p>
            <a:pPr marL="0" indent="0">
              <a:buNone/>
            </a:pPr>
            <a:r>
              <a:rPr lang="en-US" sz="2000" kern="0" spc="100" dirty="0">
                <a:solidFill>
                  <a:srgbClr val="6B7280"/>
                </a:solidFill>
                <a:latin typeface="Arial" pitchFamily="34" charset="0"/>
                <a:ea typeface="Arial" pitchFamily="34" charset="-122"/>
                <a:cs typeface="Arial" pitchFamily="34" charset="-120"/>
              </a:rPr>
              <a:t>the same ideas, at global scale</a:t>
            </a:r>
            <a:endParaRPr lang="en-US" sz="1100" dirty="0"/>
          </a:p>
        </p:txBody>
      </p:sp>
      <p:sp>
        <p:nvSpPr>
          <p:cNvPr id="23" name="Shape 21"/>
          <p:cNvSpPr/>
          <p:nvPr/>
        </p:nvSpPr>
        <p:spPr>
          <a:xfrm>
            <a:off x="7040880" y="3520000"/>
            <a:ext cx="91440" cy="91440"/>
          </a:xfrm>
          <a:prstGeom prst="ellipse">
            <a:avLst/>
          </a:prstGeom>
          <a:solidFill>
            <a:srgbClr val="2B5187"/>
          </a:solidFill>
          <a:ln/>
        </p:spPr>
        <p:txBody>
          <a:bodyPr/>
          <a:lstStyle/>
          <a:p>
            <a:endParaRPr lang="en-US"/>
          </a:p>
        </p:txBody>
      </p:sp>
      <p:sp>
        <p:nvSpPr>
          <p:cNvPr id="24" name="Text 22"/>
          <p:cNvSpPr/>
          <p:nvPr/>
        </p:nvSpPr>
        <p:spPr>
          <a:xfrm>
            <a:off x="7351776" y="3500000"/>
            <a:ext cx="3712464" cy="820000"/>
          </a:xfrm>
          <a:prstGeom prst="rect">
            <a:avLst/>
          </a:prstGeom>
          <a:noFill/>
          <a:ln/>
        </p:spPr>
        <p:txBody>
          <a:bodyPr wrap="square" lIns="0" tIns="0" rIns="0" bIns="0" rtlCol="0" anchor="t"/>
          <a:lstStyle/>
          <a:p>
            <a:pPr marL="0" indent="0">
              <a:lnSpc>
                <a:spcPct val="103000"/>
              </a:lnSpc>
              <a:buNone/>
            </a:pPr>
            <a:r>
              <a:rPr lang="en-US" sz="2000" dirty="0">
                <a:solidFill>
                  <a:srgbClr val="33373F"/>
                </a:solidFill>
                <a:latin typeface="Arial" pitchFamily="34" charset="0"/>
                <a:ea typeface="Arial" pitchFamily="34" charset="-122"/>
                <a:cs typeface="Arial" pitchFamily="34" charset="-120"/>
              </a:rPr>
              <a:t>Run on NRP and Expanse research supercomputing</a:t>
            </a:r>
            <a:endParaRPr lang="en-US" sz="1300" dirty="0"/>
          </a:p>
        </p:txBody>
      </p:sp>
      <p:sp>
        <p:nvSpPr>
          <p:cNvPr id="25" name="Shape 23"/>
          <p:cNvSpPr/>
          <p:nvPr/>
        </p:nvSpPr>
        <p:spPr>
          <a:xfrm>
            <a:off x="5715000" y="3250000"/>
            <a:ext cx="731520" cy="585216"/>
          </a:xfrm>
          <a:prstGeom prst="rightArrow">
            <a:avLst/>
          </a:prstGeom>
          <a:solidFill>
            <a:srgbClr val="2B5187"/>
          </a:solidFill>
          <a:ln/>
        </p:spPr>
        <p:txBody>
          <a:bodyPr/>
          <a:lstStyle/>
          <a:p>
            <a:endParaRPr lang="en-US"/>
          </a:p>
        </p:txBody>
      </p:sp>
      <p:sp>
        <p:nvSpPr>
          <p:cNvPr id="26" name="Text 24"/>
          <p:cNvSpPr/>
          <p:nvPr/>
        </p:nvSpPr>
        <p:spPr>
          <a:xfrm>
            <a:off x="822960" y="4900000"/>
            <a:ext cx="10543032" cy="548640"/>
          </a:xfrm>
          <a:prstGeom prst="rect">
            <a:avLst/>
          </a:prstGeom>
          <a:noFill/>
          <a:ln/>
        </p:spPr>
        <p:txBody>
          <a:bodyPr wrap="square" lIns="0" tIns="0" rIns="0" bIns="0" rtlCol="0" anchor="ctr"/>
          <a:lstStyle/>
          <a:p>
            <a:pPr marL="0" indent="0">
              <a:lnSpc>
                <a:spcPct val="110000"/>
              </a:lnSpc>
              <a:buNone/>
            </a:pPr>
            <a:r>
              <a:rPr lang="en-US" sz="2000" i="1" dirty="0">
                <a:solidFill>
                  <a:srgbClr val="6B7280"/>
                </a:solidFill>
                <a:latin typeface="Arial" pitchFamily="34" charset="0"/>
                <a:ea typeface="Arial" pitchFamily="34" charset="-122"/>
                <a:cs typeface="Arial" pitchFamily="34" charset="-120"/>
              </a:rPr>
              <a:t>This is hands-on infrastructure training, not a paper-reading seminar. The focus is running real pipelines on production systems.</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074152" y="384048"/>
            <a:ext cx="3291840" cy="274320"/>
          </a:xfrm>
          <a:prstGeom prst="rect">
            <a:avLst/>
          </a:prstGeom>
          <a:noFill/>
          <a:ln/>
        </p:spPr>
        <p:txBody>
          <a:bodyPr wrap="square" lIns="0" tIns="0" rIns="0" bIns="0" rtlCol="0" anchor="ctr"/>
          <a:lstStyle/>
          <a:p>
            <a:pPr marL="0" indent="0" algn="r">
              <a:buNone/>
            </a:pPr>
            <a:r>
              <a:rPr lang="en-US" sz="1000" b="1" kern="0" spc="120" dirty="0">
                <a:solidFill>
                  <a:srgbClr val="15171C"/>
                </a:solidFill>
                <a:latin typeface="Arial" pitchFamily="34" charset="0"/>
                <a:ea typeface="Arial" pitchFamily="34" charset="-122"/>
                <a:cs typeface="Arial" pitchFamily="34" charset="-120"/>
              </a:rPr>
              <a:t>WEEK 1</a:t>
            </a:r>
            <a:r>
              <a:rPr lang="en-US" sz="1000" kern="0" spc="120" dirty="0">
                <a:solidFill>
                  <a:srgbClr val="6B7280"/>
                </a:solidFill>
                <a:latin typeface="Arial" pitchFamily="34" charset="0"/>
                <a:ea typeface="Arial" pitchFamily="34" charset="-122"/>
                <a:cs typeface="Arial" pitchFamily="34" charset="-120"/>
              </a:rPr>
              <a:t>  ·  BUILDING BLOCK </a:t>
            </a:r>
            <a:r>
              <a:rPr lang="en-US" sz="1000" b="1" kern="0" spc="120" dirty="0">
                <a:solidFill>
                  <a:srgbClr val="2B5187"/>
                </a:solidFill>
                <a:latin typeface="Arial" pitchFamily="34" charset="0"/>
                <a:ea typeface="Arial" pitchFamily="34" charset="-122"/>
                <a:cs typeface="Arial" pitchFamily="34" charset="-120"/>
              </a:rPr>
              <a:t>1</a:t>
            </a:r>
            <a:r>
              <a:rPr lang="en-US" sz="1000" kern="0" spc="120" dirty="0">
                <a:solidFill>
                  <a:srgbClr val="6B7280"/>
                </a:solidFill>
                <a:latin typeface="Arial" pitchFamily="34" charset="0"/>
                <a:ea typeface="Arial" pitchFamily="34" charset="-122"/>
                <a:cs typeface="Arial" pitchFamily="34" charset="-120"/>
              </a:rPr>
              <a:t> / 10</a:t>
            </a:r>
            <a:endParaRPr lang="en-US" sz="1000" dirty="0"/>
          </a:p>
        </p:txBody>
      </p:sp>
      <p:sp>
        <p:nvSpPr>
          <p:cNvPr id="3" name="Text 1"/>
          <p:cNvSpPr/>
          <p:nvPr/>
        </p:nvSpPr>
        <p:spPr>
          <a:xfrm>
            <a:off x="822960" y="640080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Arial" pitchFamily="34" charset="0"/>
                <a:ea typeface="Arial" pitchFamily="34" charset="-122"/>
                <a:cs typeface="Arial" pitchFamily="34" charset="-120"/>
              </a:rPr>
              <a:t>ESCALATE Training Program · Summer 2026</a:t>
            </a:r>
            <a:endParaRPr lang="en-US" sz="900" dirty="0"/>
          </a:p>
        </p:txBody>
      </p:sp>
      <p:sp>
        <p:nvSpPr>
          <p:cNvPr id="5" name="Text 3"/>
          <p:cNvSpPr/>
          <p:nvPr/>
        </p:nvSpPr>
        <p:spPr>
          <a:xfrm>
            <a:off x="822960" y="548640"/>
            <a:ext cx="5486400" cy="274320"/>
          </a:xfrm>
          <a:prstGeom prst="rect">
            <a:avLst/>
          </a:prstGeom>
          <a:noFill/>
          <a:ln/>
        </p:spPr>
        <p:txBody>
          <a:bodyPr wrap="square" lIns="0" tIns="0" rIns="0" bIns="0" rtlCol="0" anchor="t"/>
          <a:lstStyle/>
          <a:p>
            <a:pPr marL="0" indent="0">
              <a:buNone/>
            </a:pPr>
            <a:r>
              <a:rPr lang="en-US" sz="1100" b="1" kern="0" spc="220" dirty="0">
                <a:solidFill>
                  <a:srgbClr val="2B5187"/>
                </a:solidFill>
                <a:latin typeface="Arial" pitchFamily="34" charset="0"/>
                <a:ea typeface="Arial" pitchFamily="34" charset="-122"/>
                <a:cs typeface="Arial" pitchFamily="34" charset="-120"/>
              </a:rPr>
              <a:t>THE RHYTHM</a:t>
            </a:r>
            <a:endParaRPr lang="en-US" sz="1100" dirty="0"/>
          </a:p>
        </p:txBody>
      </p:sp>
      <p:sp>
        <p:nvSpPr>
          <p:cNvPr id="6" name="Text 4"/>
          <p:cNvSpPr/>
          <p:nvPr/>
        </p:nvSpPr>
        <p:spPr>
          <a:xfrm>
            <a:off x="822960" y="868680"/>
            <a:ext cx="10058400" cy="1188720"/>
          </a:xfrm>
          <a:prstGeom prst="rect">
            <a:avLst/>
          </a:prstGeom>
          <a:noFill/>
          <a:ln/>
        </p:spPr>
        <p:txBody>
          <a:bodyPr wrap="square" lIns="0" tIns="0" rIns="0" bIns="0" rtlCol="0" anchor="t"/>
          <a:lstStyle/>
          <a:p>
            <a:pPr marL="0" indent="0">
              <a:lnSpc>
                <a:spcPct val="98000"/>
              </a:lnSpc>
              <a:buNone/>
            </a:pPr>
            <a:r>
              <a:rPr lang="en-US" sz="3000" b="1" dirty="0">
                <a:solidFill>
                  <a:srgbClr val="15171C"/>
                </a:solidFill>
                <a:latin typeface="Arial" pitchFamily="34" charset="0"/>
                <a:ea typeface="Arial" pitchFamily="34" charset="-122"/>
                <a:cs typeface="Arial" pitchFamily="34" charset="-120"/>
              </a:rPr>
              <a:t>How each week runs</a:t>
            </a:r>
            <a:endParaRPr lang="en-US" sz="3000" dirty="0"/>
          </a:p>
        </p:txBody>
      </p:sp>
      <p:sp>
        <p:nvSpPr>
          <p:cNvPr id="7" name="Shape 5"/>
          <p:cNvSpPr/>
          <p:nvPr/>
        </p:nvSpPr>
        <p:spPr>
          <a:xfrm>
            <a:off x="822960" y="2200000"/>
            <a:ext cx="4572000" cy="2500000"/>
          </a:xfrm>
          <a:prstGeom prst="roundRect">
            <a:avLst>
              <a:gd name="adj" fmla="val 4667"/>
            </a:avLst>
          </a:prstGeom>
          <a:solidFill>
            <a:srgbClr val="FFFFFF"/>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8" name="Shape 6"/>
          <p:cNvSpPr/>
          <p:nvPr/>
        </p:nvSpPr>
        <p:spPr>
          <a:xfrm>
            <a:off x="1143000" y="2880000"/>
            <a:ext cx="146304" cy="146304"/>
          </a:xfrm>
          <a:prstGeom prst="ellipse">
            <a:avLst/>
          </a:prstGeom>
          <a:solidFill>
            <a:srgbClr val="2B5187"/>
          </a:solidFill>
          <a:ln/>
        </p:spPr>
        <p:txBody>
          <a:bodyPr/>
          <a:lstStyle/>
          <a:p>
            <a:endParaRPr lang="en-US"/>
          </a:p>
        </p:txBody>
      </p:sp>
      <p:sp>
        <p:nvSpPr>
          <p:cNvPr id="9" name="Text 7"/>
          <p:cNvSpPr/>
          <p:nvPr/>
        </p:nvSpPr>
        <p:spPr>
          <a:xfrm>
            <a:off x="1417320" y="2743465"/>
            <a:ext cx="3657600" cy="365760"/>
          </a:xfrm>
          <a:prstGeom prst="rect">
            <a:avLst/>
          </a:prstGeom>
          <a:noFill/>
          <a:ln/>
        </p:spPr>
        <p:txBody>
          <a:bodyPr wrap="square" lIns="0" tIns="0" rIns="0" bIns="0" rtlCol="0" anchor="ctr"/>
          <a:lstStyle/>
          <a:p>
            <a:pPr marL="0" indent="0">
              <a:buNone/>
            </a:pPr>
            <a:r>
              <a:rPr lang="en-US" sz="2000" b="1" dirty="0">
                <a:solidFill>
                  <a:srgbClr val="15171C"/>
                </a:solidFill>
                <a:latin typeface="Arial" pitchFamily="34" charset="0"/>
                <a:ea typeface="Arial" pitchFamily="34" charset="-122"/>
                <a:cs typeface="Arial" pitchFamily="34" charset="-120"/>
              </a:rPr>
              <a:t>Plenary hour</a:t>
            </a:r>
            <a:endParaRPr lang="en-US" sz="1600" dirty="0"/>
          </a:p>
        </p:txBody>
      </p:sp>
      <p:sp>
        <p:nvSpPr>
          <p:cNvPr id="10" name="Text 8"/>
          <p:cNvSpPr/>
          <p:nvPr/>
        </p:nvSpPr>
        <p:spPr>
          <a:xfrm>
            <a:off x="1143000" y="3120000"/>
            <a:ext cx="3931920" cy="1400000"/>
          </a:xfrm>
          <a:prstGeom prst="rect">
            <a:avLst/>
          </a:prstGeom>
          <a:noFill/>
          <a:ln/>
        </p:spPr>
        <p:txBody>
          <a:bodyPr wrap="square" lIns="0" tIns="0" rIns="0" bIns="0" rtlCol="0" anchor="ctr"/>
          <a:lstStyle/>
          <a:p>
            <a:pPr marL="0" indent="0">
              <a:lnSpc>
                <a:spcPct val="105000"/>
              </a:lnSpc>
              <a:buNone/>
            </a:pPr>
            <a:r>
              <a:rPr lang="en-US" sz="2000" dirty="0">
                <a:solidFill>
                  <a:srgbClr val="33373F"/>
                </a:solidFill>
                <a:latin typeface="Arial" pitchFamily="34" charset="0"/>
                <a:ea typeface="Arial" pitchFamily="34" charset="-122"/>
                <a:cs typeface="Arial" pitchFamily="34" charset="-120"/>
              </a:rPr>
              <a:t>One hour, synchronous — lecture and discussion of the week's building block. Tue Jun 16 at 12:00 PT for Week 1.</a:t>
            </a:r>
            <a:endParaRPr lang="en-US" sz="1250" dirty="0"/>
          </a:p>
        </p:txBody>
      </p:sp>
      <p:sp>
        <p:nvSpPr>
          <p:cNvPr id="11" name="Shape 9"/>
          <p:cNvSpPr/>
          <p:nvPr/>
        </p:nvSpPr>
        <p:spPr>
          <a:xfrm>
            <a:off x="5897880" y="2200000"/>
            <a:ext cx="4572000" cy="2500000"/>
          </a:xfrm>
          <a:prstGeom prst="roundRect">
            <a:avLst>
              <a:gd name="adj" fmla="val 4667"/>
            </a:avLst>
          </a:prstGeom>
          <a:solidFill>
            <a:srgbClr val="FFFFFF"/>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12" name="Shape 10"/>
          <p:cNvSpPr/>
          <p:nvPr/>
        </p:nvSpPr>
        <p:spPr>
          <a:xfrm>
            <a:off x="6217920" y="2880000"/>
            <a:ext cx="146304" cy="146304"/>
          </a:xfrm>
          <a:prstGeom prst="ellipse">
            <a:avLst/>
          </a:prstGeom>
          <a:solidFill>
            <a:srgbClr val="2B5187"/>
          </a:solidFill>
          <a:ln/>
        </p:spPr>
        <p:txBody>
          <a:bodyPr/>
          <a:lstStyle/>
          <a:p>
            <a:endParaRPr lang="en-US"/>
          </a:p>
        </p:txBody>
      </p:sp>
      <p:sp>
        <p:nvSpPr>
          <p:cNvPr id="13" name="Text 11"/>
          <p:cNvSpPr/>
          <p:nvPr/>
        </p:nvSpPr>
        <p:spPr>
          <a:xfrm>
            <a:off x="6492240" y="2767216"/>
            <a:ext cx="3657600" cy="365760"/>
          </a:xfrm>
          <a:prstGeom prst="rect">
            <a:avLst/>
          </a:prstGeom>
          <a:noFill/>
          <a:ln/>
        </p:spPr>
        <p:txBody>
          <a:bodyPr wrap="square" lIns="0" tIns="0" rIns="0" bIns="0" rtlCol="0" anchor="ctr"/>
          <a:lstStyle/>
          <a:p>
            <a:pPr marL="0" indent="0">
              <a:buNone/>
            </a:pPr>
            <a:r>
              <a:rPr lang="en-US" sz="2000" b="1" dirty="0">
                <a:solidFill>
                  <a:srgbClr val="15171C"/>
                </a:solidFill>
                <a:latin typeface="Arial" pitchFamily="34" charset="0"/>
                <a:ea typeface="Arial" pitchFamily="34" charset="-122"/>
                <a:cs typeface="Arial" pitchFamily="34" charset="-120"/>
              </a:rPr>
              <a:t>Hands-on hour</a:t>
            </a:r>
            <a:endParaRPr lang="en-US" sz="1600" dirty="0"/>
          </a:p>
        </p:txBody>
      </p:sp>
      <p:sp>
        <p:nvSpPr>
          <p:cNvPr id="14" name="Text 12"/>
          <p:cNvSpPr/>
          <p:nvPr/>
        </p:nvSpPr>
        <p:spPr>
          <a:xfrm>
            <a:off x="6217920" y="3120000"/>
            <a:ext cx="3931920" cy="1400000"/>
          </a:xfrm>
          <a:prstGeom prst="rect">
            <a:avLst/>
          </a:prstGeom>
          <a:noFill/>
          <a:ln/>
        </p:spPr>
        <p:txBody>
          <a:bodyPr wrap="square" lIns="0" tIns="0" rIns="0" bIns="0" rtlCol="0" anchor="ctr"/>
          <a:lstStyle/>
          <a:p>
            <a:pPr marL="0" indent="0">
              <a:lnSpc>
                <a:spcPct val="105000"/>
              </a:lnSpc>
              <a:buNone/>
            </a:pPr>
            <a:r>
              <a:rPr lang="en-US" sz="2000" dirty="0">
                <a:solidFill>
                  <a:srgbClr val="33373F"/>
                </a:solidFill>
                <a:latin typeface="Arial" pitchFamily="34" charset="0"/>
                <a:ea typeface="Arial" pitchFamily="34" charset="-122"/>
                <a:cs typeface="Arial" pitchFamily="34" charset="-120"/>
              </a:rPr>
              <a:t>A second hour for hands-on help with the infrastructure — getting unstuck on NRP, Expanse, and the assignment.</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074152" y="384048"/>
            <a:ext cx="3291840" cy="274320"/>
          </a:xfrm>
          <a:prstGeom prst="rect">
            <a:avLst/>
          </a:prstGeom>
          <a:noFill/>
          <a:ln/>
        </p:spPr>
        <p:txBody>
          <a:bodyPr wrap="square" lIns="0" tIns="0" rIns="0" bIns="0" rtlCol="0" anchor="ctr"/>
          <a:lstStyle/>
          <a:p>
            <a:pPr marL="0" indent="0" algn="r">
              <a:buNone/>
            </a:pPr>
            <a:r>
              <a:rPr lang="en-US" sz="1000" b="1" kern="0" spc="120" dirty="0">
                <a:solidFill>
                  <a:srgbClr val="15171C"/>
                </a:solidFill>
                <a:latin typeface="Arial" pitchFamily="34" charset="0"/>
                <a:ea typeface="Arial" pitchFamily="34" charset="-122"/>
                <a:cs typeface="Arial" pitchFamily="34" charset="-120"/>
              </a:rPr>
              <a:t>WEEK 1</a:t>
            </a:r>
            <a:r>
              <a:rPr lang="en-US" sz="1000" kern="0" spc="120" dirty="0">
                <a:solidFill>
                  <a:srgbClr val="6B7280"/>
                </a:solidFill>
                <a:latin typeface="Arial" pitchFamily="34" charset="0"/>
                <a:ea typeface="Arial" pitchFamily="34" charset="-122"/>
                <a:cs typeface="Arial" pitchFamily="34" charset="-120"/>
              </a:rPr>
              <a:t>  ·  BUILDING BLOCK </a:t>
            </a:r>
            <a:r>
              <a:rPr lang="en-US" sz="1000" b="1" kern="0" spc="120" dirty="0">
                <a:solidFill>
                  <a:srgbClr val="2B5187"/>
                </a:solidFill>
                <a:latin typeface="Arial" pitchFamily="34" charset="0"/>
                <a:ea typeface="Arial" pitchFamily="34" charset="-122"/>
                <a:cs typeface="Arial" pitchFamily="34" charset="-120"/>
              </a:rPr>
              <a:t>1</a:t>
            </a:r>
            <a:r>
              <a:rPr lang="en-US" sz="1000" kern="0" spc="120" dirty="0">
                <a:solidFill>
                  <a:srgbClr val="6B7280"/>
                </a:solidFill>
                <a:latin typeface="Arial" pitchFamily="34" charset="0"/>
                <a:ea typeface="Arial" pitchFamily="34" charset="-122"/>
                <a:cs typeface="Arial" pitchFamily="34" charset="-120"/>
              </a:rPr>
              <a:t> / 10</a:t>
            </a:r>
            <a:endParaRPr lang="en-US" sz="1000" dirty="0"/>
          </a:p>
        </p:txBody>
      </p:sp>
      <p:sp>
        <p:nvSpPr>
          <p:cNvPr id="3" name="Text 1"/>
          <p:cNvSpPr/>
          <p:nvPr/>
        </p:nvSpPr>
        <p:spPr>
          <a:xfrm>
            <a:off x="822960" y="640080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Arial" pitchFamily="34" charset="0"/>
                <a:ea typeface="Arial" pitchFamily="34" charset="-122"/>
                <a:cs typeface="Arial" pitchFamily="34" charset="-120"/>
              </a:rPr>
              <a:t>ESCALATE Training Program · Summer 2026</a:t>
            </a:r>
            <a:endParaRPr lang="en-US" sz="900" dirty="0"/>
          </a:p>
        </p:txBody>
      </p:sp>
      <p:sp>
        <p:nvSpPr>
          <p:cNvPr id="5" name="Text 3"/>
          <p:cNvSpPr/>
          <p:nvPr/>
        </p:nvSpPr>
        <p:spPr>
          <a:xfrm>
            <a:off x="822960" y="548640"/>
            <a:ext cx="5486400" cy="274320"/>
          </a:xfrm>
          <a:prstGeom prst="rect">
            <a:avLst/>
          </a:prstGeom>
          <a:noFill/>
          <a:ln/>
        </p:spPr>
        <p:txBody>
          <a:bodyPr wrap="square" lIns="0" tIns="0" rIns="0" bIns="0" rtlCol="0" anchor="t"/>
          <a:lstStyle/>
          <a:p>
            <a:pPr marL="0" indent="0">
              <a:buNone/>
            </a:pPr>
            <a:r>
              <a:rPr lang="en-US" sz="1100" b="1" kern="0" spc="220" dirty="0">
                <a:solidFill>
                  <a:srgbClr val="2B5187"/>
                </a:solidFill>
                <a:latin typeface="Arial" pitchFamily="34" charset="0"/>
                <a:ea typeface="Arial" pitchFamily="34" charset="-122"/>
                <a:cs typeface="Arial" pitchFamily="34" charset="-120"/>
              </a:rPr>
              <a:t>THE RHYTHM</a:t>
            </a:r>
            <a:endParaRPr lang="en-US" sz="1100" dirty="0"/>
          </a:p>
        </p:txBody>
      </p:sp>
      <p:sp>
        <p:nvSpPr>
          <p:cNvPr id="6" name="Text 4"/>
          <p:cNvSpPr/>
          <p:nvPr/>
        </p:nvSpPr>
        <p:spPr>
          <a:xfrm>
            <a:off x="822960" y="868680"/>
            <a:ext cx="10058400" cy="1188720"/>
          </a:xfrm>
          <a:prstGeom prst="rect">
            <a:avLst/>
          </a:prstGeom>
          <a:noFill/>
          <a:ln/>
        </p:spPr>
        <p:txBody>
          <a:bodyPr wrap="square" lIns="0" tIns="0" rIns="0" bIns="0" rtlCol="0" anchor="t"/>
          <a:lstStyle/>
          <a:p>
            <a:pPr marL="0" indent="0">
              <a:lnSpc>
                <a:spcPct val="98000"/>
              </a:lnSpc>
              <a:buNone/>
            </a:pPr>
            <a:r>
              <a:rPr lang="en-US" sz="3000" b="1" dirty="0">
                <a:solidFill>
                  <a:srgbClr val="15171C"/>
                </a:solidFill>
                <a:latin typeface="Arial" pitchFamily="34" charset="0"/>
                <a:ea typeface="Arial" pitchFamily="34" charset="-122"/>
                <a:cs typeface="Arial" pitchFamily="34" charset="-120"/>
              </a:rPr>
              <a:t>How each week runs (cont.)</a:t>
            </a:r>
            <a:endParaRPr lang="en-US" sz="3000" dirty="0"/>
          </a:p>
        </p:txBody>
      </p:sp>
      <p:sp>
        <p:nvSpPr>
          <p:cNvPr id="15" name="Text 13"/>
          <p:cNvSpPr/>
          <p:nvPr/>
        </p:nvSpPr>
        <p:spPr>
          <a:xfrm>
            <a:off x="822960" y="1800000"/>
            <a:ext cx="5486400" cy="320040"/>
          </a:xfrm>
          <a:prstGeom prst="rect">
            <a:avLst/>
          </a:prstGeom>
          <a:noFill/>
          <a:ln/>
        </p:spPr>
        <p:txBody>
          <a:bodyPr wrap="square" lIns="0" tIns="0" rIns="0" bIns="0" rtlCol="0" anchor="ctr"/>
          <a:lstStyle/>
          <a:p>
            <a:pPr marL="0" indent="0">
              <a:buNone/>
            </a:pPr>
            <a:r>
              <a:rPr lang="en-US" sz="2000" b="1" kern="0" spc="100" dirty="0">
                <a:solidFill>
                  <a:srgbClr val="6B7280"/>
                </a:solidFill>
                <a:latin typeface="Arial" pitchFamily="34" charset="0"/>
                <a:ea typeface="Arial" pitchFamily="34" charset="-122"/>
                <a:cs typeface="Arial" pitchFamily="34" charset="-120"/>
              </a:rPr>
              <a:t>Every week brings:</a:t>
            </a:r>
            <a:endParaRPr lang="en-US" sz="1300" dirty="0"/>
          </a:p>
        </p:txBody>
      </p:sp>
      <p:sp>
        <p:nvSpPr>
          <p:cNvPr id="16" name="Shape 14"/>
          <p:cNvSpPr/>
          <p:nvPr/>
        </p:nvSpPr>
        <p:spPr>
          <a:xfrm>
            <a:off x="822960" y="2568580"/>
            <a:ext cx="91440" cy="91440"/>
          </a:xfrm>
          <a:prstGeom prst="ellipse">
            <a:avLst/>
          </a:prstGeom>
          <a:solidFill>
            <a:srgbClr val="2B5187"/>
          </a:solidFill>
          <a:ln/>
        </p:spPr>
        <p:txBody>
          <a:bodyPr/>
          <a:lstStyle/>
          <a:p>
            <a:endParaRPr lang="en-US"/>
          </a:p>
        </p:txBody>
      </p:sp>
      <p:sp>
        <p:nvSpPr>
          <p:cNvPr id="17" name="Text 15"/>
          <p:cNvSpPr/>
          <p:nvPr/>
        </p:nvSpPr>
        <p:spPr>
          <a:xfrm>
            <a:off x="1133856" y="2500000"/>
            <a:ext cx="10150000" cy="820000"/>
          </a:xfrm>
          <a:prstGeom prst="rect">
            <a:avLst/>
          </a:prstGeom>
          <a:noFill/>
          <a:ln/>
        </p:spPr>
        <p:txBody>
          <a:bodyPr wrap="square" lIns="0" tIns="0" rIns="0" bIns="0" rtlCol="0" anchor="t"/>
          <a:lstStyle/>
          <a:p>
            <a:pPr marL="0" indent="0">
              <a:lnSpc>
                <a:spcPct val="103000"/>
              </a:lnSpc>
              <a:buNone/>
            </a:pPr>
            <a:r>
              <a:rPr lang="en-US" sz="2000" b="1" dirty="0">
                <a:solidFill>
                  <a:srgbClr val="15171C"/>
                </a:solidFill>
                <a:latin typeface="Arial" pitchFamily="34" charset="0"/>
                <a:ea typeface="Arial" pitchFamily="34" charset="-122"/>
                <a:cs typeface="Arial" pitchFamily="34" charset="-120"/>
              </a:rPr>
              <a:t>Topics </a:t>
            </a:r>
            <a:r>
              <a:rPr lang="en-US" sz="2000" dirty="0">
                <a:solidFill>
                  <a:srgbClr val="33373F"/>
                </a:solidFill>
                <a:latin typeface="Arial" pitchFamily="34" charset="0"/>
                <a:ea typeface="Arial" pitchFamily="34" charset="-122"/>
                <a:cs typeface="Arial" pitchFamily="34" charset="-120"/>
              </a:rPr>
              <a:t>— the concepts behind the week's building block.</a:t>
            </a:r>
            <a:endParaRPr lang="en-US" sz="1400" dirty="0"/>
          </a:p>
        </p:txBody>
      </p:sp>
      <p:sp>
        <p:nvSpPr>
          <p:cNvPr id="18" name="Shape 16"/>
          <p:cNvSpPr/>
          <p:nvPr/>
        </p:nvSpPr>
        <p:spPr>
          <a:xfrm>
            <a:off x="822960" y="3518580"/>
            <a:ext cx="91440" cy="91440"/>
          </a:xfrm>
          <a:prstGeom prst="ellipse">
            <a:avLst/>
          </a:prstGeom>
          <a:solidFill>
            <a:srgbClr val="2B5187"/>
          </a:solidFill>
          <a:ln/>
        </p:spPr>
        <p:txBody>
          <a:bodyPr/>
          <a:lstStyle/>
          <a:p>
            <a:endParaRPr lang="en-US"/>
          </a:p>
        </p:txBody>
      </p:sp>
      <p:sp>
        <p:nvSpPr>
          <p:cNvPr id="19" name="Text 17"/>
          <p:cNvSpPr/>
          <p:nvPr/>
        </p:nvSpPr>
        <p:spPr>
          <a:xfrm>
            <a:off x="1133856" y="3450000"/>
            <a:ext cx="10150000" cy="820000"/>
          </a:xfrm>
          <a:prstGeom prst="rect">
            <a:avLst/>
          </a:prstGeom>
          <a:noFill/>
          <a:ln/>
        </p:spPr>
        <p:txBody>
          <a:bodyPr wrap="square" lIns="0" tIns="0" rIns="0" bIns="0" rtlCol="0" anchor="t"/>
          <a:lstStyle/>
          <a:p>
            <a:pPr marL="0" indent="0">
              <a:lnSpc>
                <a:spcPct val="103000"/>
              </a:lnSpc>
              <a:buNone/>
            </a:pPr>
            <a:r>
              <a:rPr lang="en-US" sz="2000" b="1" dirty="0">
                <a:solidFill>
                  <a:srgbClr val="15171C"/>
                </a:solidFill>
                <a:latin typeface="Arial" pitchFamily="34" charset="0"/>
                <a:ea typeface="Arial" pitchFamily="34" charset="-122"/>
                <a:cs typeface="Arial" pitchFamily="34" charset="-120"/>
              </a:rPr>
              <a:t>Datasets &amp; tools </a:t>
            </a:r>
            <a:r>
              <a:rPr lang="en-US" sz="2000" dirty="0">
                <a:solidFill>
                  <a:srgbClr val="33373F"/>
                </a:solidFill>
                <a:latin typeface="Arial" pitchFamily="34" charset="0"/>
                <a:ea typeface="Arial" pitchFamily="34" charset="-122"/>
                <a:cs typeface="Arial" pitchFamily="34" charset="-120"/>
              </a:rPr>
              <a:t>— what's introduced that week.</a:t>
            </a:r>
            <a:endParaRPr lang="en-US" sz="1400" dirty="0"/>
          </a:p>
        </p:txBody>
      </p:sp>
      <p:sp>
        <p:nvSpPr>
          <p:cNvPr id="20" name="Shape 18"/>
          <p:cNvSpPr/>
          <p:nvPr/>
        </p:nvSpPr>
        <p:spPr>
          <a:xfrm>
            <a:off x="822960" y="4468580"/>
            <a:ext cx="91440" cy="91440"/>
          </a:xfrm>
          <a:prstGeom prst="ellipse">
            <a:avLst/>
          </a:prstGeom>
          <a:solidFill>
            <a:srgbClr val="2B5187"/>
          </a:solidFill>
          <a:ln/>
        </p:spPr>
        <p:txBody>
          <a:bodyPr/>
          <a:lstStyle/>
          <a:p>
            <a:endParaRPr lang="en-US"/>
          </a:p>
        </p:txBody>
      </p:sp>
      <p:sp>
        <p:nvSpPr>
          <p:cNvPr id="21" name="Text 19"/>
          <p:cNvSpPr/>
          <p:nvPr/>
        </p:nvSpPr>
        <p:spPr>
          <a:xfrm>
            <a:off x="1133856" y="4400000"/>
            <a:ext cx="10150000" cy="820000"/>
          </a:xfrm>
          <a:prstGeom prst="rect">
            <a:avLst/>
          </a:prstGeom>
          <a:noFill/>
          <a:ln/>
        </p:spPr>
        <p:txBody>
          <a:bodyPr wrap="square" lIns="0" tIns="0" rIns="0" bIns="0" rtlCol="0" anchor="t"/>
          <a:lstStyle/>
          <a:p>
            <a:pPr marL="0" indent="0">
              <a:lnSpc>
                <a:spcPct val="103000"/>
              </a:lnSpc>
              <a:buNone/>
            </a:pPr>
            <a:r>
              <a:rPr lang="en-US" sz="2000" b="1" dirty="0">
                <a:solidFill>
                  <a:srgbClr val="15171C"/>
                </a:solidFill>
                <a:latin typeface="Arial" pitchFamily="34" charset="0"/>
                <a:ea typeface="Arial" pitchFamily="34" charset="-122"/>
                <a:cs typeface="Arial" pitchFamily="34" charset="-120"/>
              </a:rPr>
              <a:t>A scaled assignment </a:t>
            </a:r>
            <a:r>
              <a:rPr lang="en-US" sz="2000" dirty="0">
                <a:solidFill>
                  <a:srgbClr val="33373F"/>
                </a:solidFill>
                <a:latin typeface="Arial" pitchFamily="34" charset="0"/>
                <a:ea typeface="Arial" pitchFamily="34" charset="-122"/>
                <a:cs typeface="Arial" pitchFamily="34" charset="-120"/>
              </a:rPr>
              <a:t>— often a small version to learn the data, then a large version that needs NRP or Expanse.</a:t>
            </a:r>
            <a:endParaRPr lang="en-US" sz="1400" dirty="0"/>
          </a:p>
        </p:txBody>
      </p:sp>
      <p:sp>
        <p:nvSpPr>
          <p:cNvPr id="22" name="Shape 20"/>
          <p:cNvSpPr/>
          <p:nvPr/>
        </p:nvSpPr>
        <p:spPr>
          <a:xfrm>
            <a:off x="822960" y="5418580"/>
            <a:ext cx="91440" cy="91440"/>
          </a:xfrm>
          <a:prstGeom prst="ellipse">
            <a:avLst/>
          </a:prstGeom>
          <a:solidFill>
            <a:srgbClr val="2B5187"/>
          </a:solidFill>
          <a:ln/>
        </p:spPr>
        <p:txBody>
          <a:bodyPr/>
          <a:lstStyle/>
          <a:p>
            <a:endParaRPr lang="en-US"/>
          </a:p>
        </p:txBody>
      </p:sp>
      <p:sp>
        <p:nvSpPr>
          <p:cNvPr id="23" name="Text 21"/>
          <p:cNvSpPr/>
          <p:nvPr/>
        </p:nvSpPr>
        <p:spPr>
          <a:xfrm>
            <a:off x="1133856" y="5350000"/>
            <a:ext cx="10150000" cy="820000"/>
          </a:xfrm>
          <a:prstGeom prst="rect">
            <a:avLst/>
          </a:prstGeom>
          <a:noFill/>
          <a:ln/>
        </p:spPr>
        <p:txBody>
          <a:bodyPr wrap="square" lIns="0" tIns="0" rIns="0" bIns="0" rtlCol="0" anchor="t"/>
          <a:lstStyle/>
          <a:p>
            <a:pPr marL="0" indent="0">
              <a:lnSpc>
                <a:spcPct val="103000"/>
              </a:lnSpc>
              <a:buNone/>
            </a:pPr>
            <a:r>
              <a:rPr lang="en-US" sz="2000" b="1" dirty="0">
                <a:solidFill>
                  <a:srgbClr val="15171C"/>
                </a:solidFill>
                <a:latin typeface="Arial" pitchFamily="34" charset="0"/>
                <a:ea typeface="Arial" pitchFamily="34" charset="-122"/>
                <a:cs typeface="Arial" pitchFamily="34" charset="-120"/>
              </a:rPr>
              <a:t>A module milestone </a:t>
            </a:r>
            <a:r>
              <a:rPr lang="en-US" sz="2000" dirty="0">
                <a:solidFill>
                  <a:srgbClr val="33373F"/>
                </a:solidFill>
                <a:latin typeface="Arial" pitchFamily="34" charset="0"/>
                <a:ea typeface="Arial" pitchFamily="34" charset="-122"/>
                <a:cs typeface="Arial" pitchFamily="34" charset="-120"/>
              </a:rPr>
              <a:t>— each assignment doubles as a section of your own training module.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074152" y="384048"/>
            <a:ext cx="3291840" cy="274320"/>
          </a:xfrm>
          <a:prstGeom prst="rect">
            <a:avLst/>
          </a:prstGeom>
          <a:noFill/>
          <a:ln/>
        </p:spPr>
        <p:txBody>
          <a:bodyPr wrap="square" lIns="0" tIns="0" rIns="0" bIns="0" rtlCol="0" anchor="ctr"/>
          <a:lstStyle/>
          <a:p>
            <a:pPr marL="0" indent="0" algn="r">
              <a:buNone/>
            </a:pPr>
            <a:r>
              <a:rPr lang="en-US" sz="1000" b="1" kern="0" spc="120" dirty="0">
                <a:solidFill>
                  <a:srgbClr val="15171C"/>
                </a:solidFill>
                <a:latin typeface="Arial" pitchFamily="34" charset="0"/>
                <a:ea typeface="Arial" pitchFamily="34" charset="-122"/>
                <a:cs typeface="Arial" pitchFamily="34" charset="-120"/>
              </a:rPr>
              <a:t>WEEK 1</a:t>
            </a:r>
            <a:r>
              <a:rPr lang="en-US" sz="1000" kern="0" spc="120" dirty="0">
                <a:solidFill>
                  <a:srgbClr val="6B7280"/>
                </a:solidFill>
                <a:latin typeface="Arial" pitchFamily="34" charset="0"/>
                <a:ea typeface="Arial" pitchFamily="34" charset="-122"/>
                <a:cs typeface="Arial" pitchFamily="34" charset="-120"/>
              </a:rPr>
              <a:t>  ·  BUILDING BLOCK </a:t>
            </a:r>
            <a:r>
              <a:rPr lang="en-US" sz="1000" b="1" kern="0" spc="120" dirty="0">
                <a:solidFill>
                  <a:srgbClr val="2B5187"/>
                </a:solidFill>
                <a:latin typeface="Arial" pitchFamily="34" charset="0"/>
                <a:ea typeface="Arial" pitchFamily="34" charset="-122"/>
                <a:cs typeface="Arial" pitchFamily="34" charset="-120"/>
              </a:rPr>
              <a:t>1</a:t>
            </a:r>
            <a:r>
              <a:rPr lang="en-US" sz="1000" kern="0" spc="120" dirty="0">
                <a:solidFill>
                  <a:srgbClr val="6B7280"/>
                </a:solidFill>
                <a:latin typeface="Arial" pitchFamily="34" charset="0"/>
                <a:ea typeface="Arial" pitchFamily="34" charset="-122"/>
                <a:cs typeface="Arial" pitchFamily="34" charset="-120"/>
              </a:rPr>
              <a:t> / 10</a:t>
            </a:r>
            <a:endParaRPr lang="en-US" sz="1000" dirty="0"/>
          </a:p>
        </p:txBody>
      </p:sp>
      <p:sp>
        <p:nvSpPr>
          <p:cNvPr id="3" name="Text 1"/>
          <p:cNvSpPr/>
          <p:nvPr/>
        </p:nvSpPr>
        <p:spPr>
          <a:xfrm>
            <a:off x="822960" y="640080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Arial" pitchFamily="34" charset="0"/>
                <a:ea typeface="Arial" pitchFamily="34" charset="-122"/>
                <a:cs typeface="Arial" pitchFamily="34" charset="-120"/>
              </a:rPr>
              <a:t>ESCALATE Training Program · Summer 2026</a:t>
            </a:r>
            <a:endParaRPr lang="en-US" sz="900" dirty="0"/>
          </a:p>
        </p:txBody>
      </p:sp>
      <p:sp>
        <p:nvSpPr>
          <p:cNvPr id="5" name="Text 3"/>
          <p:cNvSpPr/>
          <p:nvPr/>
        </p:nvSpPr>
        <p:spPr>
          <a:xfrm>
            <a:off x="822960" y="548640"/>
            <a:ext cx="5486400" cy="274320"/>
          </a:xfrm>
          <a:prstGeom prst="rect">
            <a:avLst/>
          </a:prstGeom>
          <a:noFill/>
          <a:ln/>
        </p:spPr>
        <p:txBody>
          <a:bodyPr wrap="square" lIns="0" tIns="0" rIns="0" bIns="0" rtlCol="0" anchor="t"/>
          <a:lstStyle/>
          <a:p>
            <a:pPr marL="0" indent="0">
              <a:buNone/>
            </a:pPr>
            <a:r>
              <a:rPr lang="en-US" sz="1100" b="1" kern="0" spc="220" dirty="0">
                <a:solidFill>
                  <a:srgbClr val="2B5187"/>
                </a:solidFill>
                <a:latin typeface="Arial" pitchFamily="34" charset="0"/>
                <a:ea typeface="Arial" pitchFamily="34" charset="-122"/>
                <a:cs typeface="Arial" pitchFamily="34" charset="-120"/>
              </a:rPr>
              <a:t>WHERE THIS LEADS</a:t>
            </a:r>
            <a:endParaRPr lang="en-US" sz="1100" dirty="0"/>
          </a:p>
        </p:txBody>
      </p:sp>
      <p:sp>
        <p:nvSpPr>
          <p:cNvPr id="6" name="Text 4"/>
          <p:cNvSpPr/>
          <p:nvPr/>
        </p:nvSpPr>
        <p:spPr>
          <a:xfrm>
            <a:off x="822960" y="868680"/>
            <a:ext cx="10607040" cy="1188720"/>
          </a:xfrm>
          <a:prstGeom prst="rect">
            <a:avLst/>
          </a:prstGeom>
          <a:noFill/>
          <a:ln/>
        </p:spPr>
        <p:txBody>
          <a:bodyPr wrap="square" lIns="0" tIns="0" rIns="0" bIns="0" rtlCol="0" anchor="t"/>
          <a:lstStyle/>
          <a:p>
            <a:pPr marL="0" indent="0">
              <a:lnSpc>
                <a:spcPct val="98000"/>
              </a:lnSpc>
              <a:buNone/>
            </a:pPr>
            <a:r>
              <a:rPr lang="en-US" sz="2900" b="1" dirty="0">
                <a:solidFill>
                  <a:srgbClr val="15171C"/>
                </a:solidFill>
                <a:latin typeface="Arial" pitchFamily="34" charset="0"/>
                <a:ea typeface="Arial" pitchFamily="34" charset="-122"/>
                <a:cs typeface="Arial" pitchFamily="34" charset="-120"/>
              </a:rPr>
              <a:t>The question everything builds toward</a:t>
            </a:r>
            <a:endParaRPr lang="en-US" sz="2900" dirty="0"/>
          </a:p>
        </p:txBody>
      </p:sp>
      <p:sp>
        <p:nvSpPr>
          <p:cNvPr id="7" name="Shape 5"/>
          <p:cNvSpPr/>
          <p:nvPr/>
        </p:nvSpPr>
        <p:spPr>
          <a:xfrm>
            <a:off x="822960" y="2194560"/>
            <a:ext cx="10543032" cy="2331720"/>
          </a:xfrm>
          <a:prstGeom prst="roundRect">
            <a:avLst>
              <a:gd name="adj" fmla="val 2745"/>
            </a:avLst>
          </a:prstGeom>
          <a:solidFill>
            <a:srgbClr val="F7F8FA"/>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8" name="Text 6"/>
          <p:cNvSpPr/>
          <p:nvPr/>
        </p:nvSpPr>
        <p:spPr>
          <a:xfrm>
            <a:off x="1371600" y="2514600"/>
            <a:ext cx="9445752" cy="1691640"/>
          </a:xfrm>
          <a:prstGeom prst="rect">
            <a:avLst/>
          </a:prstGeom>
          <a:noFill/>
          <a:ln/>
        </p:spPr>
        <p:txBody>
          <a:bodyPr wrap="square" lIns="0" tIns="0" rIns="0" bIns="0" rtlCol="0" anchor="ctr"/>
          <a:lstStyle/>
          <a:p>
            <a:pPr marL="0" indent="0">
              <a:lnSpc>
                <a:spcPct val="115000"/>
              </a:lnSpc>
              <a:buNone/>
            </a:pPr>
            <a:r>
              <a:rPr lang="en-US" sz="2400" dirty="0">
                <a:solidFill>
                  <a:srgbClr val="15171C"/>
                </a:solidFill>
                <a:latin typeface="Arial" pitchFamily="34" charset="0"/>
                <a:ea typeface="Arial" pitchFamily="34" charset="-122"/>
                <a:cs typeface="Arial" pitchFamily="34" charset="-120"/>
              </a:rPr>
              <a:t>Can we find evidence of </a:t>
            </a:r>
            <a:r>
              <a:rPr lang="en-US" sz="2400" b="1" dirty="0">
                <a:solidFill>
                  <a:srgbClr val="DB5B40"/>
                </a:solidFill>
                <a:latin typeface="Arial" pitchFamily="34" charset="0"/>
                <a:ea typeface="Arial" pitchFamily="34" charset="-122"/>
                <a:cs typeface="Arial" pitchFamily="34" charset="-120"/>
              </a:rPr>
              <a:t>degradation</a:t>
            </a:r>
            <a:r>
              <a:rPr lang="en-US" sz="2400" dirty="0">
                <a:solidFill>
                  <a:srgbClr val="15171C"/>
                </a:solidFill>
                <a:latin typeface="Arial" pitchFamily="34" charset="0"/>
                <a:ea typeface="Arial" pitchFamily="34" charset="-122"/>
                <a:cs typeface="Arial" pitchFamily="34" charset="-120"/>
              </a:rPr>
              <a:t> in connectivity, routing changes, or traffic drops in a given country — and tell whether it traces to a </a:t>
            </a:r>
            <a:r>
              <a:rPr lang="en-US" sz="2400" b="1" dirty="0">
                <a:solidFill>
                  <a:srgbClr val="15171C"/>
                </a:solidFill>
                <a:latin typeface="Arial" pitchFamily="34" charset="0"/>
                <a:ea typeface="Arial" pitchFamily="34" charset="-122"/>
                <a:cs typeface="Arial" pitchFamily="34" charset="-120"/>
              </a:rPr>
              <a:t>subsea cable fault, a cyber incident, a geopolitical event,</a:t>
            </a:r>
            <a:r>
              <a:rPr lang="en-US" sz="2400" dirty="0">
                <a:solidFill>
                  <a:srgbClr val="15171C"/>
                </a:solidFill>
                <a:latin typeface="Arial" pitchFamily="34" charset="0"/>
                <a:ea typeface="Arial" pitchFamily="34" charset="-122"/>
                <a:cs typeface="Arial" pitchFamily="34" charset="-120"/>
              </a:rPr>
              <a:t> or just a </a:t>
            </a:r>
            <a:r>
              <a:rPr lang="en-US" sz="2400" b="1" dirty="0">
                <a:solidFill>
                  <a:srgbClr val="15171C"/>
                </a:solidFill>
                <a:latin typeface="Arial" pitchFamily="34" charset="0"/>
                <a:ea typeface="Arial" pitchFamily="34" charset="-122"/>
                <a:cs typeface="Arial" pitchFamily="34" charset="-120"/>
              </a:rPr>
              <a:t>routine outage</a:t>
            </a:r>
            <a:r>
              <a:rPr lang="en-US" sz="2400" dirty="0">
                <a:solidFill>
                  <a:srgbClr val="15171C"/>
                </a:solidFill>
                <a:latin typeface="Arial" pitchFamily="34" charset="0"/>
                <a:ea typeface="Arial" pitchFamily="34" charset="-122"/>
                <a:cs typeface="Arial" pitchFamily="34" charset="-120"/>
              </a:rPr>
              <a:t>?</a:t>
            </a:r>
            <a:endParaRPr lang="en-US" sz="2400" dirty="0"/>
          </a:p>
        </p:txBody>
      </p:sp>
      <p:sp>
        <p:nvSpPr>
          <p:cNvPr id="9" name="Text 7"/>
          <p:cNvSpPr/>
          <p:nvPr/>
        </p:nvSpPr>
        <p:spPr>
          <a:xfrm>
            <a:off x="822960" y="4800600"/>
            <a:ext cx="10543032" cy="822960"/>
          </a:xfrm>
          <a:prstGeom prst="rect">
            <a:avLst/>
          </a:prstGeom>
          <a:noFill/>
          <a:ln/>
        </p:spPr>
        <p:txBody>
          <a:bodyPr wrap="square" lIns="0" tIns="0" rIns="0" bIns="0" rtlCol="0" anchor="ctr"/>
          <a:lstStyle/>
          <a:p>
            <a:pPr marL="0" indent="0">
              <a:lnSpc>
                <a:spcPct val="112000"/>
              </a:lnSpc>
              <a:buNone/>
            </a:pPr>
            <a:r>
              <a:rPr lang="en-US" sz="2000" dirty="0">
                <a:solidFill>
                  <a:srgbClr val="33373F"/>
                </a:solidFill>
                <a:latin typeface="Arial" pitchFamily="34" charset="0"/>
                <a:ea typeface="Arial" pitchFamily="34" charset="-122"/>
                <a:cs typeface="Arial" pitchFamily="34" charset="-120"/>
              </a:rPr>
              <a:t>Answering this rigorously takes every building block in the program — registries, BGP, AS relationships, traceroute, geolocation, telescope data. Weeks 1–8 build the blocks; weeks 9–10 fuse them into a forensic answer.</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074152" y="384048"/>
            <a:ext cx="3291840" cy="274320"/>
          </a:xfrm>
          <a:prstGeom prst="rect">
            <a:avLst/>
          </a:prstGeom>
          <a:noFill/>
          <a:ln/>
        </p:spPr>
        <p:txBody>
          <a:bodyPr wrap="square" lIns="0" tIns="0" rIns="0" bIns="0" rtlCol="0" anchor="ctr"/>
          <a:lstStyle/>
          <a:p>
            <a:pPr marL="0" indent="0" algn="r">
              <a:buNone/>
            </a:pPr>
            <a:r>
              <a:rPr lang="en-US" sz="1000" b="1" kern="0" spc="120" dirty="0">
                <a:solidFill>
                  <a:srgbClr val="15171C"/>
                </a:solidFill>
                <a:latin typeface="Arial" pitchFamily="34" charset="0"/>
                <a:ea typeface="Arial" pitchFamily="34" charset="-122"/>
                <a:cs typeface="Arial" pitchFamily="34" charset="-120"/>
              </a:rPr>
              <a:t>WEEK 1</a:t>
            </a:r>
            <a:r>
              <a:rPr lang="en-US" sz="1000" kern="0" spc="120" dirty="0">
                <a:solidFill>
                  <a:srgbClr val="6B7280"/>
                </a:solidFill>
                <a:latin typeface="Arial" pitchFamily="34" charset="0"/>
                <a:ea typeface="Arial" pitchFamily="34" charset="-122"/>
                <a:cs typeface="Arial" pitchFamily="34" charset="-120"/>
              </a:rPr>
              <a:t>  ·  BUILDING BLOCK </a:t>
            </a:r>
            <a:r>
              <a:rPr lang="en-US" sz="1000" b="1" kern="0" spc="120" dirty="0">
                <a:solidFill>
                  <a:srgbClr val="2B5187"/>
                </a:solidFill>
                <a:latin typeface="Arial" pitchFamily="34" charset="0"/>
                <a:ea typeface="Arial" pitchFamily="34" charset="-122"/>
                <a:cs typeface="Arial" pitchFamily="34" charset="-120"/>
              </a:rPr>
              <a:t>1</a:t>
            </a:r>
            <a:r>
              <a:rPr lang="en-US" sz="1000" kern="0" spc="120" dirty="0">
                <a:solidFill>
                  <a:srgbClr val="6B7280"/>
                </a:solidFill>
                <a:latin typeface="Arial" pitchFamily="34" charset="0"/>
                <a:ea typeface="Arial" pitchFamily="34" charset="-122"/>
                <a:cs typeface="Arial" pitchFamily="34" charset="-120"/>
              </a:rPr>
              <a:t> / 10</a:t>
            </a:r>
            <a:endParaRPr lang="en-US" sz="1000" dirty="0"/>
          </a:p>
        </p:txBody>
      </p:sp>
      <p:sp>
        <p:nvSpPr>
          <p:cNvPr id="3" name="Text 1"/>
          <p:cNvSpPr/>
          <p:nvPr/>
        </p:nvSpPr>
        <p:spPr>
          <a:xfrm>
            <a:off x="822960" y="640080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Arial" pitchFamily="34" charset="0"/>
                <a:ea typeface="Arial" pitchFamily="34" charset="-122"/>
                <a:cs typeface="Arial" pitchFamily="34" charset="-120"/>
              </a:rPr>
              <a:t>ESCALATE Training Program · Summer 2026</a:t>
            </a:r>
            <a:endParaRPr lang="en-US" sz="900" dirty="0"/>
          </a:p>
        </p:txBody>
      </p:sp>
      <p:sp>
        <p:nvSpPr>
          <p:cNvPr id="5" name="Text 3"/>
          <p:cNvSpPr/>
          <p:nvPr/>
        </p:nvSpPr>
        <p:spPr>
          <a:xfrm>
            <a:off x="822960" y="548640"/>
            <a:ext cx="5486400" cy="274320"/>
          </a:xfrm>
          <a:prstGeom prst="rect">
            <a:avLst/>
          </a:prstGeom>
          <a:noFill/>
          <a:ln/>
        </p:spPr>
        <p:txBody>
          <a:bodyPr wrap="square" lIns="0" tIns="0" rIns="0" bIns="0" rtlCol="0" anchor="t"/>
          <a:lstStyle/>
          <a:p>
            <a:pPr marL="0" indent="0">
              <a:buNone/>
            </a:pPr>
            <a:r>
              <a:rPr lang="en-US" sz="1100" b="1" kern="0" spc="220" dirty="0">
                <a:solidFill>
                  <a:srgbClr val="2B5187"/>
                </a:solidFill>
                <a:latin typeface="Arial" pitchFamily="34" charset="0"/>
                <a:ea typeface="Arial" pitchFamily="34" charset="-122"/>
                <a:cs typeface="Arial" pitchFamily="34" charset="-120"/>
              </a:rPr>
              <a:t>MAKING IT CONCRETE</a:t>
            </a:r>
            <a:endParaRPr lang="en-US" sz="1100" dirty="0"/>
          </a:p>
        </p:txBody>
      </p:sp>
      <p:sp>
        <p:nvSpPr>
          <p:cNvPr id="6" name="Text 4"/>
          <p:cNvSpPr/>
          <p:nvPr/>
        </p:nvSpPr>
        <p:spPr>
          <a:xfrm>
            <a:off x="822960" y="868680"/>
            <a:ext cx="10607040" cy="1188720"/>
          </a:xfrm>
          <a:prstGeom prst="rect">
            <a:avLst/>
          </a:prstGeom>
          <a:noFill/>
          <a:ln/>
        </p:spPr>
        <p:txBody>
          <a:bodyPr wrap="square" lIns="0" tIns="0" rIns="0" bIns="0" rtlCol="0" anchor="t"/>
          <a:lstStyle/>
          <a:p>
            <a:pPr marL="0" indent="0">
              <a:lnSpc>
                <a:spcPct val="98000"/>
              </a:lnSpc>
              <a:buNone/>
            </a:pPr>
            <a:r>
              <a:rPr lang="en-US" sz="2900" b="1" dirty="0">
                <a:solidFill>
                  <a:srgbClr val="15171C"/>
                </a:solidFill>
                <a:latin typeface="Arial" pitchFamily="34" charset="0"/>
                <a:ea typeface="Arial" pitchFamily="34" charset="-122"/>
                <a:cs typeface="Arial" pitchFamily="34" charset="-120"/>
              </a:rPr>
              <a:t>What “degradation” means, measurably</a:t>
            </a:r>
            <a:endParaRPr lang="en-US" sz="2900" dirty="0"/>
          </a:p>
        </p:txBody>
      </p:sp>
      <p:sp>
        <p:nvSpPr>
          <p:cNvPr id="7" name="Text 5"/>
          <p:cNvSpPr/>
          <p:nvPr/>
        </p:nvSpPr>
        <p:spPr>
          <a:xfrm>
            <a:off x="822960" y="1740000"/>
            <a:ext cx="10543032" cy="520000"/>
          </a:xfrm>
          <a:prstGeom prst="rect">
            <a:avLst/>
          </a:prstGeom>
          <a:noFill/>
          <a:ln/>
        </p:spPr>
        <p:txBody>
          <a:bodyPr wrap="square" lIns="0" tIns="0" rIns="0" bIns="0" rtlCol="0" anchor="ctr"/>
          <a:lstStyle/>
          <a:p>
            <a:pPr marL="0" indent="0">
              <a:lnSpc>
                <a:spcPct val="110000"/>
              </a:lnSpc>
              <a:buNone/>
            </a:pPr>
            <a:r>
              <a:rPr lang="en-US" sz="2000" dirty="0">
                <a:solidFill>
                  <a:srgbClr val="33373F"/>
                </a:solidFill>
                <a:latin typeface="Arial" pitchFamily="34" charset="0"/>
                <a:ea typeface="Arial" pitchFamily="34" charset="-122"/>
                <a:cs typeface="Arial" pitchFamily="34" charset="-120"/>
              </a:rPr>
              <a:t>“Degradation” has to become signals we can observe. Each kind of evidence lives in a different dataset you'll learn to work with.</a:t>
            </a:r>
            <a:endParaRPr lang="en-US" sz="1450" dirty="0"/>
          </a:p>
        </p:txBody>
      </p:sp>
      <p:sp>
        <p:nvSpPr>
          <p:cNvPr id="8" name="Shape 6"/>
          <p:cNvSpPr/>
          <p:nvPr/>
        </p:nvSpPr>
        <p:spPr>
          <a:xfrm>
            <a:off x="822960" y="2350000"/>
            <a:ext cx="5111496" cy="2650000"/>
          </a:xfrm>
          <a:prstGeom prst="roundRect">
            <a:avLst>
              <a:gd name="adj" fmla="val 4828"/>
            </a:avLst>
          </a:prstGeom>
          <a:solidFill>
            <a:srgbClr val="FFFFFF"/>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9" name="Shape 7"/>
          <p:cNvSpPr/>
          <p:nvPr/>
        </p:nvSpPr>
        <p:spPr>
          <a:xfrm>
            <a:off x="1115568" y="2910000"/>
            <a:ext cx="128016" cy="128016"/>
          </a:xfrm>
          <a:prstGeom prst="ellipse">
            <a:avLst/>
          </a:prstGeom>
          <a:solidFill>
            <a:srgbClr val="2B5187"/>
          </a:solidFill>
          <a:ln/>
        </p:spPr>
        <p:txBody>
          <a:bodyPr/>
          <a:lstStyle/>
          <a:p>
            <a:endParaRPr lang="en-US"/>
          </a:p>
        </p:txBody>
      </p:sp>
      <p:sp>
        <p:nvSpPr>
          <p:cNvPr id="10" name="Text 8"/>
          <p:cNvSpPr/>
          <p:nvPr/>
        </p:nvSpPr>
        <p:spPr>
          <a:xfrm>
            <a:off x="1353312" y="2813988"/>
            <a:ext cx="4288536" cy="320040"/>
          </a:xfrm>
          <a:prstGeom prst="rect">
            <a:avLst/>
          </a:prstGeom>
          <a:noFill/>
          <a:ln/>
        </p:spPr>
        <p:txBody>
          <a:bodyPr wrap="square" lIns="0" tIns="0" rIns="0" bIns="0" rtlCol="0" anchor="ctr"/>
          <a:lstStyle/>
          <a:p>
            <a:pPr marL="0" indent="0">
              <a:buNone/>
            </a:pPr>
            <a:r>
              <a:rPr lang="en-US" sz="2000" b="1" dirty="0">
                <a:solidFill>
                  <a:srgbClr val="15171C"/>
                </a:solidFill>
                <a:latin typeface="Arial" pitchFamily="34" charset="0"/>
                <a:ea typeface="Arial" pitchFamily="34" charset="-122"/>
                <a:cs typeface="Arial" pitchFamily="34" charset="-120"/>
              </a:rPr>
              <a:t>Latency</a:t>
            </a:r>
            <a:endParaRPr lang="en-US" sz="1600" dirty="0"/>
          </a:p>
        </p:txBody>
      </p:sp>
      <p:sp>
        <p:nvSpPr>
          <p:cNvPr id="11" name="Text 9"/>
          <p:cNvSpPr/>
          <p:nvPr/>
        </p:nvSpPr>
        <p:spPr>
          <a:xfrm>
            <a:off x="1115568" y="3150000"/>
            <a:ext cx="4526280" cy="950000"/>
          </a:xfrm>
          <a:prstGeom prst="rect">
            <a:avLst/>
          </a:prstGeom>
          <a:noFill/>
          <a:ln/>
        </p:spPr>
        <p:txBody>
          <a:bodyPr wrap="square" lIns="0" tIns="0" rIns="0" bIns="0" rtlCol="0" anchor="ctr"/>
          <a:lstStyle/>
          <a:p>
            <a:pPr marL="0" indent="0">
              <a:lnSpc>
                <a:spcPct val="104000"/>
              </a:lnSpc>
              <a:buNone/>
            </a:pPr>
            <a:r>
              <a:rPr lang="en-US" sz="2000" dirty="0">
                <a:solidFill>
                  <a:srgbClr val="33373F"/>
                </a:solidFill>
                <a:latin typeface="Arial" pitchFamily="34" charset="0"/>
                <a:ea typeface="Arial" pitchFamily="34" charset="-122"/>
                <a:cs typeface="Arial" pitchFamily="34" charset="-120"/>
              </a:rPr>
              <a:t>Delay shifts on paths into a region</a:t>
            </a:r>
            <a:endParaRPr lang="en-US" sz="1250" dirty="0"/>
          </a:p>
        </p:txBody>
      </p:sp>
      <p:sp>
        <p:nvSpPr>
          <p:cNvPr id="12" name="Text 10"/>
          <p:cNvSpPr/>
          <p:nvPr/>
        </p:nvSpPr>
        <p:spPr>
          <a:xfrm>
            <a:off x="1115568" y="4400000"/>
            <a:ext cx="4526280" cy="274320"/>
          </a:xfrm>
          <a:prstGeom prst="rect">
            <a:avLst/>
          </a:prstGeom>
          <a:noFill/>
          <a:ln/>
        </p:spPr>
        <p:txBody>
          <a:bodyPr wrap="square" lIns="0" tIns="0" rIns="0" bIns="0" rtlCol="0" anchor="ctr"/>
          <a:lstStyle/>
          <a:p>
            <a:pPr marL="0" indent="0">
              <a:buNone/>
            </a:pPr>
            <a:r>
              <a:rPr lang="en-US" sz="1400" dirty="0">
                <a:solidFill>
                  <a:srgbClr val="2B5187"/>
                </a:solidFill>
                <a:latin typeface="Consolas" pitchFamily="34" charset="0"/>
                <a:ea typeface="Consolas" pitchFamily="34" charset="-122"/>
                <a:cs typeface="Consolas" pitchFamily="34" charset="-120"/>
              </a:rPr>
              <a:t>traceroute · RIPE Atlas · Ark</a:t>
            </a:r>
            <a:endParaRPr lang="en-US" sz="1100" dirty="0"/>
          </a:p>
        </p:txBody>
      </p:sp>
      <p:sp>
        <p:nvSpPr>
          <p:cNvPr id="13" name="Shape 11"/>
          <p:cNvSpPr/>
          <p:nvPr/>
        </p:nvSpPr>
        <p:spPr>
          <a:xfrm>
            <a:off x="6254496" y="2350000"/>
            <a:ext cx="5111496" cy="2650000"/>
          </a:xfrm>
          <a:prstGeom prst="roundRect">
            <a:avLst>
              <a:gd name="adj" fmla="val 4828"/>
            </a:avLst>
          </a:prstGeom>
          <a:solidFill>
            <a:srgbClr val="FFFFFF"/>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14" name="Shape 12"/>
          <p:cNvSpPr/>
          <p:nvPr/>
        </p:nvSpPr>
        <p:spPr>
          <a:xfrm>
            <a:off x="6547104" y="2910000"/>
            <a:ext cx="128016" cy="128016"/>
          </a:xfrm>
          <a:prstGeom prst="ellipse">
            <a:avLst/>
          </a:prstGeom>
          <a:solidFill>
            <a:srgbClr val="2B5187"/>
          </a:solidFill>
          <a:ln/>
        </p:spPr>
        <p:txBody>
          <a:bodyPr/>
          <a:lstStyle/>
          <a:p>
            <a:endParaRPr lang="en-US"/>
          </a:p>
        </p:txBody>
      </p:sp>
      <p:sp>
        <p:nvSpPr>
          <p:cNvPr id="15" name="Text 13"/>
          <p:cNvSpPr/>
          <p:nvPr/>
        </p:nvSpPr>
        <p:spPr>
          <a:xfrm>
            <a:off x="6784848" y="2811280"/>
            <a:ext cx="4288536" cy="320040"/>
          </a:xfrm>
          <a:prstGeom prst="rect">
            <a:avLst/>
          </a:prstGeom>
          <a:noFill/>
          <a:ln/>
        </p:spPr>
        <p:txBody>
          <a:bodyPr wrap="square" lIns="0" tIns="0" rIns="0" bIns="0" rtlCol="0" anchor="ctr"/>
          <a:lstStyle/>
          <a:p>
            <a:pPr marL="0" indent="0">
              <a:buNone/>
            </a:pPr>
            <a:r>
              <a:rPr lang="en-US" sz="2000" b="1" dirty="0">
                <a:solidFill>
                  <a:srgbClr val="15171C"/>
                </a:solidFill>
                <a:latin typeface="Arial" pitchFamily="34" charset="0"/>
                <a:ea typeface="Arial" pitchFamily="34" charset="-122"/>
                <a:cs typeface="Arial" pitchFamily="34" charset="-120"/>
              </a:rPr>
              <a:t>Path diversity</a:t>
            </a:r>
            <a:endParaRPr lang="en-US" sz="1600" dirty="0"/>
          </a:p>
        </p:txBody>
      </p:sp>
      <p:sp>
        <p:nvSpPr>
          <p:cNvPr id="16" name="Text 14"/>
          <p:cNvSpPr/>
          <p:nvPr/>
        </p:nvSpPr>
        <p:spPr>
          <a:xfrm>
            <a:off x="6547104" y="3150000"/>
            <a:ext cx="4526280" cy="950000"/>
          </a:xfrm>
          <a:prstGeom prst="rect">
            <a:avLst/>
          </a:prstGeom>
          <a:noFill/>
          <a:ln/>
        </p:spPr>
        <p:txBody>
          <a:bodyPr wrap="square" lIns="0" tIns="0" rIns="0" bIns="0" rtlCol="0" anchor="ctr"/>
          <a:lstStyle/>
          <a:p>
            <a:pPr marL="0" indent="0">
              <a:lnSpc>
                <a:spcPct val="104000"/>
              </a:lnSpc>
              <a:buNone/>
            </a:pPr>
            <a:r>
              <a:rPr lang="en-US" sz="2000" dirty="0">
                <a:solidFill>
                  <a:srgbClr val="33373F"/>
                </a:solidFill>
                <a:latin typeface="Arial" pitchFamily="34" charset="0"/>
                <a:ea typeface="Arial" pitchFamily="34" charset="-122"/>
                <a:cs typeface="Arial" pitchFamily="34" charset="-120"/>
              </a:rPr>
              <a:t>Fewer / changed routes to a country's prefixes</a:t>
            </a:r>
            <a:endParaRPr lang="en-US" sz="1250" dirty="0"/>
          </a:p>
        </p:txBody>
      </p:sp>
      <p:sp>
        <p:nvSpPr>
          <p:cNvPr id="17" name="Text 15"/>
          <p:cNvSpPr/>
          <p:nvPr/>
        </p:nvSpPr>
        <p:spPr>
          <a:xfrm>
            <a:off x="6547104" y="4400000"/>
            <a:ext cx="4526280" cy="274320"/>
          </a:xfrm>
          <a:prstGeom prst="rect">
            <a:avLst/>
          </a:prstGeom>
          <a:noFill/>
          <a:ln/>
        </p:spPr>
        <p:txBody>
          <a:bodyPr wrap="square" lIns="0" tIns="0" rIns="0" bIns="0" rtlCol="0" anchor="ctr"/>
          <a:lstStyle/>
          <a:p>
            <a:pPr marL="0" indent="0">
              <a:buNone/>
            </a:pPr>
            <a:r>
              <a:rPr lang="en-US" sz="1400" dirty="0">
                <a:solidFill>
                  <a:srgbClr val="2B5187"/>
                </a:solidFill>
                <a:latin typeface="Consolas" pitchFamily="34" charset="0"/>
                <a:ea typeface="Consolas" pitchFamily="34" charset="-122"/>
                <a:cs typeface="Consolas" pitchFamily="34" charset="-120"/>
              </a:rPr>
              <a:t>BGP — RouteViews, RIS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074152" y="384048"/>
            <a:ext cx="3291840" cy="274320"/>
          </a:xfrm>
          <a:prstGeom prst="rect">
            <a:avLst/>
          </a:prstGeom>
          <a:noFill/>
          <a:ln/>
        </p:spPr>
        <p:txBody>
          <a:bodyPr wrap="square" lIns="0" tIns="0" rIns="0" bIns="0" rtlCol="0" anchor="ctr"/>
          <a:lstStyle/>
          <a:p>
            <a:pPr marL="0" indent="0" algn="r">
              <a:buNone/>
            </a:pPr>
            <a:r>
              <a:rPr lang="en-US" sz="1000" b="1" kern="0" spc="120" dirty="0">
                <a:solidFill>
                  <a:srgbClr val="15171C"/>
                </a:solidFill>
                <a:latin typeface="Arial" pitchFamily="34" charset="0"/>
                <a:ea typeface="Arial" pitchFamily="34" charset="-122"/>
                <a:cs typeface="Arial" pitchFamily="34" charset="-120"/>
              </a:rPr>
              <a:t>WEEK 1</a:t>
            </a:r>
            <a:r>
              <a:rPr lang="en-US" sz="1000" kern="0" spc="120" dirty="0">
                <a:solidFill>
                  <a:srgbClr val="6B7280"/>
                </a:solidFill>
                <a:latin typeface="Arial" pitchFamily="34" charset="0"/>
                <a:ea typeface="Arial" pitchFamily="34" charset="-122"/>
                <a:cs typeface="Arial" pitchFamily="34" charset="-120"/>
              </a:rPr>
              <a:t>  ·  BUILDING BLOCK </a:t>
            </a:r>
            <a:r>
              <a:rPr lang="en-US" sz="1000" b="1" kern="0" spc="120" dirty="0">
                <a:solidFill>
                  <a:srgbClr val="2B5187"/>
                </a:solidFill>
                <a:latin typeface="Arial" pitchFamily="34" charset="0"/>
                <a:ea typeface="Arial" pitchFamily="34" charset="-122"/>
                <a:cs typeface="Arial" pitchFamily="34" charset="-120"/>
              </a:rPr>
              <a:t>1</a:t>
            </a:r>
            <a:r>
              <a:rPr lang="en-US" sz="1000" kern="0" spc="120" dirty="0">
                <a:solidFill>
                  <a:srgbClr val="6B7280"/>
                </a:solidFill>
                <a:latin typeface="Arial" pitchFamily="34" charset="0"/>
                <a:ea typeface="Arial" pitchFamily="34" charset="-122"/>
                <a:cs typeface="Arial" pitchFamily="34" charset="-120"/>
              </a:rPr>
              <a:t> / 10</a:t>
            </a:r>
            <a:endParaRPr lang="en-US" sz="1000" dirty="0"/>
          </a:p>
        </p:txBody>
      </p:sp>
      <p:sp>
        <p:nvSpPr>
          <p:cNvPr id="3" name="Text 1"/>
          <p:cNvSpPr/>
          <p:nvPr/>
        </p:nvSpPr>
        <p:spPr>
          <a:xfrm>
            <a:off x="822960" y="640080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Arial" pitchFamily="34" charset="0"/>
                <a:ea typeface="Arial" pitchFamily="34" charset="-122"/>
                <a:cs typeface="Arial" pitchFamily="34" charset="-120"/>
              </a:rPr>
              <a:t>ESCALATE Training Program · Summer 2026</a:t>
            </a:r>
            <a:endParaRPr lang="en-US" sz="900" dirty="0"/>
          </a:p>
        </p:txBody>
      </p:sp>
      <p:sp>
        <p:nvSpPr>
          <p:cNvPr id="5" name="Text 3"/>
          <p:cNvSpPr/>
          <p:nvPr/>
        </p:nvSpPr>
        <p:spPr>
          <a:xfrm>
            <a:off x="822960" y="548640"/>
            <a:ext cx="5486400" cy="274320"/>
          </a:xfrm>
          <a:prstGeom prst="rect">
            <a:avLst/>
          </a:prstGeom>
          <a:noFill/>
          <a:ln/>
        </p:spPr>
        <p:txBody>
          <a:bodyPr wrap="square" lIns="0" tIns="0" rIns="0" bIns="0" rtlCol="0" anchor="t"/>
          <a:lstStyle/>
          <a:p>
            <a:pPr marL="0" indent="0">
              <a:buNone/>
            </a:pPr>
            <a:r>
              <a:rPr lang="en-US" sz="1100" b="1" kern="0" spc="220" dirty="0">
                <a:solidFill>
                  <a:srgbClr val="2B5187"/>
                </a:solidFill>
                <a:latin typeface="Arial" pitchFamily="34" charset="0"/>
                <a:ea typeface="Arial" pitchFamily="34" charset="-122"/>
                <a:cs typeface="Arial" pitchFamily="34" charset="-120"/>
              </a:rPr>
              <a:t>MAKING IT CONCRETE</a:t>
            </a:r>
            <a:endParaRPr lang="en-US" sz="1100" dirty="0"/>
          </a:p>
        </p:txBody>
      </p:sp>
      <p:sp>
        <p:nvSpPr>
          <p:cNvPr id="6" name="Text 4"/>
          <p:cNvSpPr/>
          <p:nvPr/>
        </p:nvSpPr>
        <p:spPr>
          <a:xfrm>
            <a:off x="822960" y="868680"/>
            <a:ext cx="10607040" cy="1188720"/>
          </a:xfrm>
          <a:prstGeom prst="rect">
            <a:avLst/>
          </a:prstGeom>
          <a:noFill/>
          <a:ln/>
        </p:spPr>
        <p:txBody>
          <a:bodyPr wrap="square" lIns="0" tIns="0" rIns="0" bIns="0" rtlCol="0" anchor="t"/>
          <a:lstStyle/>
          <a:p>
            <a:pPr marL="0" indent="0">
              <a:lnSpc>
                <a:spcPct val="98000"/>
              </a:lnSpc>
              <a:buNone/>
            </a:pPr>
            <a:r>
              <a:rPr lang="en-US" sz="2900" b="1" dirty="0">
                <a:solidFill>
                  <a:srgbClr val="15171C"/>
                </a:solidFill>
                <a:latin typeface="Arial" pitchFamily="34" charset="0"/>
                <a:ea typeface="Arial" pitchFamily="34" charset="-122"/>
                <a:cs typeface="Arial" pitchFamily="34" charset="-120"/>
              </a:rPr>
              <a:t>What “degradation” means, measurably (cont.)</a:t>
            </a:r>
            <a:endParaRPr lang="en-US" sz="2900" dirty="0"/>
          </a:p>
        </p:txBody>
      </p:sp>
      <p:sp>
        <p:nvSpPr>
          <p:cNvPr id="18" name="Shape 16"/>
          <p:cNvSpPr/>
          <p:nvPr/>
        </p:nvSpPr>
        <p:spPr>
          <a:xfrm>
            <a:off x="822960" y="2350000"/>
            <a:ext cx="5111496" cy="2650000"/>
          </a:xfrm>
          <a:prstGeom prst="roundRect">
            <a:avLst>
              <a:gd name="adj" fmla="val 4828"/>
            </a:avLst>
          </a:prstGeom>
          <a:solidFill>
            <a:srgbClr val="FFFFFF"/>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19" name="Shape 17"/>
          <p:cNvSpPr/>
          <p:nvPr/>
        </p:nvSpPr>
        <p:spPr>
          <a:xfrm>
            <a:off x="1115568" y="2910000"/>
            <a:ext cx="128016" cy="128016"/>
          </a:xfrm>
          <a:prstGeom prst="ellipse">
            <a:avLst/>
          </a:prstGeom>
          <a:solidFill>
            <a:srgbClr val="2B5187"/>
          </a:solidFill>
          <a:ln/>
        </p:spPr>
        <p:txBody>
          <a:bodyPr/>
          <a:lstStyle/>
          <a:p>
            <a:endParaRPr lang="en-US"/>
          </a:p>
        </p:txBody>
      </p:sp>
      <p:sp>
        <p:nvSpPr>
          <p:cNvPr id="20" name="Text 18"/>
          <p:cNvSpPr/>
          <p:nvPr/>
        </p:nvSpPr>
        <p:spPr>
          <a:xfrm>
            <a:off x="1353312" y="2810199"/>
            <a:ext cx="4288536" cy="320040"/>
          </a:xfrm>
          <a:prstGeom prst="rect">
            <a:avLst/>
          </a:prstGeom>
          <a:noFill/>
          <a:ln/>
        </p:spPr>
        <p:txBody>
          <a:bodyPr wrap="square" lIns="0" tIns="0" rIns="0" bIns="0" rtlCol="0" anchor="ctr"/>
          <a:lstStyle/>
          <a:p>
            <a:pPr marL="0" indent="0">
              <a:buNone/>
            </a:pPr>
            <a:r>
              <a:rPr lang="en-US" sz="2000" b="1" dirty="0">
                <a:solidFill>
                  <a:srgbClr val="15171C"/>
                </a:solidFill>
                <a:latin typeface="Arial" pitchFamily="34" charset="0"/>
                <a:ea typeface="Arial" pitchFamily="34" charset="-122"/>
                <a:cs typeface="Arial" pitchFamily="34" charset="-120"/>
              </a:rPr>
              <a:t>Reachability</a:t>
            </a:r>
            <a:endParaRPr lang="en-US" sz="1600" dirty="0"/>
          </a:p>
        </p:txBody>
      </p:sp>
      <p:sp>
        <p:nvSpPr>
          <p:cNvPr id="21" name="Text 19"/>
          <p:cNvSpPr/>
          <p:nvPr/>
        </p:nvSpPr>
        <p:spPr>
          <a:xfrm>
            <a:off x="1115568" y="3150000"/>
            <a:ext cx="4526280" cy="950000"/>
          </a:xfrm>
          <a:prstGeom prst="rect">
            <a:avLst/>
          </a:prstGeom>
          <a:noFill/>
          <a:ln/>
        </p:spPr>
        <p:txBody>
          <a:bodyPr wrap="square" lIns="0" tIns="0" rIns="0" bIns="0" rtlCol="0" anchor="ctr"/>
          <a:lstStyle/>
          <a:p>
            <a:pPr marL="0" indent="0">
              <a:lnSpc>
                <a:spcPct val="104000"/>
              </a:lnSpc>
              <a:buNone/>
            </a:pPr>
            <a:r>
              <a:rPr lang="en-US" sz="2000" dirty="0">
                <a:solidFill>
                  <a:srgbClr val="33373F"/>
                </a:solidFill>
                <a:latin typeface="Arial" pitchFamily="34" charset="0"/>
                <a:ea typeface="Arial" pitchFamily="34" charset="-122"/>
                <a:cs typeface="Arial" pitchFamily="34" charset="-120"/>
              </a:rPr>
              <a:t>Prefixes withdrawn or origin changed</a:t>
            </a:r>
            <a:endParaRPr lang="en-US" sz="1250" dirty="0"/>
          </a:p>
        </p:txBody>
      </p:sp>
      <p:sp>
        <p:nvSpPr>
          <p:cNvPr id="22" name="Text 20"/>
          <p:cNvSpPr/>
          <p:nvPr/>
        </p:nvSpPr>
        <p:spPr>
          <a:xfrm>
            <a:off x="1115568" y="4400000"/>
            <a:ext cx="4526280" cy="274320"/>
          </a:xfrm>
          <a:prstGeom prst="rect">
            <a:avLst/>
          </a:prstGeom>
          <a:noFill/>
          <a:ln/>
        </p:spPr>
        <p:txBody>
          <a:bodyPr wrap="square" lIns="0" tIns="0" rIns="0" bIns="0" rtlCol="0" anchor="ctr"/>
          <a:lstStyle/>
          <a:p>
            <a:pPr marL="0" indent="0">
              <a:buNone/>
            </a:pPr>
            <a:r>
              <a:rPr lang="en-US" sz="1400" dirty="0">
                <a:solidFill>
                  <a:srgbClr val="2B5187"/>
                </a:solidFill>
                <a:latin typeface="Consolas" pitchFamily="34" charset="0"/>
                <a:ea typeface="Consolas" pitchFamily="34" charset="-122"/>
                <a:cs typeface="Consolas" pitchFamily="34" charset="-120"/>
              </a:rPr>
              <a:t>BGP + registries</a:t>
            </a:r>
            <a:endParaRPr lang="en-US" sz="1100" dirty="0"/>
          </a:p>
        </p:txBody>
      </p:sp>
      <p:sp>
        <p:nvSpPr>
          <p:cNvPr id="23" name="Shape 21"/>
          <p:cNvSpPr/>
          <p:nvPr/>
        </p:nvSpPr>
        <p:spPr>
          <a:xfrm>
            <a:off x="6254496" y="2350000"/>
            <a:ext cx="5111496" cy="2650000"/>
          </a:xfrm>
          <a:prstGeom prst="roundRect">
            <a:avLst>
              <a:gd name="adj" fmla="val 4828"/>
            </a:avLst>
          </a:prstGeom>
          <a:solidFill>
            <a:srgbClr val="FFFFFF"/>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24" name="Shape 22"/>
          <p:cNvSpPr/>
          <p:nvPr/>
        </p:nvSpPr>
        <p:spPr>
          <a:xfrm>
            <a:off x="6547104" y="2910000"/>
            <a:ext cx="128016" cy="128016"/>
          </a:xfrm>
          <a:prstGeom prst="ellipse">
            <a:avLst/>
          </a:prstGeom>
          <a:solidFill>
            <a:srgbClr val="2B5187"/>
          </a:solidFill>
          <a:ln/>
        </p:spPr>
        <p:txBody>
          <a:bodyPr/>
          <a:lstStyle/>
          <a:p>
            <a:endParaRPr lang="en-US"/>
          </a:p>
        </p:txBody>
      </p:sp>
      <p:sp>
        <p:nvSpPr>
          <p:cNvPr id="25" name="Text 23"/>
          <p:cNvSpPr/>
          <p:nvPr/>
        </p:nvSpPr>
        <p:spPr>
          <a:xfrm>
            <a:off x="6803136" y="2810199"/>
            <a:ext cx="4288536" cy="320040"/>
          </a:xfrm>
          <a:prstGeom prst="rect">
            <a:avLst/>
          </a:prstGeom>
          <a:noFill/>
          <a:ln/>
        </p:spPr>
        <p:txBody>
          <a:bodyPr wrap="square" lIns="0" tIns="0" rIns="0" bIns="0" rtlCol="0" anchor="ctr"/>
          <a:lstStyle/>
          <a:p>
            <a:pPr marL="0" indent="0">
              <a:buNone/>
            </a:pPr>
            <a:r>
              <a:rPr lang="en-US" sz="2000" b="1" dirty="0">
                <a:solidFill>
                  <a:srgbClr val="15171C"/>
                </a:solidFill>
                <a:latin typeface="Arial" pitchFamily="34" charset="0"/>
                <a:ea typeface="Arial" pitchFamily="34" charset="-122"/>
                <a:cs typeface="Arial" pitchFamily="34" charset="-120"/>
              </a:rPr>
              <a:t>Traffic volume</a:t>
            </a:r>
            <a:endParaRPr lang="en-US" sz="1600" dirty="0"/>
          </a:p>
        </p:txBody>
      </p:sp>
      <p:sp>
        <p:nvSpPr>
          <p:cNvPr id="26" name="Text 24"/>
          <p:cNvSpPr/>
          <p:nvPr/>
        </p:nvSpPr>
        <p:spPr>
          <a:xfrm>
            <a:off x="6547104" y="3150000"/>
            <a:ext cx="4526280" cy="950000"/>
          </a:xfrm>
          <a:prstGeom prst="rect">
            <a:avLst/>
          </a:prstGeom>
          <a:noFill/>
          <a:ln/>
        </p:spPr>
        <p:txBody>
          <a:bodyPr wrap="square" lIns="0" tIns="0" rIns="0" bIns="0" rtlCol="0" anchor="ctr"/>
          <a:lstStyle/>
          <a:p>
            <a:pPr marL="0" indent="0">
              <a:lnSpc>
                <a:spcPct val="104000"/>
              </a:lnSpc>
              <a:buNone/>
            </a:pPr>
            <a:r>
              <a:rPr lang="en-US" sz="2000" dirty="0">
                <a:solidFill>
                  <a:srgbClr val="33373F"/>
                </a:solidFill>
                <a:latin typeface="Arial" pitchFamily="34" charset="0"/>
                <a:ea typeface="Arial" pitchFamily="34" charset="-122"/>
                <a:cs typeface="Arial" pitchFamily="34" charset="-120"/>
              </a:rPr>
              <a:t>Dips or anomalies in observed traffic</a:t>
            </a:r>
            <a:endParaRPr lang="en-US" sz="1250" dirty="0"/>
          </a:p>
        </p:txBody>
      </p:sp>
      <p:sp>
        <p:nvSpPr>
          <p:cNvPr id="27" name="Text 25"/>
          <p:cNvSpPr/>
          <p:nvPr/>
        </p:nvSpPr>
        <p:spPr>
          <a:xfrm>
            <a:off x="6547104" y="4400000"/>
            <a:ext cx="4526280" cy="274320"/>
          </a:xfrm>
          <a:prstGeom prst="rect">
            <a:avLst/>
          </a:prstGeom>
          <a:noFill/>
          <a:ln/>
        </p:spPr>
        <p:txBody>
          <a:bodyPr wrap="square" lIns="0" tIns="0" rIns="0" bIns="0" rtlCol="0" anchor="ctr"/>
          <a:lstStyle/>
          <a:p>
            <a:pPr marL="0" indent="0">
              <a:buNone/>
            </a:pPr>
            <a:r>
              <a:rPr lang="en-US" sz="1400" dirty="0">
                <a:solidFill>
                  <a:srgbClr val="2B5187"/>
                </a:solidFill>
                <a:latin typeface="Consolas" pitchFamily="34" charset="0"/>
                <a:ea typeface="Consolas" pitchFamily="34" charset="-122"/>
                <a:cs typeface="Consolas" pitchFamily="34" charset="-120"/>
              </a:rPr>
              <a:t>UCSD network telescope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074152" y="384048"/>
            <a:ext cx="3291840" cy="274320"/>
          </a:xfrm>
          <a:prstGeom prst="rect">
            <a:avLst/>
          </a:prstGeom>
          <a:noFill/>
          <a:ln/>
        </p:spPr>
        <p:txBody>
          <a:bodyPr wrap="square" lIns="0" tIns="0" rIns="0" bIns="0" rtlCol="0" anchor="ctr"/>
          <a:lstStyle/>
          <a:p>
            <a:pPr marL="0" indent="0" algn="r">
              <a:buNone/>
            </a:pPr>
            <a:r>
              <a:rPr lang="en-US" sz="1000" b="1" kern="0" spc="120" dirty="0">
                <a:solidFill>
                  <a:srgbClr val="15171C"/>
                </a:solidFill>
                <a:latin typeface="Arial" pitchFamily="34" charset="0"/>
                <a:ea typeface="Arial" pitchFamily="34" charset="-122"/>
                <a:cs typeface="Arial" pitchFamily="34" charset="-120"/>
              </a:rPr>
              <a:t>WEEK 1</a:t>
            </a:r>
            <a:r>
              <a:rPr lang="en-US" sz="1000" kern="0" spc="120" dirty="0">
                <a:solidFill>
                  <a:srgbClr val="6B7280"/>
                </a:solidFill>
                <a:latin typeface="Arial" pitchFamily="34" charset="0"/>
                <a:ea typeface="Arial" pitchFamily="34" charset="-122"/>
                <a:cs typeface="Arial" pitchFamily="34" charset="-120"/>
              </a:rPr>
              <a:t>  ·  BUILDING BLOCK </a:t>
            </a:r>
            <a:r>
              <a:rPr lang="en-US" sz="1000" b="1" kern="0" spc="120" dirty="0">
                <a:solidFill>
                  <a:srgbClr val="2B5187"/>
                </a:solidFill>
                <a:latin typeface="Arial" pitchFamily="34" charset="0"/>
                <a:ea typeface="Arial" pitchFamily="34" charset="-122"/>
                <a:cs typeface="Arial" pitchFamily="34" charset="-120"/>
              </a:rPr>
              <a:t>1</a:t>
            </a:r>
            <a:r>
              <a:rPr lang="en-US" sz="1000" kern="0" spc="120" dirty="0">
                <a:solidFill>
                  <a:srgbClr val="6B7280"/>
                </a:solidFill>
                <a:latin typeface="Arial" pitchFamily="34" charset="0"/>
                <a:ea typeface="Arial" pitchFamily="34" charset="-122"/>
                <a:cs typeface="Arial" pitchFamily="34" charset="-120"/>
              </a:rPr>
              <a:t> / 10</a:t>
            </a:r>
            <a:endParaRPr lang="en-US" sz="1000" dirty="0"/>
          </a:p>
        </p:txBody>
      </p:sp>
      <p:sp>
        <p:nvSpPr>
          <p:cNvPr id="3" name="Text 1"/>
          <p:cNvSpPr/>
          <p:nvPr/>
        </p:nvSpPr>
        <p:spPr>
          <a:xfrm>
            <a:off x="822960" y="640080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Arial" pitchFamily="34" charset="0"/>
                <a:ea typeface="Arial" pitchFamily="34" charset="-122"/>
                <a:cs typeface="Arial" pitchFamily="34" charset="-120"/>
              </a:rPr>
              <a:t>ESCALATE Training Program · Summer 2026</a:t>
            </a:r>
            <a:endParaRPr lang="en-US" sz="900" dirty="0"/>
          </a:p>
        </p:txBody>
      </p:sp>
      <p:sp>
        <p:nvSpPr>
          <p:cNvPr id="5" name="Text 3"/>
          <p:cNvSpPr/>
          <p:nvPr/>
        </p:nvSpPr>
        <p:spPr>
          <a:xfrm>
            <a:off x="822960" y="548640"/>
            <a:ext cx="5486400" cy="274320"/>
          </a:xfrm>
          <a:prstGeom prst="rect">
            <a:avLst/>
          </a:prstGeom>
          <a:noFill/>
          <a:ln/>
        </p:spPr>
        <p:txBody>
          <a:bodyPr wrap="square" lIns="0" tIns="0" rIns="0" bIns="0" rtlCol="0" anchor="t"/>
          <a:lstStyle/>
          <a:p>
            <a:pPr marL="0" indent="0">
              <a:buNone/>
            </a:pPr>
            <a:r>
              <a:rPr lang="en-US" sz="1100" b="1" kern="0" spc="220" dirty="0">
                <a:solidFill>
                  <a:srgbClr val="2B5187"/>
                </a:solidFill>
                <a:latin typeface="Arial" pitchFamily="34" charset="0"/>
                <a:ea typeface="Arial" pitchFamily="34" charset="-122"/>
                <a:cs typeface="Arial" pitchFamily="34" charset="-120"/>
              </a:rPr>
              <a:t>THE ARC</a:t>
            </a:r>
            <a:endParaRPr lang="en-US" sz="1100" dirty="0"/>
          </a:p>
        </p:txBody>
      </p:sp>
      <p:sp>
        <p:nvSpPr>
          <p:cNvPr id="6" name="Text 4"/>
          <p:cNvSpPr/>
          <p:nvPr/>
        </p:nvSpPr>
        <p:spPr>
          <a:xfrm>
            <a:off x="822960" y="868680"/>
            <a:ext cx="10607040" cy="1188720"/>
          </a:xfrm>
          <a:prstGeom prst="rect">
            <a:avLst/>
          </a:prstGeom>
          <a:noFill/>
          <a:ln/>
        </p:spPr>
        <p:txBody>
          <a:bodyPr wrap="square" lIns="0" tIns="0" rIns="0" bIns="0" rtlCol="0" anchor="t"/>
          <a:lstStyle/>
          <a:p>
            <a:pPr marL="0" indent="0">
              <a:lnSpc>
                <a:spcPct val="98000"/>
              </a:lnSpc>
              <a:buNone/>
            </a:pPr>
            <a:r>
              <a:rPr lang="en-US" sz="2900" b="1" dirty="0">
                <a:solidFill>
                  <a:srgbClr val="15171C"/>
                </a:solidFill>
                <a:latin typeface="Arial" pitchFamily="34" charset="0"/>
                <a:ea typeface="Arial" pitchFamily="34" charset="-122"/>
                <a:cs typeface="Arial" pitchFamily="34" charset="-120"/>
              </a:rPr>
              <a:t>Ten building blocks — you start here</a:t>
            </a:r>
            <a:endParaRPr lang="en-US" sz="2900" dirty="0"/>
          </a:p>
        </p:txBody>
      </p:sp>
      <p:sp>
        <p:nvSpPr>
          <p:cNvPr id="7" name="Shape 5"/>
          <p:cNvSpPr/>
          <p:nvPr/>
        </p:nvSpPr>
        <p:spPr>
          <a:xfrm>
            <a:off x="822960" y="2194560"/>
            <a:ext cx="1889150" cy="1508760"/>
          </a:xfrm>
          <a:prstGeom prst="roundRect">
            <a:avLst>
              <a:gd name="adj" fmla="val 4242"/>
            </a:avLst>
          </a:prstGeom>
          <a:solidFill>
            <a:srgbClr val="E9EFF7"/>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8" name="Text 6"/>
          <p:cNvSpPr/>
          <p:nvPr/>
        </p:nvSpPr>
        <p:spPr>
          <a:xfrm>
            <a:off x="1024128" y="2377440"/>
            <a:ext cx="822960" cy="502920"/>
          </a:xfrm>
          <a:prstGeom prst="rect">
            <a:avLst/>
          </a:prstGeom>
          <a:noFill/>
          <a:ln/>
        </p:spPr>
        <p:txBody>
          <a:bodyPr wrap="square" lIns="0" tIns="0" rIns="0" bIns="0" rtlCol="0" anchor="ctr"/>
          <a:lstStyle/>
          <a:p>
            <a:pPr marL="0" indent="0">
              <a:buNone/>
            </a:pPr>
            <a:r>
              <a:rPr lang="en-US" sz="2400" b="1" dirty="0">
                <a:solidFill>
                  <a:srgbClr val="2B5187"/>
                </a:solidFill>
                <a:latin typeface="Arial" pitchFamily="34" charset="0"/>
                <a:ea typeface="Arial" pitchFamily="34" charset="-122"/>
                <a:cs typeface="Arial" pitchFamily="34" charset="-120"/>
              </a:rPr>
              <a:t>1</a:t>
            </a:r>
            <a:endParaRPr lang="en-US" sz="2400" dirty="0"/>
          </a:p>
        </p:txBody>
      </p:sp>
      <p:sp>
        <p:nvSpPr>
          <p:cNvPr id="9" name="Text 7"/>
          <p:cNvSpPr/>
          <p:nvPr/>
        </p:nvSpPr>
        <p:spPr>
          <a:xfrm>
            <a:off x="1024128" y="2907792"/>
            <a:ext cx="1486814" cy="685800"/>
          </a:xfrm>
          <a:prstGeom prst="rect">
            <a:avLst/>
          </a:prstGeom>
          <a:noFill/>
          <a:ln/>
        </p:spPr>
        <p:txBody>
          <a:bodyPr wrap="square" lIns="0" tIns="0" rIns="0" bIns="0" rtlCol="0" anchor="ctr"/>
          <a:lstStyle/>
          <a:p>
            <a:pPr marL="0" indent="0">
              <a:lnSpc>
                <a:spcPct val="105000"/>
              </a:lnSpc>
              <a:buNone/>
            </a:pPr>
            <a:r>
              <a:rPr lang="en-US" sz="1500" b="1" dirty="0">
                <a:solidFill>
                  <a:srgbClr val="15171C"/>
                </a:solidFill>
                <a:latin typeface="Arial" pitchFamily="34" charset="0"/>
                <a:ea typeface="Arial" pitchFamily="34" charset="-122"/>
                <a:cs typeface="Arial" pitchFamily="34" charset="-120"/>
              </a:rPr>
              <a:t>Internet structure &amp; ASNs</a:t>
            </a:r>
            <a:endParaRPr lang="en-US" sz="1200" dirty="0"/>
          </a:p>
        </p:txBody>
      </p:sp>
      <p:sp>
        <p:nvSpPr>
          <p:cNvPr id="10" name="Shape 8"/>
          <p:cNvSpPr/>
          <p:nvPr/>
        </p:nvSpPr>
        <p:spPr>
          <a:xfrm>
            <a:off x="2986430" y="2194560"/>
            <a:ext cx="1889150" cy="1508760"/>
          </a:xfrm>
          <a:prstGeom prst="roundRect">
            <a:avLst>
              <a:gd name="adj" fmla="val 4242"/>
            </a:avLst>
          </a:prstGeom>
          <a:solidFill>
            <a:srgbClr val="FFFFFF"/>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11" name="Text 9"/>
          <p:cNvSpPr/>
          <p:nvPr/>
        </p:nvSpPr>
        <p:spPr>
          <a:xfrm>
            <a:off x="3187598" y="2377440"/>
            <a:ext cx="822960" cy="502920"/>
          </a:xfrm>
          <a:prstGeom prst="rect">
            <a:avLst/>
          </a:prstGeom>
          <a:noFill/>
          <a:ln/>
        </p:spPr>
        <p:txBody>
          <a:bodyPr wrap="square" lIns="0" tIns="0" rIns="0" bIns="0" rtlCol="0" anchor="ctr"/>
          <a:lstStyle/>
          <a:p>
            <a:pPr marL="0" indent="0">
              <a:buNone/>
            </a:pPr>
            <a:r>
              <a:rPr lang="en-US" sz="2400" b="1" dirty="0">
                <a:solidFill>
                  <a:srgbClr val="C2C8D2"/>
                </a:solidFill>
                <a:latin typeface="Arial" pitchFamily="34" charset="0"/>
                <a:ea typeface="Arial" pitchFamily="34" charset="-122"/>
                <a:cs typeface="Arial" pitchFamily="34" charset="-120"/>
              </a:rPr>
              <a:t>2</a:t>
            </a:r>
            <a:endParaRPr lang="en-US" sz="2400" dirty="0"/>
          </a:p>
        </p:txBody>
      </p:sp>
      <p:sp>
        <p:nvSpPr>
          <p:cNvPr id="12" name="Text 10"/>
          <p:cNvSpPr/>
          <p:nvPr/>
        </p:nvSpPr>
        <p:spPr>
          <a:xfrm>
            <a:off x="3187598" y="2907792"/>
            <a:ext cx="1486814" cy="685800"/>
          </a:xfrm>
          <a:prstGeom prst="rect">
            <a:avLst/>
          </a:prstGeom>
          <a:noFill/>
          <a:ln/>
        </p:spPr>
        <p:txBody>
          <a:bodyPr wrap="square" lIns="0" tIns="0" rIns="0" bIns="0" rtlCol="0" anchor="ctr"/>
          <a:lstStyle/>
          <a:p>
            <a:pPr marL="0" indent="0">
              <a:lnSpc>
                <a:spcPct val="105000"/>
              </a:lnSpc>
              <a:buNone/>
            </a:pPr>
            <a:r>
              <a:rPr lang="en-US" sz="1500" dirty="0">
                <a:solidFill>
                  <a:srgbClr val="33373F"/>
                </a:solidFill>
                <a:latin typeface="Arial" pitchFamily="34" charset="0"/>
                <a:ea typeface="Arial" pitchFamily="34" charset="-122"/>
                <a:cs typeface="Arial" pitchFamily="34" charset="-120"/>
              </a:rPr>
              <a:t>BGP at scale</a:t>
            </a:r>
            <a:endParaRPr lang="en-US" sz="1200" dirty="0"/>
          </a:p>
        </p:txBody>
      </p:sp>
      <p:sp>
        <p:nvSpPr>
          <p:cNvPr id="13" name="Shape 11"/>
          <p:cNvSpPr/>
          <p:nvPr/>
        </p:nvSpPr>
        <p:spPr>
          <a:xfrm>
            <a:off x="5149901" y="2194560"/>
            <a:ext cx="1889150" cy="1508760"/>
          </a:xfrm>
          <a:prstGeom prst="roundRect">
            <a:avLst>
              <a:gd name="adj" fmla="val 4242"/>
            </a:avLst>
          </a:prstGeom>
          <a:solidFill>
            <a:srgbClr val="FFFFFF"/>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14" name="Text 12"/>
          <p:cNvSpPr/>
          <p:nvPr/>
        </p:nvSpPr>
        <p:spPr>
          <a:xfrm>
            <a:off x="5351069" y="2377440"/>
            <a:ext cx="822960" cy="502920"/>
          </a:xfrm>
          <a:prstGeom prst="rect">
            <a:avLst/>
          </a:prstGeom>
          <a:noFill/>
          <a:ln/>
        </p:spPr>
        <p:txBody>
          <a:bodyPr wrap="square" lIns="0" tIns="0" rIns="0" bIns="0" rtlCol="0" anchor="ctr"/>
          <a:lstStyle/>
          <a:p>
            <a:pPr marL="0" indent="0">
              <a:buNone/>
            </a:pPr>
            <a:r>
              <a:rPr lang="en-US" sz="2400" b="1" dirty="0">
                <a:solidFill>
                  <a:srgbClr val="C2C8D2"/>
                </a:solidFill>
                <a:latin typeface="Arial" pitchFamily="34" charset="0"/>
                <a:ea typeface="Arial" pitchFamily="34" charset="-122"/>
                <a:cs typeface="Arial" pitchFamily="34" charset="-120"/>
              </a:rPr>
              <a:t>3</a:t>
            </a:r>
            <a:endParaRPr lang="en-US" sz="2400" dirty="0"/>
          </a:p>
        </p:txBody>
      </p:sp>
      <p:sp>
        <p:nvSpPr>
          <p:cNvPr id="15" name="Text 13"/>
          <p:cNvSpPr/>
          <p:nvPr/>
        </p:nvSpPr>
        <p:spPr>
          <a:xfrm>
            <a:off x="5351069" y="2907792"/>
            <a:ext cx="1540578" cy="685800"/>
          </a:xfrm>
          <a:prstGeom prst="rect">
            <a:avLst/>
          </a:prstGeom>
          <a:noFill/>
          <a:ln/>
        </p:spPr>
        <p:txBody>
          <a:bodyPr wrap="square" lIns="0" tIns="0" rIns="0" bIns="0" rtlCol="0" anchor="ctr"/>
          <a:lstStyle/>
          <a:p>
            <a:pPr marL="0" indent="0">
              <a:lnSpc>
                <a:spcPct val="105000"/>
              </a:lnSpc>
              <a:buNone/>
            </a:pPr>
            <a:r>
              <a:rPr lang="en-US" sz="1500" dirty="0">
                <a:solidFill>
                  <a:srgbClr val="33373F"/>
                </a:solidFill>
                <a:latin typeface="Arial" pitchFamily="34" charset="0"/>
                <a:ea typeface="Arial" pitchFamily="34" charset="-122"/>
                <a:cs typeface="Arial" pitchFamily="34" charset="-120"/>
              </a:rPr>
              <a:t>Registries: WHOIS/IRR/RPKI</a:t>
            </a:r>
            <a:endParaRPr lang="en-US" sz="1200" dirty="0"/>
          </a:p>
        </p:txBody>
      </p:sp>
      <p:sp>
        <p:nvSpPr>
          <p:cNvPr id="16" name="Shape 14"/>
          <p:cNvSpPr/>
          <p:nvPr/>
        </p:nvSpPr>
        <p:spPr>
          <a:xfrm>
            <a:off x="7313371" y="2194560"/>
            <a:ext cx="1889150" cy="1508760"/>
          </a:xfrm>
          <a:prstGeom prst="roundRect">
            <a:avLst>
              <a:gd name="adj" fmla="val 4242"/>
            </a:avLst>
          </a:prstGeom>
          <a:solidFill>
            <a:srgbClr val="FFFFFF"/>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17" name="Text 15"/>
          <p:cNvSpPr/>
          <p:nvPr/>
        </p:nvSpPr>
        <p:spPr>
          <a:xfrm>
            <a:off x="7514539" y="2377440"/>
            <a:ext cx="822960" cy="502920"/>
          </a:xfrm>
          <a:prstGeom prst="rect">
            <a:avLst/>
          </a:prstGeom>
          <a:noFill/>
          <a:ln/>
        </p:spPr>
        <p:txBody>
          <a:bodyPr wrap="square" lIns="0" tIns="0" rIns="0" bIns="0" rtlCol="0" anchor="ctr"/>
          <a:lstStyle/>
          <a:p>
            <a:pPr marL="0" indent="0">
              <a:buNone/>
            </a:pPr>
            <a:r>
              <a:rPr lang="en-US" sz="2400" b="1" dirty="0">
                <a:solidFill>
                  <a:srgbClr val="C2C8D2"/>
                </a:solidFill>
                <a:latin typeface="Arial" pitchFamily="34" charset="0"/>
                <a:ea typeface="Arial" pitchFamily="34" charset="-122"/>
                <a:cs typeface="Arial" pitchFamily="34" charset="-120"/>
              </a:rPr>
              <a:t>4</a:t>
            </a:r>
            <a:endParaRPr lang="en-US" sz="2400" dirty="0"/>
          </a:p>
        </p:txBody>
      </p:sp>
      <p:sp>
        <p:nvSpPr>
          <p:cNvPr id="18" name="Text 16"/>
          <p:cNvSpPr/>
          <p:nvPr/>
        </p:nvSpPr>
        <p:spPr>
          <a:xfrm>
            <a:off x="7514539" y="2907792"/>
            <a:ext cx="1486814" cy="685800"/>
          </a:xfrm>
          <a:prstGeom prst="rect">
            <a:avLst/>
          </a:prstGeom>
          <a:noFill/>
          <a:ln/>
        </p:spPr>
        <p:txBody>
          <a:bodyPr wrap="square" lIns="0" tIns="0" rIns="0" bIns="0" rtlCol="0" anchor="ctr"/>
          <a:lstStyle/>
          <a:p>
            <a:pPr marL="0" indent="0">
              <a:lnSpc>
                <a:spcPct val="105000"/>
              </a:lnSpc>
              <a:buNone/>
            </a:pPr>
            <a:r>
              <a:rPr lang="en-US" sz="1500" dirty="0">
                <a:solidFill>
                  <a:srgbClr val="33373F"/>
                </a:solidFill>
                <a:latin typeface="Arial" pitchFamily="34" charset="0"/>
                <a:ea typeface="Arial" pitchFamily="34" charset="-122"/>
                <a:cs typeface="Arial" pitchFamily="34" charset="-120"/>
              </a:rPr>
              <a:t>AS relationships &amp; cones</a:t>
            </a:r>
            <a:endParaRPr lang="en-US" sz="1200" dirty="0"/>
          </a:p>
        </p:txBody>
      </p:sp>
      <p:sp>
        <p:nvSpPr>
          <p:cNvPr id="19" name="Shape 17"/>
          <p:cNvSpPr/>
          <p:nvPr/>
        </p:nvSpPr>
        <p:spPr>
          <a:xfrm>
            <a:off x="9476842" y="2194560"/>
            <a:ext cx="1889150" cy="1508760"/>
          </a:xfrm>
          <a:prstGeom prst="roundRect">
            <a:avLst>
              <a:gd name="adj" fmla="val 4242"/>
            </a:avLst>
          </a:prstGeom>
          <a:solidFill>
            <a:srgbClr val="FFFFFF"/>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20" name="Text 18"/>
          <p:cNvSpPr/>
          <p:nvPr/>
        </p:nvSpPr>
        <p:spPr>
          <a:xfrm>
            <a:off x="9678010" y="2377440"/>
            <a:ext cx="822960" cy="502920"/>
          </a:xfrm>
          <a:prstGeom prst="rect">
            <a:avLst/>
          </a:prstGeom>
          <a:noFill/>
          <a:ln/>
        </p:spPr>
        <p:txBody>
          <a:bodyPr wrap="square" lIns="0" tIns="0" rIns="0" bIns="0" rtlCol="0" anchor="ctr"/>
          <a:lstStyle/>
          <a:p>
            <a:pPr marL="0" indent="0">
              <a:buNone/>
            </a:pPr>
            <a:r>
              <a:rPr lang="en-US" sz="2400" b="1" dirty="0">
                <a:solidFill>
                  <a:srgbClr val="C2C8D2"/>
                </a:solidFill>
                <a:latin typeface="Arial" pitchFamily="34" charset="0"/>
                <a:ea typeface="Arial" pitchFamily="34" charset="-122"/>
                <a:cs typeface="Arial" pitchFamily="34" charset="-120"/>
              </a:rPr>
              <a:t>5</a:t>
            </a:r>
            <a:endParaRPr lang="en-US" sz="2400" dirty="0"/>
          </a:p>
        </p:txBody>
      </p:sp>
      <p:sp>
        <p:nvSpPr>
          <p:cNvPr id="21" name="Text 19"/>
          <p:cNvSpPr/>
          <p:nvPr/>
        </p:nvSpPr>
        <p:spPr>
          <a:xfrm>
            <a:off x="9678010" y="2907792"/>
            <a:ext cx="1486814" cy="685800"/>
          </a:xfrm>
          <a:prstGeom prst="rect">
            <a:avLst/>
          </a:prstGeom>
          <a:noFill/>
          <a:ln/>
        </p:spPr>
        <p:txBody>
          <a:bodyPr wrap="square" lIns="0" tIns="0" rIns="0" bIns="0" rtlCol="0" anchor="ctr"/>
          <a:lstStyle/>
          <a:p>
            <a:pPr marL="0" indent="0">
              <a:lnSpc>
                <a:spcPct val="105000"/>
              </a:lnSpc>
              <a:buNone/>
            </a:pPr>
            <a:r>
              <a:rPr lang="en-US" sz="1500" dirty="0">
                <a:solidFill>
                  <a:srgbClr val="33373F"/>
                </a:solidFill>
                <a:latin typeface="Arial" pitchFamily="34" charset="0"/>
                <a:ea typeface="Arial" pitchFamily="34" charset="-122"/>
                <a:cs typeface="Arial" pitchFamily="34" charset="-120"/>
              </a:rPr>
              <a:t>Traceroute, topology, cables</a:t>
            </a:r>
            <a:endParaRPr lang="en-US" sz="1200" dirty="0"/>
          </a:p>
        </p:txBody>
      </p:sp>
      <p:sp>
        <p:nvSpPr>
          <p:cNvPr id="22" name="Shape 20"/>
          <p:cNvSpPr/>
          <p:nvPr/>
        </p:nvSpPr>
        <p:spPr>
          <a:xfrm>
            <a:off x="822960" y="4069080"/>
            <a:ext cx="1889150" cy="1508760"/>
          </a:xfrm>
          <a:prstGeom prst="roundRect">
            <a:avLst>
              <a:gd name="adj" fmla="val 4242"/>
            </a:avLst>
          </a:prstGeom>
          <a:solidFill>
            <a:srgbClr val="FFFFFF"/>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23" name="Text 21"/>
          <p:cNvSpPr/>
          <p:nvPr/>
        </p:nvSpPr>
        <p:spPr>
          <a:xfrm>
            <a:off x="1024128" y="4251960"/>
            <a:ext cx="822960" cy="502920"/>
          </a:xfrm>
          <a:prstGeom prst="rect">
            <a:avLst/>
          </a:prstGeom>
          <a:noFill/>
          <a:ln/>
        </p:spPr>
        <p:txBody>
          <a:bodyPr wrap="square" lIns="0" tIns="0" rIns="0" bIns="0" rtlCol="0" anchor="ctr"/>
          <a:lstStyle/>
          <a:p>
            <a:pPr marL="0" indent="0">
              <a:buNone/>
            </a:pPr>
            <a:r>
              <a:rPr lang="en-US" sz="2400" b="1" dirty="0">
                <a:solidFill>
                  <a:srgbClr val="C2C8D2"/>
                </a:solidFill>
                <a:latin typeface="Arial" pitchFamily="34" charset="0"/>
                <a:ea typeface="Arial" pitchFamily="34" charset="-122"/>
                <a:cs typeface="Arial" pitchFamily="34" charset="-120"/>
              </a:rPr>
              <a:t>6</a:t>
            </a:r>
            <a:endParaRPr lang="en-US" sz="2400" dirty="0"/>
          </a:p>
        </p:txBody>
      </p:sp>
      <p:sp>
        <p:nvSpPr>
          <p:cNvPr id="24" name="Text 22"/>
          <p:cNvSpPr/>
          <p:nvPr/>
        </p:nvSpPr>
        <p:spPr>
          <a:xfrm>
            <a:off x="1024128" y="4782312"/>
            <a:ext cx="1486814" cy="685800"/>
          </a:xfrm>
          <a:prstGeom prst="rect">
            <a:avLst/>
          </a:prstGeom>
          <a:noFill/>
          <a:ln/>
        </p:spPr>
        <p:txBody>
          <a:bodyPr wrap="square" lIns="0" tIns="0" rIns="0" bIns="0" rtlCol="0" anchor="ctr"/>
          <a:lstStyle/>
          <a:p>
            <a:pPr marL="0" indent="0">
              <a:lnSpc>
                <a:spcPct val="105000"/>
              </a:lnSpc>
              <a:buNone/>
            </a:pPr>
            <a:r>
              <a:rPr lang="en-US" sz="1500" dirty="0">
                <a:solidFill>
                  <a:srgbClr val="33373F"/>
                </a:solidFill>
                <a:latin typeface="Arial" pitchFamily="34" charset="0"/>
                <a:ea typeface="Arial" pitchFamily="34" charset="-122"/>
                <a:cs typeface="Arial" pitchFamily="34" charset="-120"/>
              </a:rPr>
              <a:t>Geolocation</a:t>
            </a:r>
            <a:endParaRPr lang="en-US" sz="1200" dirty="0"/>
          </a:p>
        </p:txBody>
      </p:sp>
      <p:sp>
        <p:nvSpPr>
          <p:cNvPr id="25" name="Shape 23"/>
          <p:cNvSpPr/>
          <p:nvPr/>
        </p:nvSpPr>
        <p:spPr>
          <a:xfrm>
            <a:off x="2986430" y="4069080"/>
            <a:ext cx="1889150" cy="1508760"/>
          </a:xfrm>
          <a:prstGeom prst="roundRect">
            <a:avLst>
              <a:gd name="adj" fmla="val 4242"/>
            </a:avLst>
          </a:prstGeom>
          <a:solidFill>
            <a:srgbClr val="FFFFFF"/>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26" name="Text 24"/>
          <p:cNvSpPr/>
          <p:nvPr/>
        </p:nvSpPr>
        <p:spPr>
          <a:xfrm>
            <a:off x="3187598" y="4251960"/>
            <a:ext cx="822960" cy="502920"/>
          </a:xfrm>
          <a:prstGeom prst="rect">
            <a:avLst/>
          </a:prstGeom>
          <a:noFill/>
          <a:ln/>
        </p:spPr>
        <p:txBody>
          <a:bodyPr wrap="square" lIns="0" tIns="0" rIns="0" bIns="0" rtlCol="0" anchor="ctr"/>
          <a:lstStyle/>
          <a:p>
            <a:pPr marL="0" indent="0">
              <a:buNone/>
            </a:pPr>
            <a:r>
              <a:rPr lang="en-US" sz="2400" b="1" dirty="0">
                <a:solidFill>
                  <a:srgbClr val="C2C8D2"/>
                </a:solidFill>
                <a:latin typeface="Arial" pitchFamily="34" charset="0"/>
                <a:ea typeface="Arial" pitchFamily="34" charset="-122"/>
                <a:cs typeface="Arial" pitchFamily="34" charset="-120"/>
              </a:rPr>
              <a:t>7</a:t>
            </a:r>
            <a:endParaRPr lang="en-US" sz="2400" dirty="0"/>
          </a:p>
        </p:txBody>
      </p:sp>
      <p:sp>
        <p:nvSpPr>
          <p:cNvPr id="27" name="Text 25"/>
          <p:cNvSpPr/>
          <p:nvPr/>
        </p:nvSpPr>
        <p:spPr>
          <a:xfrm>
            <a:off x="3187598" y="4782312"/>
            <a:ext cx="1486814" cy="685800"/>
          </a:xfrm>
          <a:prstGeom prst="rect">
            <a:avLst/>
          </a:prstGeom>
          <a:noFill/>
          <a:ln/>
        </p:spPr>
        <p:txBody>
          <a:bodyPr wrap="square" lIns="0" tIns="0" rIns="0" bIns="0" rtlCol="0" anchor="ctr"/>
          <a:lstStyle/>
          <a:p>
            <a:pPr marL="0" indent="0">
              <a:lnSpc>
                <a:spcPct val="105000"/>
              </a:lnSpc>
              <a:buNone/>
            </a:pPr>
            <a:r>
              <a:rPr lang="en-US" sz="1500" dirty="0">
                <a:solidFill>
                  <a:srgbClr val="33373F"/>
                </a:solidFill>
                <a:latin typeface="Arial" pitchFamily="34" charset="0"/>
                <a:ea typeface="Arial" pitchFamily="34" charset="-122"/>
                <a:cs typeface="Arial" pitchFamily="34" charset="-120"/>
              </a:rPr>
              <a:t>Network telescope</a:t>
            </a:r>
            <a:endParaRPr lang="en-US" sz="1200" dirty="0"/>
          </a:p>
        </p:txBody>
      </p:sp>
      <p:sp>
        <p:nvSpPr>
          <p:cNvPr id="28" name="Shape 26"/>
          <p:cNvSpPr/>
          <p:nvPr/>
        </p:nvSpPr>
        <p:spPr>
          <a:xfrm>
            <a:off x="5149901" y="4069080"/>
            <a:ext cx="1889150" cy="1508760"/>
          </a:xfrm>
          <a:prstGeom prst="roundRect">
            <a:avLst>
              <a:gd name="adj" fmla="val 4242"/>
            </a:avLst>
          </a:prstGeom>
          <a:solidFill>
            <a:srgbClr val="FFFFFF"/>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29" name="Text 27"/>
          <p:cNvSpPr/>
          <p:nvPr/>
        </p:nvSpPr>
        <p:spPr>
          <a:xfrm>
            <a:off x="5351069" y="4251960"/>
            <a:ext cx="822960" cy="502920"/>
          </a:xfrm>
          <a:prstGeom prst="rect">
            <a:avLst/>
          </a:prstGeom>
          <a:noFill/>
          <a:ln/>
        </p:spPr>
        <p:txBody>
          <a:bodyPr wrap="square" lIns="0" tIns="0" rIns="0" bIns="0" rtlCol="0" anchor="ctr"/>
          <a:lstStyle/>
          <a:p>
            <a:pPr marL="0" indent="0">
              <a:buNone/>
            </a:pPr>
            <a:r>
              <a:rPr lang="en-US" sz="2400" b="1" dirty="0">
                <a:solidFill>
                  <a:srgbClr val="C2C8D2"/>
                </a:solidFill>
                <a:latin typeface="Arial" pitchFamily="34" charset="0"/>
                <a:ea typeface="Arial" pitchFamily="34" charset="-122"/>
                <a:cs typeface="Arial" pitchFamily="34" charset="-120"/>
              </a:rPr>
              <a:t>8</a:t>
            </a:r>
            <a:endParaRPr lang="en-US" sz="2400" dirty="0"/>
          </a:p>
        </p:txBody>
      </p:sp>
      <p:sp>
        <p:nvSpPr>
          <p:cNvPr id="30" name="Text 28"/>
          <p:cNvSpPr/>
          <p:nvPr/>
        </p:nvSpPr>
        <p:spPr>
          <a:xfrm>
            <a:off x="5351069" y="4782312"/>
            <a:ext cx="1486814" cy="685800"/>
          </a:xfrm>
          <a:prstGeom prst="rect">
            <a:avLst/>
          </a:prstGeom>
          <a:noFill/>
          <a:ln/>
        </p:spPr>
        <p:txBody>
          <a:bodyPr wrap="square" lIns="0" tIns="0" rIns="0" bIns="0" rtlCol="0" anchor="ctr"/>
          <a:lstStyle/>
          <a:p>
            <a:pPr marL="0" indent="0">
              <a:lnSpc>
                <a:spcPct val="105000"/>
              </a:lnSpc>
              <a:buNone/>
            </a:pPr>
            <a:r>
              <a:rPr lang="en-US" sz="1500" dirty="0">
                <a:solidFill>
                  <a:srgbClr val="33373F"/>
                </a:solidFill>
                <a:latin typeface="Arial" pitchFamily="34" charset="0"/>
                <a:ea typeface="Arial" pitchFamily="34" charset="-122"/>
                <a:cs typeface="Arial" pitchFamily="34" charset="-120"/>
              </a:rPr>
              <a:t>Data fusion (IYP)</a:t>
            </a:r>
            <a:endParaRPr lang="en-US" sz="1200" dirty="0"/>
          </a:p>
        </p:txBody>
      </p:sp>
      <p:sp>
        <p:nvSpPr>
          <p:cNvPr id="31" name="Shape 29"/>
          <p:cNvSpPr/>
          <p:nvPr/>
        </p:nvSpPr>
        <p:spPr>
          <a:xfrm>
            <a:off x="7313371" y="4069080"/>
            <a:ext cx="1889150" cy="1508760"/>
          </a:xfrm>
          <a:prstGeom prst="roundRect">
            <a:avLst>
              <a:gd name="adj" fmla="val 4242"/>
            </a:avLst>
          </a:prstGeom>
          <a:solidFill>
            <a:srgbClr val="FFFFFF"/>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32" name="Text 30"/>
          <p:cNvSpPr/>
          <p:nvPr/>
        </p:nvSpPr>
        <p:spPr>
          <a:xfrm>
            <a:off x="7514539" y="4251960"/>
            <a:ext cx="822960" cy="502920"/>
          </a:xfrm>
          <a:prstGeom prst="rect">
            <a:avLst/>
          </a:prstGeom>
          <a:noFill/>
          <a:ln/>
        </p:spPr>
        <p:txBody>
          <a:bodyPr wrap="square" lIns="0" tIns="0" rIns="0" bIns="0" rtlCol="0" anchor="ctr"/>
          <a:lstStyle/>
          <a:p>
            <a:pPr marL="0" indent="0">
              <a:buNone/>
            </a:pPr>
            <a:r>
              <a:rPr lang="en-US" sz="2400" b="1" dirty="0">
                <a:solidFill>
                  <a:srgbClr val="C2C8D2"/>
                </a:solidFill>
                <a:latin typeface="Arial" pitchFamily="34" charset="0"/>
                <a:ea typeface="Arial" pitchFamily="34" charset="-122"/>
                <a:cs typeface="Arial" pitchFamily="34" charset="-120"/>
              </a:rPr>
              <a:t>9</a:t>
            </a:r>
            <a:endParaRPr lang="en-US" sz="2400" dirty="0"/>
          </a:p>
        </p:txBody>
      </p:sp>
      <p:sp>
        <p:nvSpPr>
          <p:cNvPr id="33" name="Text 31"/>
          <p:cNvSpPr/>
          <p:nvPr/>
        </p:nvSpPr>
        <p:spPr>
          <a:xfrm>
            <a:off x="7514539" y="4782312"/>
            <a:ext cx="1486814" cy="685800"/>
          </a:xfrm>
          <a:prstGeom prst="rect">
            <a:avLst/>
          </a:prstGeom>
          <a:noFill/>
          <a:ln/>
        </p:spPr>
        <p:txBody>
          <a:bodyPr wrap="square" lIns="0" tIns="0" rIns="0" bIns="0" rtlCol="0" anchor="ctr"/>
          <a:lstStyle/>
          <a:p>
            <a:pPr marL="0" indent="0">
              <a:lnSpc>
                <a:spcPct val="105000"/>
              </a:lnSpc>
              <a:buNone/>
            </a:pPr>
            <a:r>
              <a:rPr lang="en-US" sz="1500" dirty="0">
                <a:solidFill>
                  <a:srgbClr val="33373F"/>
                </a:solidFill>
                <a:latin typeface="Arial" pitchFamily="34" charset="0"/>
                <a:ea typeface="Arial" pitchFamily="34" charset="-122"/>
                <a:cs typeface="Arial" pitchFamily="34" charset="-120"/>
              </a:rPr>
              <a:t>Degradation forensics</a:t>
            </a:r>
            <a:endParaRPr lang="en-US" sz="1200" dirty="0"/>
          </a:p>
        </p:txBody>
      </p:sp>
      <p:sp>
        <p:nvSpPr>
          <p:cNvPr id="34" name="Shape 32"/>
          <p:cNvSpPr/>
          <p:nvPr/>
        </p:nvSpPr>
        <p:spPr>
          <a:xfrm>
            <a:off x="9476842" y="4069080"/>
            <a:ext cx="1889150" cy="1508760"/>
          </a:xfrm>
          <a:prstGeom prst="roundRect">
            <a:avLst>
              <a:gd name="adj" fmla="val 4242"/>
            </a:avLst>
          </a:prstGeom>
          <a:solidFill>
            <a:srgbClr val="FFFFFF"/>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35" name="Text 33"/>
          <p:cNvSpPr/>
          <p:nvPr/>
        </p:nvSpPr>
        <p:spPr>
          <a:xfrm>
            <a:off x="9678010" y="4251960"/>
            <a:ext cx="822960" cy="502920"/>
          </a:xfrm>
          <a:prstGeom prst="rect">
            <a:avLst/>
          </a:prstGeom>
          <a:noFill/>
          <a:ln/>
        </p:spPr>
        <p:txBody>
          <a:bodyPr wrap="square" lIns="0" tIns="0" rIns="0" bIns="0" rtlCol="0" anchor="ctr"/>
          <a:lstStyle/>
          <a:p>
            <a:pPr marL="0" indent="0">
              <a:buNone/>
            </a:pPr>
            <a:r>
              <a:rPr lang="en-US" sz="2400" b="1" dirty="0">
                <a:solidFill>
                  <a:srgbClr val="C2C8D2"/>
                </a:solidFill>
                <a:latin typeface="Arial" pitchFamily="34" charset="0"/>
                <a:ea typeface="Arial" pitchFamily="34" charset="-122"/>
                <a:cs typeface="Arial" pitchFamily="34" charset="-120"/>
              </a:rPr>
              <a:t>10</a:t>
            </a:r>
            <a:endParaRPr lang="en-US" sz="2400" dirty="0"/>
          </a:p>
        </p:txBody>
      </p:sp>
      <p:sp>
        <p:nvSpPr>
          <p:cNvPr id="36" name="Text 34"/>
          <p:cNvSpPr/>
          <p:nvPr/>
        </p:nvSpPr>
        <p:spPr>
          <a:xfrm>
            <a:off x="9678010" y="4782312"/>
            <a:ext cx="1486814" cy="685800"/>
          </a:xfrm>
          <a:prstGeom prst="rect">
            <a:avLst/>
          </a:prstGeom>
          <a:noFill/>
          <a:ln/>
        </p:spPr>
        <p:txBody>
          <a:bodyPr wrap="square" lIns="0" tIns="0" rIns="0" bIns="0" rtlCol="0" anchor="ctr"/>
          <a:lstStyle/>
          <a:p>
            <a:pPr marL="0" indent="0">
              <a:lnSpc>
                <a:spcPct val="105000"/>
              </a:lnSpc>
              <a:buNone/>
            </a:pPr>
            <a:r>
              <a:rPr lang="en-US" sz="1500" dirty="0">
                <a:solidFill>
                  <a:srgbClr val="33373F"/>
                </a:solidFill>
                <a:latin typeface="Arial" pitchFamily="34" charset="0"/>
                <a:ea typeface="Arial" pitchFamily="34" charset="-122"/>
                <a:cs typeface="Arial" pitchFamily="34" charset="-120"/>
              </a:rPr>
              <a:t>SDSC hackathon</a:t>
            </a:r>
            <a:endParaRPr lang="en-US" sz="1200" dirty="0"/>
          </a:p>
        </p:txBody>
      </p:sp>
      <p:sp>
        <p:nvSpPr>
          <p:cNvPr id="37" name="Text 35"/>
          <p:cNvSpPr/>
          <p:nvPr/>
        </p:nvSpPr>
        <p:spPr>
          <a:xfrm>
            <a:off x="822960" y="5806440"/>
            <a:ext cx="10543032" cy="457200"/>
          </a:xfrm>
          <a:prstGeom prst="rect">
            <a:avLst/>
          </a:prstGeom>
          <a:noFill/>
          <a:ln/>
        </p:spPr>
        <p:txBody>
          <a:bodyPr wrap="square" lIns="0" tIns="0" rIns="0" bIns="0" rtlCol="0" anchor="ctr"/>
          <a:lstStyle/>
          <a:p>
            <a:pPr marL="0" indent="0">
              <a:buNone/>
            </a:pPr>
            <a:r>
              <a:rPr lang="en-US" sz="1500" i="1" dirty="0">
                <a:solidFill>
                  <a:srgbClr val="6B7280"/>
                </a:solidFill>
                <a:latin typeface="Arial" pitchFamily="34" charset="0"/>
                <a:ea typeface="Arial" pitchFamily="34" charset="-122"/>
                <a:cs typeface="Arial" pitchFamily="34" charset="-120"/>
              </a:rPr>
              <a:t>Weeks 1–8 build one block at a time; weeks 9–10 integrate them into a full forensic pipeline.</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cone.png"/>
          <p:cNvPicPr>
            <a:picLocks noChangeAspect="1"/>
          </p:cNvPicPr>
          <p:nvPr/>
        </p:nvPicPr>
        <p:blipFill>
          <a:blip r:embed="rId3"/>
          <a:stretch>
            <a:fillRect/>
          </a:stretch>
        </p:blipFill>
        <p:spPr>
          <a:xfrm>
            <a:off x="7680960" y="1554480"/>
            <a:ext cx="3657600" cy="2679192"/>
          </a:xfrm>
          <a:prstGeom prst="rect">
            <a:avLst/>
          </a:prstGeom>
        </p:spPr>
      </p:pic>
      <p:sp>
        <p:nvSpPr>
          <p:cNvPr id="3" name="Text 0"/>
          <p:cNvSpPr/>
          <p:nvPr/>
        </p:nvSpPr>
        <p:spPr>
          <a:xfrm>
            <a:off x="822960" y="1828800"/>
            <a:ext cx="4572000" cy="274320"/>
          </a:xfrm>
          <a:prstGeom prst="rect">
            <a:avLst/>
          </a:prstGeom>
          <a:noFill/>
          <a:ln/>
        </p:spPr>
        <p:txBody>
          <a:bodyPr wrap="square" lIns="0" tIns="0" rIns="0" bIns="0" rtlCol="0" anchor="t"/>
          <a:lstStyle/>
          <a:p>
            <a:pPr marL="0" indent="0">
              <a:buNone/>
            </a:pPr>
            <a:r>
              <a:rPr lang="en-US" sz="1100" b="1" kern="0" spc="220" dirty="0">
                <a:solidFill>
                  <a:srgbClr val="2B5187"/>
                </a:solidFill>
                <a:latin typeface="Arial" pitchFamily="34" charset="0"/>
                <a:ea typeface="Arial" pitchFamily="34" charset="-122"/>
                <a:cs typeface="Arial" pitchFamily="34" charset="-120"/>
              </a:rPr>
              <a:t>PART ONE</a:t>
            </a:r>
            <a:endParaRPr lang="en-US" sz="1100" dirty="0"/>
          </a:p>
        </p:txBody>
      </p:sp>
      <p:sp>
        <p:nvSpPr>
          <p:cNvPr id="4" name="Text 1"/>
          <p:cNvSpPr/>
          <p:nvPr/>
        </p:nvSpPr>
        <p:spPr>
          <a:xfrm>
            <a:off x="777240" y="2148840"/>
            <a:ext cx="3657600" cy="1554480"/>
          </a:xfrm>
          <a:prstGeom prst="rect">
            <a:avLst/>
          </a:prstGeom>
          <a:noFill/>
          <a:ln/>
        </p:spPr>
        <p:txBody>
          <a:bodyPr wrap="square" lIns="0" tIns="0" rIns="0" bIns="0" rtlCol="0" anchor="ctr"/>
          <a:lstStyle/>
          <a:p>
            <a:pPr marL="0" indent="0">
              <a:buNone/>
            </a:pPr>
            <a:r>
              <a:rPr lang="en-US" sz="9600" b="1" dirty="0">
                <a:solidFill>
                  <a:srgbClr val="2B5187"/>
                </a:solidFill>
                <a:latin typeface="Arial" pitchFamily="34" charset="0"/>
                <a:ea typeface="Arial" pitchFamily="34" charset="-122"/>
                <a:cs typeface="Arial" pitchFamily="34" charset="-120"/>
              </a:rPr>
              <a:t>01</a:t>
            </a:r>
            <a:endParaRPr lang="en-US" sz="9600" dirty="0"/>
          </a:p>
        </p:txBody>
      </p:sp>
      <p:sp>
        <p:nvSpPr>
          <p:cNvPr id="5" name="Text 2"/>
          <p:cNvSpPr/>
          <p:nvPr/>
        </p:nvSpPr>
        <p:spPr>
          <a:xfrm>
            <a:off x="822960" y="3886200"/>
            <a:ext cx="6583680" cy="1188720"/>
          </a:xfrm>
          <a:prstGeom prst="rect">
            <a:avLst/>
          </a:prstGeom>
          <a:noFill/>
          <a:ln/>
        </p:spPr>
        <p:txBody>
          <a:bodyPr wrap="square" lIns="0" tIns="0" rIns="0" bIns="0" rtlCol="0" anchor="t"/>
          <a:lstStyle/>
          <a:p>
            <a:pPr marL="0" indent="0">
              <a:lnSpc>
                <a:spcPct val="98000"/>
              </a:lnSpc>
              <a:buNone/>
            </a:pPr>
            <a:r>
              <a:rPr lang="en-US" sz="3000" b="1" dirty="0">
                <a:solidFill>
                  <a:srgbClr val="15171C"/>
                </a:solidFill>
                <a:latin typeface="Arial" pitchFamily="34" charset="0"/>
                <a:ea typeface="Arial" pitchFamily="34" charset="-122"/>
                <a:cs typeface="Arial" pitchFamily="34" charset="-120"/>
              </a:rPr>
              <a:t>Autonomous Systems &amp;</a:t>
            </a:r>
            <a:endParaRPr lang="en-US" sz="3000" dirty="0"/>
          </a:p>
          <a:p>
            <a:pPr marL="0" indent="0">
              <a:lnSpc>
                <a:spcPct val="98000"/>
              </a:lnSpc>
              <a:buNone/>
            </a:pPr>
            <a:r>
              <a:rPr lang="en-US" sz="3000" b="1" dirty="0">
                <a:solidFill>
                  <a:srgbClr val="15171C"/>
                </a:solidFill>
                <a:latin typeface="Arial" pitchFamily="34" charset="0"/>
                <a:ea typeface="Arial" pitchFamily="34" charset="-122"/>
                <a:cs typeface="Arial" pitchFamily="34" charset="-120"/>
              </a:rPr>
              <a:t>the shape of the Internet</a:t>
            </a:r>
            <a:endParaRPr lang="en-US" sz="3000" dirty="0"/>
          </a:p>
        </p:txBody>
      </p:sp>
      <p:sp>
        <p:nvSpPr>
          <p:cNvPr id="6" name="Text 3"/>
          <p:cNvSpPr/>
          <p:nvPr/>
        </p:nvSpPr>
        <p:spPr>
          <a:xfrm>
            <a:off x="822960" y="5074920"/>
            <a:ext cx="6217920" cy="457200"/>
          </a:xfrm>
          <a:prstGeom prst="rect">
            <a:avLst/>
          </a:prstGeom>
          <a:noFill/>
          <a:ln/>
        </p:spPr>
        <p:txBody>
          <a:bodyPr wrap="square" lIns="0" tIns="0" rIns="0" bIns="0" rtlCol="0" anchor="ctr"/>
          <a:lstStyle/>
          <a:p>
            <a:pPr marL="0" indent="0">
              <a:buNone/>
            </a:pPr>
            <a:r>
              <a:rPr lang="en-US" sz="1350" i="1" dirty="0">
                <a:solidFill>
                  <a:srgbClr val="6B7280"/>
                </a:solidFill>
                <a:latin typeface="Arial" pitchFamily="34" charset="0"/>
                <a:ea typeface="Arial" pitchFamily="34" charset="-122"/>
                <a:cs typeface="Arial" pitchFamily="34" charset="-120"/>
              </a:rPr>
              <a:t>how the Internet divides into networks, and how we measure their reach</a:t>
            </a:r>
            <a:endParaRPr lang="en-US" sz="1350" dirty="0"/>
          </a:p>
        </p:txBody>
      </p:sp>
      <p:sp>
        <p:nvSpPr>
          <p:cNvPr id="7" name="Text 4"/>
          <p:cNvSpPr/>
          <p:nvPr/>
        </p:nvSpPr>
        <p:spPr>
          <a:xfrm>
            <a:off x="7680960" y="4251960"/>
            <a:ext cx="3657600" cy="274320"/>
          </a:xfrm>
          <a:prstGeom prst="rect">
            <a:avLst/>
          </a:prstGeom>
          <a:noFill/>
          <a:ln/>
        </p:spPr>
        <p:txBody>
          <a:bodyPr wrap="square" lIns="0" tIns="0" rIns="0" bIns="0" rtlCol="0" anchor="ctr"/>
          <a:lstStyle/>
          <a:p>
            <a:pPr marL="0" indent="0" algn="ctr">
              <a:buNone/>
            </a:pPr>
            <a:r>
              <a:rPr lang="en-US" sz="1000" dirty="0">
                <a:solidFill>
                  <a:srgbClr val="6B7280"/>
                </a:solidFill>
                <a:latin typeface="Consolas" pitchFamily="34" charset="0"/>
                <a:ea typeface="Consolas" pitchFamily="34" charset="-122"/>
                <a:cs typeface="Consolas" pitchFamily="34" charset="-120"/>
              </a:rPr>
              <a:t>customer cone of one AS · node size = reach</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074152" y="384048"/>
            <a:ext cx="3291840" cy="274320"/>
          </a:xfrm>
          <a:prstGeom prst="rect">
            <a:avLst/>
          </a:prstGeom>
          <a:noFill/>
          <a:ln/>
        </p:spPr>
        <p:txBody>
          <a:bodyPr wrap="square" lIns="0" tIns="0" rIns="0" bIns="0" rtlCol="0" anchor="ctr"/>
          <a:lstStyle/>
          <a:p>
            <a:pPr marL="0" indent="0" algn="r">
              <a:buNone/>
            </a:pPr>
            <a:r>
              <a:rPr lang="en-US" sz="1000" b="1" kern="0" spc="120" dirty="0">
                <a:solidFill>
                  <a:srgbClr val="15171C"/>
                </a:solidFill>
                <a:latin typeface="Arial" pitchFamily="34" charset="0"/>
                <a:ea typeface="Arial" pitchFamily="34" charset="-122"/>
                <a:cs typeface="Arial" pitchFamily="34" charset="-120"/>
              </a:rPr>
              <a:t>WEEK 1</a:t>
            </a:r>
            <a:r>
              <a:rPr lang="en-US" sz="1000" kern="0" spc="120" dirty="0">
                <a:solidFill>
                  <a:srgbClr val="6B7280"/>
                </a:solidFill>
                <a:latin typeface="Arial" pitchFamily="34" charset="0"/>
                <a:ea typeface="Arial" pitchFamily="34" charset="-122"/>
                <a:cs typeface="Arial" pitchFamily="34" charset="-120"/>
              </a:rPr>
              <a:t>  ·  BUILDING BLOCK </a:t>
            </a:r>
            <a:r>
              <a:rPr lang="en-US" sz="1000" b="1" kern="0" spc="120" dirty="0">
                <a:solidFill>
                  <a:srgbClr val="2B5187"/>
                </a:solidFill>
                <a:latin typeface="Arial" pitchFamily="34" charset="0"/>
                <a:ea typeface="Arial" pitchFamily="34" charset="-122"/>
                <a:cs typeface="Arial" pitchFamily="34" charset="-120"/>
              </a:rPr>
              <a:t>1</a:t>
            </a:r>
            <a:r>
              <a:rPr lang="en-US" sz="1000" kern="0" spc="120" dirty="0">
                <a:solidFill>
                  <a:srgbClr val="6B7280"/>
                </a:solidFill>
                <a:latin typeface="Arial" pitchFamily="34" charset="0"/>
                <a:ea typeface="Arial" pitchFamily="34" charset="-122"/>
                <a:cs typeface="Arial" pitchFamily="34" charset="-120"/>
              </a:rPr>
              <a:t> / 10</a:t>
            </a:r>
            <a:endParaRPr lang="en-US" sz="1000" dirty="0"/>
          </a:p>
        </p:txBody>
      </p:sp>
      <p:sp>
        <p:nvSpPr>
          <p:cNvPr id="3" name="Text 1"/>
          <p:cNvSpPr/>
          <p:nvPr/>
        </p:nvSpPr>
        <p:spPr>
          <a:xfrm>
            <a:off x="822960" y="640080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Arial" pitchFamily="34" charset="0"/>
                <a:ea typeface="Arial" pitchFamily="34" charset="-122"/>
                <a:cs typeface="Arial" pitchFamily="34" charset="-120"/>
              </a:rPr>
              <a:t>ESCALATE Training Program · Summer 2026</a:t>
            </a:r>
            <a:endParaRPr lang="en-US" sz="900" dirty="0"/>
          </a:p>
        </p:txBody>
      </p:sp>
      <p:sp>
        <p:nvSpPr>
          <p:cNvPr id="5" name="Text 3"/>
          <p:cNvSpPr/>
          <p:nvPr/>
        </p:nvSpPr>
        <p:spPr>
          <a:xfrm>
            <a:off x="822960" y="548640"/>
            <a:ext cx="5486400" cy="274320"/>
          </a:xfrm>
          <a:prstGeom prst="rect">
            <a:avLst/>
          </a:prstGeom>
          <a:noFill/>
          <a:ln/>
        </p:spPr>
        <p:txBody>
          <a:bodyPr wrap="square" lIns="0" tIns="0" rIns="0" bIns="0" rtlCol="0" anchor="t"/>
          <a:lstStyle/>
          <a:p>
            <a:pPr marL="0" indent="0">
              <a:buNone/>
            </a:pPr>
            <a:r>
              <a:rPr lang="en-US" sz="1100" b="1" kern="0" spc="220" dirty="0">
                <a:solidFill>
                  <a:srgbClr val="2B5187"/>
                </a:solidFill>
                <a:latin typeface="Arial" pitchFamily="34" charset="0"/>
                <a:ea typeface="Arial" pitchFamily="34" charset="-122"/>
                <a:cs typeface="Arial" pitchFamily="34" charset="-120"/>
              </a:rPr>
              <a:t>HOW IT ALL FITS TOGETHER</a:t>
            </a:r>
            <a:endParaRPr lang="en-US" sz="1100" dirty="0"/>
          </a:p>
        </p:txBody>
      </p:sp>
      <p:sp>
        <p:nvSpPr>
          <p:cNvPr id="6" name="Text 4"/>
          <p:cNvSpPr/>
          <p:nvPr/>
        </p:nvSpPr>
        <p:spPr>
          <a:xfrm>
            <a:off x="822960" y="868680"/>
            <a:ext cx="10058400" cy="1188720"/>
          </a:xfrm>
          <a:prstGeom prst="rect">
            <a:avLst/>
          </a:prstGeom>
          <a:noFill/>
          <a:ln/>
        </p:spPr>
        <p:txBody>
          <a:bodyPr wrap="square" lIns="0" tIns="0" rIns="0" bIns="0" rtlCol="0" anchor="t"/>
          <a:lstStyle/>
          <a:p>
            <a:pPr marL="0" indent="0">
              <a:lnSpc>
                <a:spcPct val="98000"/>
              </a:lnSpc>
              <a:buNone/>
            </a:pPr>
            <a:r>
              <a:rPr lang="en-US" sz="3000" b="1" dirty="0">
                <a:solidFill>
                  <a:srgbClr val="15171C"/>
                </a:solidFill>
                <a:latin typeface="Arial" pitchFamily="34" charset="0"/>
                <a:ea typeface="Arial" pitchFamily="34" charset="-122"/>
                <a:cs typeface="Arial" pitchFamily="34" charset="-120"/>
              </a:rPr>
              <a:t>The Internet's narrow waist</a:t>
            </a:r>
            <a:endParaRPr lang="en-US" sz="3000" dirty="0"/>
          </a:p>
        </p:txBody>
      </p:sp>
      <p:sp>
        <p:nvSpPr>
          <p:cNvPr id="7" name="Text 5"/>
          <p:cNvSpPr/>
          <p:nvPr/>
        </p:nvSpPr>
        <p:spPr>
          <a:xfrm>
            <a:off x="822960" y="2050000"/>
            <a:ext cx="5850000" cy="2400000"/>
          </a:xfrm>
          <a:prstGeom prst="rect">
            <a:avLst/>
          </a:prstGeom>
          <a:noFill/>
          <a:ln/>
        </p:spPr>
        <p:txBody>
          <a:bodyPr wrap="square" lIns="0" tIns="0" rIns="0" bIns="0" rtlCol="0" anchor="ctr"/>
          <a:lstStyle/>
          <a:p>
            <a:pPr marL="0" indent="0">
              <a:lnSpc>
                <a:spcPct val="112000"/>
              </a:lnSpc>
              <a:buNone/>
            </a:pPr>
            <a:r>
              <a:rPr lang="en-US" sz="2000" dirty="0">
                <a:solidFill>
                  <a:srgbClr val="33373F"/>
                </a:solidFill>
                <a:latin typeface="Arial" pitchFamily="34" charset="0"/>
                <a:ea typeface="Arial" pitchFamily="34" charset="-122"/>
                <a:cs typeface="Arial" pitchFamily="34" charset="-120"/>
              </a:rPr>
              <a:t>Countless applications on top, countless link technologies on the bottom — and one thin layer in the middle that lets any app run over any medium. That thin waist is the Internet Protocol (IP).</a:t>
            </a:r>
            <a:endParaRPr lang="en-US" sz="1450" dirty="0"/>
          </a:p>
        </p:txBody>
      </p:sp>
      <p:sp>
        <p:nvSpPr>
          <p:cNvPr id="18" name="Shape 16"/>
          <p:cNvSpPr/>
          <p:nvPr/>
        </p:nvSpPr>
        <p:spPr>
          <a:xfrm rot="10800000">
            <a:off x="7132320" y="1691640"/>
            <a:ext cx="3840480" cy="1554480"/>
          </a:xfrm>
          <a:prstGeom prst="triangle">
            <a:avLst/>
          </a:prstGeom>
          <a:solidFill>
            <a:srgbClr val="F7F8FA"/>
          </a:solidFill>
          <a:ln w="19050">
            <a:solidFill>
              <a:srgbClr val="E5E7EB"/>
            </a:solidFill>
            <a:prstDash val="solid"/>
          </a:ln>
        </p:spPr>
        <p:txBody>
          <a:bodyPr/>
          <a:lstStyle/>
          <a:p>
            <a:endParaRPr lang="en-US"/>
          </a:p>
        </p:txBody>
      </p:sp>
      <p:sp>
        <p:nvSpPr>
          <p:cNvPr id="19" name="Shape 17"/>
          <p:cNvSpPr/>
          <p:nvPr/>
        </p:nvSpPr>
        <p:spPr>
          <a:xfrm>
            <a:off x="7132320" y="3566160"/>
            <a:ext cx="3840480" cy="1554480"/>
          </a:xfrm>
          <a:prstGeom prst="triangle">
            <a:avLst/>
          </a:prstGeom>
          <a:solidFill>
            <a:srgbClr val="F7F8FA"/>
          </a:solidFill>
          <a:ln w="19050">
            <a:solidFill>
              <a:srgbClr val="E5E7EB"/>
            </a:solidFill>
            <a:prstDash val="solid"/>
          </a:ln>
        </p:spPr>
        <p:txBody>
          <a:bodyPr/>
          <a:lstStyle/>
          <a:p>
            <a:endParaRPr lang="en-US"/>
          </a:p>
        </p:txBody>
      </p:sp>
      <p:sp>
        <p:nvSpPr>
          <p:cNvPr id="20" name="Text 18"/>
          <p:cNvSpPr/>
          <p:nvPr/>
        </p:nvSpPr>
        <p:spPr>
          <a:xfrm>
            <a:off x="7132320" y="1828800"/>
            <a:ext cx="3840480" cy="365760"/>
          </a:xfrm>
          <a:prstGeom prst="rect">
            <a:avLst/>
          </a:prstGeom>
          <a:noFill/>
          <a:ln/>
        </p:spPr>
        <p:txBody>
          <a:bodyPr wrap="square" lIns="0" tIns="0" rIns="0" bIns="0" rtlCol="0" anchor="ctr"/>
          <a:lstStyle/>
          <a:p>
            <a:pPr marL="0" indent="0" algn="ctr">
              <a:buNone/>
            </a:pPr>
            <a:r>
              <a:rPr lang="en-US" sz="2000" b="1" dirty="0">
                <a:solidFill>
                  <a:srgbClr val="33373F"/>
                </a:solidFill>
                <a:latin typeface="Arial" pitchFamily="34" charset="0"/>
                <a:ea typeface="Arial" pitchFamily="34" charset="-122"/>
                <a:cs typeface="Arial" pitchFamily="34" charset="-120"/>
              </a:rPr>
              <a:t>Applications</a:t>
            </a:r>
            <a:endParaRPr lang="en-US" sz="1300" dirty="0"/>
          </a:p>
        </p:txBody>
      </p:sp>
      <p:sp>
        <p:nvSpPr>
          <p:cNvPr id="21" name="Text 19"/>
          <p:cNvSpPr/>
          <p:nvPr/>
        </p:nvSpPr>
        <p:spPr>
          <a:xfrm>
            <a:off x="7132320" y="2194560"/>
            <a:ext cx="3840480" cy="274320"/>
          </a:xfrm>
          <a:prstGeom prst="rect">
            <a:avLst/>
          </a:prstGeom>
          <a:noFill/>
          <a:ln/>
        </p:spPr>
        <p:txBody>
          <a:bodyPr wrap="square" lIns="0" tIns="0" rIns="0" bIns="0" rtlCol="0" anchor="ctr"/>
          <a:lstStyle/>
          <a:p>
            <a:pPr marL="0" indent="0" algn="ctr">
              <a:buNone/>
            </a:pPr>
            <a:r>
              <a:rPr lang="en-US" sz="1000" dirty="0">
                <a:solidFill>
                  <a:srgbClr val="6B7280"/>
                </a:solidFill>
                <a:latin typeface="Arial" pitchFamily="34" charset="0"/>
                <a:ea typeface="Arial" pitchFamily="34" charset="-122"/>
                <a:cs typeface="Arial" pitchFamily="34" charset="-120"/>
              </a:rPr>
              <a:t>web · email · video · messaging</a:t>
            </a:r>
            <a:endParaRPr lang="en-US" sz="1000" dirty="0"/>
          </a:p>
        </p:txBody>
      </p:sp>
      <p:sp>
        <p:nvSpPr>
          <p:cNvPr id="22" name="Text 20"/>
          <p:cNvSpPr/>
          <p:nvPr/>
        </p:nvSpPr>
        <p:spPr>
          <a:xfrm>
            <a:off x="7132320" y="4480560"/>
            <a:ext cx="3840480" cy="365760"/>
          </a:xfrm>
          <a:prstGeom prst="rect">
            <a:avLst/>
          </a:prstGeom>
          <a:noFill/>
          <a:ln/>
        </p:spPr>
        <p:txBody>
          <a:bodyPr wrap="square" lIns="0" tIns="0" rIns="0" bIns="0" rtlCol="0" anchor="ctr"/>
          <a:lstStyle/>
          <a:p>
            <a:pPr marL="0" indent="0" algn="ctr">
              <a:buNone/>
            </a:pPr>
            <a:r>
              <a:rPr lang="en-US" sz="2000" b="1" dirty="0">
                <a:solidFill>
                  <a:srgbClr val="33373F"/>
                </a:solidFill>
                <a:latin typeface="Arial" pitchFamily="34" charset="0"/>
                <a:ea typeface="Arial" pitchFamily="34" charset="-122"/>
                <a:cs typeface="Arial" pitchFamily="34" charset="-120"/>
              </a:rPr>
              <a:t>Link &amp; physical</a:t>
            </a:r>
            <a:endParaRPr lang="en-US" sz="1300" dirty="0"/>
          </a:p>
        </p:txBody>
      </p:sp>
      <p:sp>
        <p:nvSpPr>
          <p:cNvPr id="23" name="Text 21"/>
          <p:cNvSpPr/>
          <p:nvPr/>
        </p:nvSpPr>
        <p:spPr>
          <a:xfrm>
            <a:off x="7132320" y="4800600"/>
            <a:ext cx="3840480" cy="274320"/>
          </a:xfrm>
          <a:prstGeom prst="rect">
            <a:avLst/>
          </a:prstGeom>
          <a:noFill/>
          <a:ln/>
        </p:spPr>
        <p:txBody>
          <a:bodyPr wrap="square" lIns="0" tIns="0" rIns="0" bIns="0" rtlCol="0" anchor="ctr"/>
          <a:lstStyle/>
          <a:p>
            <a:pPr marL="0" indent="0" algn="ctr">
              <a:buNone/>
            </a:pPr>
            <a:r>
              <a:rPr lang="en-US" sz="1000" dirty="0">
                <a:solidFill>
                  <a:srgbClr val="6B7280"/>
                </a:solidFill>
                <a:latin typeface="Arial" pitchFamily="34" charset="0"/>
                <a:ea typeface="Arial" pitchFamily="34" charset="-122"/>
                <a:cs typeface="Arial" pitchFamily="34" charset="-120"/>
              </a:rPr>
              <a:t>fiber · Wi-Fi · cellular · subsea cable</a:t>
            </a:r>
            <a:endParaRPr lang="en-US" sz="1000" dirty="0"/>
          </a:p>
        </p:txBody>
      </p:sp>
      <p:sp>
        <p:nvSpPr>
          <p:cNvPr id="24" name="Shape 22"/>
          <p:cNvSpPr/>
          <p:nvPr/>
        </p:nvSpPr>
        <p:spPr>
          <a:xfrm>
            <a:off x="8485632" y="3108960"/>
            <a:ext cx="1133856" cy="868680"/>
          </a:xfrm>
          <a:prstGeom prst="ellipse">
            <a:avLst/>
          </a:prstGeom>
          <a:solidFill>
            <a:srgbClr val="2B5187"/>
          </a:solidFill>
          <a:ln/>
        </p:spPr>
        <p:txBody>
          <a:bodyPr/>
          <a:lstStyle/>
          <a:p>
            <a:endParaRPr lang="en-US"/>
          </a:p>
        </p:txBody>
      </p:sp>
      <p:sp>
        <p:nvSpPr>
          <p:cNvPr id="25" name="Text 23"/>
          <p:cNvSpPr/>
          <p:nvPr/>
        </p:nvSpPr>
        <p:spPr>
          <a:xfrm>
            <a:off x="8485632" y="3264408"/>
            <a:ext cx="1133856"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IP</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074152" y="384048"/>
            <a:ext cx="3291840" cy="274320"/>
          </a:xfrm>
          <a:prstGeom prst="rect">
            <a:avLst/>
          </a:prstGeom>
          <a:noFill/>
          <a:ln/>
        </p:spPr>
        <p:txBody>
          <a:bodyPr wrap="square" lIns="0" tIns="0" rIns="0" bIns="0" rtlCol="0" anchor="ctr"/>
          <a:lstStyle/>
          <a:p>
            <a:pPr marL="0" indent="0" algn="r">
              <a:buNone/>
            </a:pPr>
            <a:r>
              <a:rPr lang="en-US" sz="1000" b="1" kern="0" spc="120" dirty="0">
                <a:solidFill>
                  <a:srgbClr val="15171C"/>
                </a:solidFill>
                <a:latin typeface="Arial" pitchFamily="34" charset="0"/>
                <a:ea typeface="Arial" pitchFamily="34" charset="-122"/>
                <a:cs typeface="Arial" pitchFamily="34" charset="-120"/>
              </a:rPr>
              <a:t>WEEK 1</a:t>
            </a:r>
            <a:r>
              <a:rPr lang="en-US" sz="1000" kern="0" spc="120" dirty="0">
                <a:solidFill>
                  <a:srgbClr val="6B7280"/>
                </a:solidFill>
                <a:latin typeface="Arial" pitchFamily="34" charset="0"/>
                <a:ea typeface="Arial" pitchFamily="34" charset="-122"/>
                <a:cs typeface="Arial" pitchFamily="34" charset="-120"/>
              </a:rPr>
              <a:t>  ·  BUILDING BLOCK </a:t>
            </a:r>
            <a:r>
              <a:rPr lang="en-US" sz="1000" b="1" kern="0" spc="120" dirty="0">
                <a:solidFill>
                  <a:srgbClr val="2B5187"/>
                </a:solidFill>
                <a:latin typeface="Arial" pitchFamily="34" charset="0"/>
                <a:ea typeface="Arial" pitchFamily="34" charset="-122"/>
                <a:cs typeface="Arial" pitchFamily="34" charset="-120"/>
              </a:rPr>
              <a:t>1</a:t>
            </a:r>
            <a:r>
              <a:rPr lang="en-US" sz="1000" kern="0" spc="120" dirty="0">
                <a:solidFill>
                  <a:srgbClr val="6B7280"/>
                </a:solidFill>
                <a:latin typeface="Arial" pitchFamily="34" charset="0"/>
                <a:ea typeface="Arial" pitchFamily="34" charset="-122"/>
                <a:cs typeface="Arial" pitchFamily="34" charset="-120"/>
              </a:rPr>
              <a:t> / 10</a:t>
            </a:r>
            <a:endParaRPr lang="en-US" sz="1000" dirty="0"/>
          </a:p>
        </p:txBody>
      </p:sp>
      <p:sp>
        <p:nvSpPr>
          <p:cNvPr id="3" name="Text 1"/>
          <p:cNvSpPr/>
          <p:nvPr/>
        </p:nvSpPr>
        <p:spPr>
          <a:xfrm>
            <a:off x="822960" y="640080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Arial" pitchFamily="34" charset="0"/>
                <a:ea typeface="Arial" pitchFamily="34" charset="-122"/>
                <a:cs typeface="Arial" pitchFamily="34" charset="-120"/>
              </a:rPr>
              <a:t>ESCALATE Training Program · Summer 2026</a:t>
            </a:r>
            <a:endParaRPr lang="en-US" sz="900" dirty="0"/>
          </a:p>
        </p:txBody>
      </p:sp>
      <p:sp>
        <p:nvSpPr>
          <p:cNvPr id="5" name="Text 3"/>
          <p:cNvSpPr/>
          <p:nvPr/>
        </p:nvSpPr>
        <p:spPr>
          <a:xfrm>
            <a:off x="822960" y="548640"/>
            <a:ext cx="5486400" cy="274320"/>
          </a:xfrm>
          <a:prstGeom prst="rect">
            <a:avLst/>
          </a:prstGeom>
          <a:noFill/>
          <a:ln/>
        </p:spPr>
        <p:txBody>
          <a:bodyPr wrap="square" lIns="0" tIns="0" rIns="0" bIns="0" rtlCol="0" anchor="t"/>
          <a:lstStyle/>
          <a:p>
            <a:pPr marL="0" indent="0">
              <a:buNone/>
            </a:pPr>
            <a:r>
              <a:rPr lang="en-US" sz="1100" b="1" kern="0" spc="220" dirty="0">
                <a:solidFill>
                  <a:srgbClr val="2B5187"/>
                </a:solidFill>
                <a:latin typeface="Arial" pitchFamily="34" charset="0"/>
                <a:ea typeface="Arial" pitchFamily="34" charset="-122"/>
                <a:cs typeface="Arial" pitchFamily="34" charset="-120"/>
              </a:rPr>
              <a:t>HOW IT ALL FITS TOGETHER</a:t>
            </a:r>
            <a:endParaRPr lang="en-US" sz="1100" dirty="0"/>
          </a:p>
        </p:txBody>
      </p:sp>
      <p:sp>
        <p:nvSpPr>
          <p:cNvPr id="6" name="Text 4"/>
          <p:cNvSpPr/>
          <p:nvPr/>
        </p:nvSpPr>
        <p:spPr>
          <a:xfrm>
            <a:off x="822960" y="868680"/>
            <a:ext cx="10058400" cy="1188720"/>
          </a:xfrm>
          <a:prstGeom prst="rect">
            <a:avLst/>
          </a:prstGeom>
          <a:noFill/>
          <a:ln/>
        </p:spPr>
        <p:txBody>
          <a:bodyPr wrap="square" lIns="0" tIns="0" rIns="0" bIns="0" rtlCol="0" anchor="t"/>
          <a:lstStyle/>
          <a:p>
            <a:pPr marL="0" indent="0">
              <a:lnSpc>
                <a:spcPct val="98000"/>
              </a:lnSpc>
              <a:buNone/>
            </a:pPr>
            <a:r>
              <a:rPr lang="en-US" sz="3000" b="1" dirty="0">
                <a:solidFill>
                  <a:srgbClr val="15171C"/>
                </a:solidFill>
                <a:latin typeface="Arial" pitchFamily="34" charset="0"/>
                <a:ea typeface="Arial" pitchFamily="34" charset="-122"/>
                <a:cs typeface="Arial" pitchFamily="34" charset="-120"/>
              </a:rPr>
              <a:t>The Internet's narrow waist (cont.)</a:t>
            </a:r>
            <a:endParaRPr lang="en-US" sz="3000" dirty="0"/>
          </a:p>
        </p:txBody>
      </p:sp>
      <p:sp>
        <p:nvSpPr>
          <p:cNvPr id="8" name="Shape 6"/>
          <p:cNvSpPr/>
          <p:nvPr/>
        </p:nvSpPr>
        <p:spPr>
          <a:xfrm>
            <a:off x="822960" y="2048580"/>
            <a:ext cx="91440" cy="91440"/>
          </a:xfrm>
          <a:prstGeom prst="ellipse">
            <a:avLst/>
          </a:prstGeom>
          <a:solidFill>
            <a:srgbClr val="2B5187"/>
          </a:solidFill>
          <a:ln/>
        </p:spPr>
        <p:txBody>
          <a:bodyPr/>
          <a:lstStyle/>
          <a:p>
            <a:endParaRPr lang="en-US"/>
          </a:p>
        </p:txBody>
      </p:sp>
      <p:sp>
        <p:nvSpPr>
          <p:cNvPr id="9" name="Text 7"/>
          <p:cNvSpPr/>
          <p:nvPr/>
        </p:nvSpPr>
        <p:spPr>
          <a:xfrm>
            <a:off x="1133856" y="1980000"/>
            <a:ext cx="10150000" cy="760000"/>
          </a:xfrm>
          <a:prstGeom prst="rect">
            <a:avLst/>
          </a:prstGeom>
          <a:noFill/>
          <a:ln/>
        </p:spPr>
        <p:txBody>
          <a:bodyPr wrap="square" lIns="0" tIns="0" rIns="0" bIns="0" rtlCol="0" anchor="t"/>
          <a:lstStyle/>
          <a:p>
            <a:pPr marL="0" indent="0">
              <a:lnSpc>
                <a:spcPct val="103000"/>
              </a:lnSpc>
              <a:buNone/>
            </a:pPr>
            <a:r>
              <a:rPr lang="en-US" sz="2000" b="1" dirty="0">
                <a:solidFill>
                  <a:srgbClr val="15171C"/>
                </a:solidFill>
                <a:latin typeface="Arial" pitchFamily="34" charset="0"/>
                <a:ea typeface="Arial" pitchFamily="34" charset="-122"/>
                <a:cs typeface="Arial" pitchFamily="34" charset="-120"/>
              </a:rPr>
              <a:t>Four jobs keep it working: </a:t>
            </a:r>
            <a:endParaRPr lang="en-US" sz="1400" dirty="0"/>
          </a:p>
        </p:txBody>
      </p:sp>
      <p:sp>
        <p:nvSpPr>
          <p:cNvPr id="10" name="Shape 8"/>
          <p:cNvSpPr/>
          <p:nvPr/>
        </p:nvSpPr>
        <p:spPr>
          <a:xfrm>
            <a:off x="822960" y="2928580"/>
            <a:ext cx="91440" cy="91440"/>
          </a:xfrm>
          <a:prstGeom prst="ellipse">
            <a:avLst/>
          </a:prstGeom>
          <a:solidFill>
            <a:srgbClr val="2B5187"/>
          </a:solidFill>
          <a:ln/>
        </p:spPr>
        <p:txBody>
          <a:bodyPr/>
          <a:lstStyle/>
          <a:p>
            <a:endParaRPr lang="en-US"/>
          </a:p>
        </p:txBody>
      </p:sp>
      <p:sp>
        <p:nvSpPr>
          <p:cNvPr id="11" name="Text 9"/>
          <p:cNvSpPr/>
          <p:nvPr/>
        </p:nvSpPr>
        <p:spPr>
          <a:xfrm>
            <a:off x="1133856" y="2860000"/>
            <a:ext cx="10150000" cy="760000"/>
          </a:xfrm>
          <a:prstGeom prst="rect">
            <a:avLst/>
          </a:prstGeom>
          <a:noFill/>
          <a:ln/>
        </p:spPr>
        <p:txBody>
          <a:bodyPr wrap="square" lIns="0" tIns="0" rIns="0" bIns="0" rtlCol="0" anchor="t"/>
          <a:lstStyle/>
          <a:p>
            <a:pPr marL="0" indent="0">
              <a:lnSpc>
                <a:spcPct val="103000"/>
              </a:lnSpc>
              <a:buNone/>
            </a:pPr>
            <a:r>
              <a:rPr lang="en-US" sz="2000" b="1" dirty="0">
                <a:solidFill>
                  <a:srgbClr val="15171C"/>
                </a:solidFill>
                <a:latin typeface="Arial" pitchFamily="34" charset="0"/>
                <a:ea typeface="Arial" pitchFamily="34" charset="-122"/>
                <a:cs typeface="Arial" pitchFamily="34" charset="-120"/>
              </a:rPr>
              <a:t>Addressing </a:t>
            </a:r>
            <a:r>
              <a:rPr lang="en-US" sz="2000" dirty="0">
                <a:solidFill>
                  <a:srgbClr val="33373F"/>
                </a:solidFill>
                <a:latin typeface="Arial" pitchFamily="34" charset="0"/>
                <a:ea typeface="Arial" pitchFamily="34" charset="-122"/>
                <a:cs typeface="Arial" pitchFamily="34" charset="-120"/>
              </a:rPr>
              <a:t>— who you are (IP)</a:t>
            </a:r>
            <a:endParaRPr lang="en-US" sz="1400" dirty="0"/>
          </a:p>
        </p:txBody>
      </p:sp>
      <p:sp>
        <p:nvSpPr>
          <p:cNvPr id="12" name="Shape 10"/>
          <p:cNvSpPr/>
          <p:nvPr/>
        </p:nvSpPr>
        <p:spPr>
          <a:xfrm>
            <a:off x="822960" y="3808580"/>
            <a:ext cx="91440" cy="91440"/>
          </a:xfrm>
          <a:prstGeom prst="ellipse">
            <a:avLst/>
          </a:prstGeom>
          <a:solidFill>
            <a:srgbClr val="2B5187"/>
          </a:solidFill>
          <a:ln/>
        </p:spPr>
        <p:txBody>
          <a:bodyPr/>
          <a:lstStyle/>
          <a:p>
            <a:endParaRPr lang="en-US"/>
          </a:p>
        </p:txBody>
      </p:sp>
      <p:sp>
        <p:nvSpPr>
          <p:cNvPr id="13" name="Text 11"/>
          <p:cNvSpPr/>
          <p:nvPr/>
        </p:nvSpPr>
        <p:spPr>
          <a:xfrm>
            <a:off x="1133856" y="3740000"/>
            <a:ext cx="10150000" cy="760000"/>
          </a:xfrm>
          <a:prstGeom prst="rect">
            <a:avLst/>
          </a:prstGeom>
          <a:noFill/>
          <a:ln/>
        </p:spPr>
        <p:txBody>
          <a:bodyPr wrap="square" lIns="0" tIns="0" rIns="0" bIns="0" rtlCol="0" anchor="t"/>
          <a:lstStyle/>
          <a:p>
            <a:pPr marL="0" indent="0">
              <a:lnSpc>
                <a:spcPct val="103000"/>
              </a:lnSpc>
              <a:buNone/>
            </a:pPr>
            <a:r>
              <a:rPr lang="en-US" sz="2000" b="1" dirty="0">
                <a:solidFill>
                  <a:srgbClr val="15171C"/>
                </a:solidFill>
                <a:latin typeface="Arial" pitchFamily="34" charset="0"/>
                <a:ea typeface="Arial" pitchFamily="34" charset="-122"/>
                <a:cs typeface="Arial" pitchFamily="34" charset="-120"/>
              </a:rPr>
              <a:t>Routing </a:t>
            </a:r>
            <a:r>
              <a:rPr lang="en-US" sz="2000" dirty="0">
                <a:solidFill>
                  <a:srgbClr val="33373F"/>
                </a:solidFill>
                <a:latin typeface="Arial" pitchFamily="34" charset="0"/>
                <a:ea typeface="Arial" pitchFamily="34" charset="-122"/>
                <a:cs typeface="Arial" pitchFamily="34" charset="-120"/>
              </a:rPr>
              <a:t>— how to reach you (BGP)</a:t>
            </a:r>
            <a:endParaRPr lang="en-US" sz="1400" dirty="0"/>
          </a:p>
        </p:txBody>
      </p:sp>
      <p:sp>
        <p:nvSpPr>
          <p:cNvPr id="14" name="Shape 12"/>
          <p:cNvSpPr/>
          <p:nvPr/>
        </p:nvSpPr>
        <p:spPr>
          <a:xfrm>
            <a:off x="822960" y="4688580"/>
            <a:ext cx="91440" cy="91440"/>
          </a:xfrm>
          <a:prstGeom prst="ellipse">
            <a:avLst/>
          </a:prstGeom>
          <a:solidFill>
            <a:srgbClr val="2B5187"/>
          </a:solidFill>
          <a:ln/>
        </p:spPr>
        <p:txBody>
          <a:bodyPr/>
          <a:lstStyle/>
          <a:p>
            <a:endParaRPr lang="en-US"/>
          </a:p>
        </p:txBody>
      </p:sp>
      <p:sp>
        <p:nvSpPr>
          <p:cNvPr id="15" name="Text 13"/>
          <p:cNvSpPr/>
          <p:nvPr/>
        </p:nvSpPr>
        <p:spPr>
          <a:xfrm>
            <a:off x="1133856" y="4620000"/>
            <a:ext cx="10150000" cy="760000"/>
          </a:xfrm>
          <a:prstGeom prst="rect">
            <a:avLst/>
          </a:prstGeom>
          <a:noFill/>
          <a:ln/>
        </p:spPr>
        <p:txBody>
          <a:bodyPr wrap="square" lIns="0" tIns="0" rIns="0" bIns="0" rtlCol="0" anchor="t"/>
          <a:lstStyle/>
          <a:p>
            <a:pPr marL="0" indent="0">
              <a:lnSpc>
                <a:spcPct val="103000"/>
              </a:lnSpc>
              <a:buNone/>
            </a:pPr>
            <a:r>
              <a:rPr lang="en-US" sz="2000" b="1" dirty="0">
                <a:solidFill>
                  <a:srgbClr val="15171C"/>
                </a:solidFill>
                <a:latin typeface="Arial" pitchFamily="34" charset="0"/>
                <a:ea typeface="Arial" pitchFamily="34" charset="-122"/>
                <a:cs typeface="Arial" pitchFamily="34" charset="-120"/>
              </a:rPr>
              <a:t>Naming </a:t>
            </a:r>
            <a:r>
              <a:rPr lang="en-US" sz="2000" dirty="0">
                <a:solidFill>
                  <a:srgbClr val="33373F"/>
                </a:solidFill>
                <a:latin typeface="Arial" pitchFamily="34" charset="0"/>
                <a:ea typeface="Arial" pitchFamily="34" charset="-122"/>
                <a:cs typeface="Arial" pitchFamily="34" charset="-120"/>
              </a:rPr>
              <a:t>— names → addresses (DNS)</a:t>
            </a:r>
            <a:endParaRPr lang="en-US" sz="1400" dirty="0"/>
          </a:p>
        </p:txBody>
      </p:sp>
      <p:sp>
        <p:nvSpPr>
          <p:cNvPr id="16" name="Shape 14"/>
          <p:cNvSpPr/>
          <p:nvPr/>
        </p:nvSpPr>
        <p:spPr>
          <a:xfrm>
            <a:off x="822960" y="5568580"/>
            <a:ext cx="91440" cy="91440"/>
          </a:xfrm>
          <a:prstGeom prst="ellipse">
            <a:avLst/>
          </a:prstGeom>
          <a:solidFill>
            <a:srgbClr val="2B5187"/>
          </a:solidFill>
          <a:ln/>
        </p:spPr>
        <p:txBody>
          <a:bodyPr/>
          <a:lstStyle/>
          <a:p>
            <a:endParaRPr lang="en-US"/>
          </a:p>
        </p:txBody>
      </p:sp>
      <p:sp>
        <p:nvSpPr>
          <p:cNvPr id="17" name="Text 15"/>
          <p:cNvSpPr/>
          <p:nvPr/>
        </p:nvSpPr>
        <p:spPr>
          <a:xfrm>
            <a:off x="1133856" y="5500000"/>
            <a:ext cx="10150000" cy="760000"/>
          </a:xfrm>
          <a:prstGeom prst="rect">
            <a:avLst/>
          </a:prstGeom>
          <a:noFill/>
          <a:ln/>
        </p:spPr>
        <p:txBody>
          <a:bodyPr wrap="square" lIns="0" tIns="0" rIns="0" bIns="0" rtlCol="0" anchor="t"/>
          <a:lstStyle/>
          <a:p>
            <a:pPr marL="0" indent="0">
              <a:lnSpc>
                <a:spcPct val="103000"/>
              </a:lnSpc>
              <a:buNone/>
            </a:pPr>
            <a:r>
              <a:rPr lang="en-US" sz="2000" b="1" dirty="0">
                <a:solidFill>
                  <a:srgbClr val="15171C"/>
                </a:solidFill>
                <a:latin typeface="Arial" pitchFamily="34" charset="0"/>
                <a:ea typeface="Arial" pitchFamily="34" charset="-122"/>
                <a:cs typeface="Arial" pitchFamily="34" charset="-120"/>
              </a:rPr>
              <a:t>Authentication </a:t>
            </a:r>
            <a:r>
              <a:rPr lang="en-US" sz="2000" dirty="0">
                <a:solidFill>
                  <a:srgbClr val="33373F"/>
                </a:solidFill>
                <a:latin typeface="Arial" pitchFamily="34" charset="0"/>
                <a:ea typeface="Arial" pitchFamily="34" charset="-122"/>
                <a:cs typeface="Arial" pitchFamily="34" charset="-120"/>
              </a:rPr>
              <a:t>— proving who you reached (certificates)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8074152" y="384048"/>
            <a:ext cx="3291840" cy="274320"/>
          </a:xfrm>
          <a:prstGeom prst="rect">
            <a:avLst/>
          </a:prstGeom>
          <a:noFill/>
          <a:ln/>
        </p:spPr>
        <p:txBody>
          <a:bodyPr wrap="square" lIns="0" tIns="0" rIns="0" bIns="0" rtlCol="0" anchor="ctr"/>
          <a:lstStyle/>
          <a:p>
            <a:pPr marL="0" indent="0" algn="r">
              <a:buNone/>
            </a:pPr>
            <a:r>
              <a:rPr lang="en-US" sz="1000" b="1" kern="0" spc="120" dirty="0">
                <a:solidFill>
                  <a:srgbClr val="15171C"/>
                </a:solidFill>
                <a:latin typeface="Arial" pitchFamily="34" charset="0"/>
                <a:ea typeface="Arial" pitchFamily="34" charset="-122"/>
                <a:cs typeface="Arial" pitchFamily="34" charset="-120"/>
              </a:rPr>
              <a:t>WEEK 1</a:t>
            </a:r>
            <a:r>
              <a:rPr lang="en-US" sz="1000" kern="0" spc="120" dirty="0">
                <a:solidFill>
                  <a:srgbClr val="6B7280"/>
                </a:solidFill>
                <a:latin typeface="Arial" pitchFamily="34" charset="0"/>
                <a:ea typeface="Arial" pitchFamily="34" charset="-122"/>
                <a:cs typeface="Arial" pitchFamily="34" charset="-120"/>
              </a:rPr>
              <a:t>  ·  BUILDING BLOCK </a:t>
            </a:r>
            <a:r>
              <a:rPr lang="en-US" sz="1000" b="1" kern="0" spc="120" dirty="0">
                <a:solidFill>
                  <a:srgbClr val="2B5187"/>
                </a:solidFill>
                <a:latin typeface="Arial" pitchFamily="34" charset="0"/>
                <a:ea typeface="Arial" pitchFamily="34" charset="-122"/>
                <a:cs typeface="Arial" pitchFamily="34" charset="-120"/>
              </a:rPr>
              <a:t>1</a:t>
            </a:r>
            <a:r>
              <a:rPr lang="en-US" sz="1000" kern="0" spc="120" dirty="0">
                <a:solidFill>
                  <a:srgbClr val="6B7280"/>
                </a:solidFill>
                <a:latin typeface="Arial" pitchFamily="34" charset="0"/>
                <a:ea typeface="Arial" pitchFamily="34" charset="-122"/>
                <a:cs typeface="Arial" pitchFamily="34" charset="-120"/>
              </a:rPr>
              <a:t> / 10</a:t>
            </a:r>
            <a:endParaRPr lang="en-US" sz="1000" dirty="0"/>
          </a:p>
        </p:txBody>
      </p:sp>
      <p:sp>
        <p:nvSpPr>
          <p:cNvPr id="3" name="Text 1"/>
          <p:cNvSpPr/>
          <p:nvPr/>
        </p:nvSpPr>
        <p:spPr>
          <a:xfrm>
            <a:off x="822960" y="640080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Arial" pitchFamily="34" charset="0"/>
                <a:ea typeface="Arial" pitchFamily="34" charset="-122"/>
                <a:cs typeface="Arial" pitchFamily="34" charset="-120"/>
              </a:rPr>
              <a:t>ESCALATE Training Program · Summer 2026</a:t>
            </a:r>
            <a:endParaRPr lang="en-US" sz="900" dirty="0"/>
          </a:p>
        </p:txBody>
      </p:sp>
      <p:sp>
        <p:nvSpPr>
          <p:cNvPr id="5" name="Text 3"/>
          <p:cNvSpPr/>
          <p:nvPr/>
        </p:nvSpPr>
        <p:spPr>
          <a:xfrm>
            <a:off x="822960" y="548640"/>
            <a:ext cx="6400800" cy="274320"/>
          </a:xfrm>
          <a:prstGeom prst="rect">
            <a:avLst/>
          </a:prstGeom>
          <a:noFill/>
          <a:ln/>
        </p:spPr>
        <p:txBody>
          <a:bodyPr wrap="square" lIns="0" tIns="0" rIns="0" bIns="0" rtlCol="0" anchor="t"/>
          <a:lstStyle/>
          <a:p>
            <a:pPr marL="0" indent="0">
              <a:buNone/>
            </a:pPr>
            <a:r>
              <a:rPr lang="en-US" sz="1100" b="1" kern="0" spc="220" dirty="0">
                <a:solidFill>
                  <a:srgbClr val="2B5187"/>
                </a:solidFill>
                <a:latin typeface="Arial" pitchFamily="34" charset="0"/>
                <a:ea typeface="Arial" pitchFamily="34" charset="-122"/>
                <a:cs typeface="Arial" pitchFamily="34" charset="-120"/>
              </a:rPr>
              <a:t>THE FOUR JOBS — AND HOW THEY BREAK</a:t>
            </a:r>
            <a:endParaRPr lang="en-US" sz="1100" dirty="0"/>
          </a:p>
        </p:txBody>
      </p:sp>
      <p:sp>
        <p:nvSpPr>
          <p:cNvPr id="6" name="Text 4"/>
          <p:cNvSpPr/>
          <p:nvPr/>
        </p:nvSpPr>
        <p:spPr>
          <a:xfrm>
            <a:off x="822960" y="868680"/>
            <a:ext cx="10607040" cy="1188720"/>
          </a:xfrm>
          <a:prstGeom prst="rect">
            <a:avLst/>
          </a:prstGeom>
          <a:noFill/>
          <a:ln/>
        </p:spPr>
        <p:txBody>
          <a:bodyPr wrap="square" lIns="0" tIns="0" rIns="0" bIns="0" rtlCol="0" anchor="t"/>
          <a:lstStyle/>
          <a:p>
            <a:pPr marL="0" indent="0">
              <a:lnSpc>
                <a:spcPct val="98000"/>
              </a:lnSpc>
              <a:buNone/>
            </a:pPr>
            <a:r>
              <a:rPr lang="en-US" sz="2900" b="1" dirty="0">
                <a:solidFill>
                  <a:srgbClr val="15171C"/>
                </a:solidFill>
                <a:latin typeface="Arial" pitchFamily="34" charset="0"/>
                <a:ea typeface="Arial" pitchFamily="34" charset="-122"/>
                <a:cs typeface="Arial" pitchFamily="34" charset="-120"/>
              </a:rPr>
              <a:t>Every job is something we can measure</a:t>
            </a:r>
            <a:endParaRPr lang="en-US" sz="2900" dirty="0"/>
          </a:p>
        </p:txBody>
      </p:sp>
      <p:sp>
        <p:nvSpPr>
          <p:cNvPr id="7" name="Shape 5"/>
          <p:cNvSpPr/>
          <p:nvPr/>
        </p:nvSpPr>
        <p:spPr>
          <a:xfrm>
            <a:off x="822960" y="2120000"/>
            <a:ext cx="5111496" cy="2860000"/>
          </a:xfrm>
          <a:prstGeom prst="roundRect">
            <a:avLst>
              <a:gd name="adj" fmla="val 4118"/>
            </a:avLst>
          </a:prstGeom>
          <a:solidFill>
            <a:srgbClr val="FFFFFF"/>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8" name="Text 6"/>
          <p:cNvSpPr/>
          <p:nvPr/>
        </p:nvSpPr>
        <p:spPr>
          <a:xfrm>
            <a:off x="1115568" y="2340000"/>
            <a:ext cx="4526280" cy="365760"/>
          </a:xfrm>
          <a:prstGeom prst="rect">
            <a:avLst/>
          </a:prstGeom>
          <a:noFill/>
          <a:ln/>
        </p:spPr>
        <p:txBody>
          <a:bodyPr wrap="square" lIns="0" tIns="0" rIns="0" bIns="0" rtlCol="0" anchor="ctr"/>
          <a:lstStyle/>
          <a:p>
            <a:pPr marL="0" indent="0">
              <a:buNone/>
            </a:pPr>
            <a:r>
              <a:rPr lang="en-US" sz="2000" b="1" dirty="0">
                <a:solidFill>
                  <a:srgbClr val="2B5187"/>
                </a:solidFill>
                <a:latin typeface="Arial" pitchFamily="34" charset="0"/>
                <a:ea typeface="Arial" pitchFamily="34" charset="-122"/>
                <a:cs typeface="Arial" pitchFamily="34" charset="-120"/>
              </a:rPr>
              <a:t>Addressing</a:t>
            </a:r>
            <a:endParaRPr lang="en-US" sz="1600" dirty="0"/>
          </a:p>
        </p:txBody>
      </p:sp>
      <p:sp>
        <p:nvSpPr>
          <p:cNvPr id="9" name="Text 7"/>
          <p:cNvSpPr/>
          <p:nvPr/>
        </p:nvSpPr>
        <p:spPr>
          <a:xfrm>
            <a:off x="1115568" y="2900000"/>
            <a:ext cx="4526280" cy="1300000"/>
          </a:xfrm>
          <a:prstGeom prst="rect">
            <a:avLst/>
          </a:prstGeom>
          <a:noFill/>
          <a:ln/>
        </p:spPr>
        <p:txBody>
          <a:bodyPr wrap="square" lIns="0" tIns="0" rIns="0" bIns="0" rtlCol="0" anchor="ctr"/>
          <a:lstStyle/>
          <a:p>
            <a:pPr marL="0" indent="0">
              <a:lnSpc>
                <a:spcPct val="105000"/>
              </a:lnSpc>
              <a:buNone/>
            </a:pPr>
            <a:r>
              <a:rPr lang="en-US" sz="2000" dirty="0">
                <a:solidFill>
                  <a:srgbClr val="33373F"/>
                </a:solidFill>
                <a:latin typeface="Arial" pitchFamily="34" charset="0"/>
                <a:ea typeface="Arial" pitchFamily="34" charset="-122"/>
                <a:cs typeface="Arial" pitchFamily="34" charset="-120"/>
              </a:rPr>
              <a:t>Each host/network has IP addresses, handed down from IANA to the registries.</a:t>
            </a:r>
            <a:endParaRPr lang="en-US" sz="1250" dirty="0"/>
          </a:p>
        </p:txBody>
      </p:sp>
      <p:sp>
        <p:nvSpPr>
          <p:cNvPr id="10" name="Text 8"/>
          <p:cNvSpPr/>
          <p:nvPr/>
        </p:nvSpPr>
        <p:spPr>
          <a:xfrm>
            <a:off x="1115568" y="4400000"/>
            <a:ext cx="4526280" cy="520000"/>
          </a:xfrm>
          <a:prstGeom prst="rect">
            <a:avLst/>
          </a:prstGeom>
          <a:noFill/>
          <a:ln/>
        </p:spPr>
        <p:txBody>
          <a:bodyPr wrap="square" lIns="0" tIns="0" rIns="0" bIns="0" rtlCol="0" anchor="ctr"/>
          <a:lstStyle/>
          <a:p>
            <a:pPr marL="0" indent="0">
              <a:buNone/>
            </a:pPr>
            <a:r>
              <a:rPr lang="en-US" sz="2000" b="1" dirty="0">
                <a:solidFill>
                  <a:srgbClr val="DB5B40"/>
                </a:solidFill>
                <a:latin typeface="Arial" pitchFamily="34" charset="0"/>
                <a:ea typeface="Arial" pitchFamily="34" charset="-122"/>
                <a:cs typeface="Arial" pitchFamily="34" charset="-120"/>
              </a:rPr>
              <a:t>Fails as  </a:t>
            </a:r>
            <a:r>
              <a:rPr lang="en-US" sz="2000" dirty="0">
                <a:solidFill>
                  <a:srgbClr val="33373F"/>
                </a:solidFill>
                <a:latin typeface="Arial" pitchFamily="34" charset="0"/>
                <a:ea typeface="Arial" pitchFamily="34" charset="-122"/>
                <a:cs typeface="Arial" pitchFamily="34" charset="-120"/>
              </a:rPr>
              <a:t>Spoofing — forging the source of traffic</a:t>
            </a:r>
            <a:endParaRPr lang="en-US" sz="1150" dirty="0"/>
          </a:p>
        </p:txBody>
      </p:sp>
      <p:sp>
        <p:nvSpPr>
          <p:cNvPr id="11" name="Shape 9"/>
          <p:cNvSpPr/>
          <p:nvPr/>
        </p:nvSpPr>
        <p:spPr>
          <a:xfrm>
            <a:off x="6254496" y="2120000"/>
            <a:ext cx="5111496" cy="2860000"/>
          </a:xfrm>
          <a:prstGeom prst="roundRect">
            <a:avLst>
              <a:gd name="adj" fmla="val 4118"/>
            </a:avLst>
          </a:prstGeom>
          <a:solidFill>
            <a:srgbClr val="FFFFFF"/>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12" name="Text 10"/>
          <p:cNvSpPr/>
          <p:nvPr/>
        </p:nvSpPr>
        <p:spPr>
          <a:xfrm>
            <a:off x="6547104" y="2340000"/>
            <a:ext cx="4526280" cy="365760"/>
          </a:xfrm>
          <a:prstGeom prst="rect">
            <a:avLst/>
          </a:prstGeom>
          <a:noFill/>
          <a:ln/>
        </p:spPr>
        <p:txBody>
          <a:bodyPr wrap="square" lIns="0" tIns="0" rIns="0" bIns="0" rtlCol="0" anchor="ctr"/>
          <a:lstStyle/>
          <a:p>
            <a:pPr marL="0" indent="0">
              <a:buNone/>
            </a:pPr>
            <a:r>
              <a:rPr lang="en-US" sz="2000" b="1" dirty="0">
                <a:solidFill>
                  <a:srgbClr val="2B5187"/>
                </a:solidFill>
                <a:latin typeface="Arial" pitchFamily="34" charset="0"/>
                <a:ea typeface="Arial" pitchFamily="34" charset="-122"/>
                <a:cs typeface="Arial" pitchFamily="34" charset="-120"/>
              </a:rPr>
              <a:t>Routing</a:t>
            </a:r>
            <a:endParaRPr lang="en-US" sz="1600" dirty="0"/>
          </a:p>
        </p:txBody>
      </p:sp>
      <p:sp>
        <p:nvSpPr>
          <p:cNvPr id="13" name="Text 11"/>
          <p:cNvSpPr/>
          <p:nvPr/>
        </p:nvSpPr>
        <p:spPr>
          <a:xfrm>
            <a:off x="6547104" y="2900000"/>
            <a:ext cx="4526280" cy="1300000"/>
          </a:xfrm>
          <a:prstGeom prst="rect">
            <a:avLst/>
          </a:prstGeom>
          <a:noFill/>
          <a:ln/>
        </p:spPr>
        <p:txBody>
          <a:bodyPr wrap="square" lIns="0" tIns="0" rIns="0" bIns="0" rtlCol="0" anchor="ctr"/>
          <a:lstStyle/>
          <a:p>
            <a:pPr marL="0" indent="0">
              <a:lnSpc>
                <a:spcPct val="105000"/>
              </a:lnSpc>
              <a:buNone/>
            </a:pPr>
            <a:r>
              <a:rPr lang="en-US" sz="2000" dirty="0">
                <a:solidFill>
                  <a:srgbClr val="33373F"/>
                </a:solidFill>
                <a:latin typeface="Arial" pitchFamily="34" charset="0"/>
                <a:ea typeface="Arial" pitchFamily="34" charset="-122"/>
                <a:cs typeface="Arial" pitchFamily="34" charset="-120"/>
              </a:rPr>
              <a:t>BGP advertises which networks can reach which address blocks.</a:t>
            </a:r>
            <a:endParaRPr lang="en-US" sz="1250" dirty="0"/>
          </a:p>
        </p:txBody>
      </p:sp>
      <p:sp>
        <p:nvSpPr>
          <p:cNvPr id="14" name="Text 12"/>
          <p:cNvSpPr/>
          <p:nvPr/>
        </p:nvSpPr>
        <p:spPr>
          <a:xfrm>
            <a:off x="6547104" y="4400000"/>
            <a:ext cx="4526280" cy="520000"/>
          </a:xfrm>
          <a:prstGeom prst="rect">
            <a:avLst/>
          </a:prstGeom>
          <a:noFill/>
          <a:ln/>
        </p:spPr>
        <p:txBody>
          <a:bodyPr wrap="square" lIns="0" tIns="0" rIns="0" bIns="0" rtlCol="0" anchor="ctr"/>
          <a:lstStyle/>
          <a:p>
            <a:pPr marL="0" indent="0">
              <a:buNone/>
            </a:pPr>
            <a:r>
              <a:rPr lang="en-US" sz="2000" b="1" dirty="0">
                <a:solidFill>
                  <a:srgbClr val="DB5B40"/>
                </a:solidFill>
                <a:latin typeface="Arial" pitchFamily="34" charset="0"/>
                <a:ea typeface="Arial" pitchFamily="34" charset="-122"/>
                <a:cs typeface="Arial" pitchFamily="34" charset="-120"/>
              </a:rPr>
              <a:t>Fails as  </a:t>
            </a:r>
            <a:r>
              <a:rPr lang="en-US" sz="2000" dirty="0">
                <a:solidFill>
                  <a:srgbClr val="33373F"/>
                </a:solidFill>
                <a:latin typeface="Arial" pitchFamily="34" charset="0"/>
                <a:ea typeface="Arial" pitchFamily="34" charset="-122"/>
                <a:cs typeface="Arial" pitchFamily="34" charset="-120"/>
              </a:rPr>
              <a:t>Hijacks &amp; leaks — traffic sent the wrong way</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8074152" y="384048"/>
            <a:ext cx="3291840" cy="274320"/>
          </a:xfrm>
          <a:prstGeom prst="rect">
            <a:avLst/>
          </a:prstGeom>
          <a:noFill/>
          <a:ln/>
        </p:spPr>
        <p:txBody>
          <a:bodyPr wrap="square" lIns="0" tIns="0" rIns="0" bIns="0" rtlCol="0" anchor="ctr"/>
          <a:lstStyle/>
          <a:p>
            <a:pPr marL="0" indent="0" algn="r">
              <a:buNone/>
            </a:pPr>
            <a:r>
              <a:rPr lang="en-US" sz="1000" b="1" kern="0" spc="120" dirty="0">
                <a:solidFill>
                  <a:srgbClr val="15171C"/>
                </a:solidFill>
                <a:latin typeface="Arial" pitchFamily="34" charset="0"/>
                <a:ea typeface="Arial" pitchFamily="34" charset="-122"/>
                <a:cs typeface="Arial" pitchFamily="34" charset="-120"/>
              </a:rPr>
              <a:t>WEEK 1</a:t>
            </a:r>
            <a:r>
              <a:rPr lang="en-US" sz="1000" kern="0" spc="120" dirty="0">
                <a:solidFill>
                  <a:srgbClr val="6B7280"/>
                </a:solidFill>
                <a:latin typeface="Arial" pitchFamily="34" charset="0"/>
                <a:ea typeface="Arial" pitchFamily="34" charset="-122"/>
                <a:cs typeface="Arial" pitchFamily="34" charset="-120"/>
              </a:rPr>
              <a:t>  ·  BUILDING BLOCK </a:t>
            </a:r>
            <a:r>
              <a:rPr lang="en-US" sz="1000" b="1" kern="0" spc="120" dirty="0">
                <a:solidFill>
                  <a:srgbClr val="2B5187"/>
                </a:solidFill>
                <a:latin typeface="Arial" pitchFamily="34" charset="0"/>
                <a:ea typeface="Arial" pitchFamily="34" charset="-122"/>
                <a:cs typeface="Arial" pitchFamily="34" charset="-120"/>
              </a:rPr>
              <a:t>1</a:t>
            </a:r>
            <a:r>
              <a:rPr lang="en-US" sz="1000" kern="0" spc="120" dirty="0">
                <a:solidFill>
                  <a:srgbClr val="6B7280"/>
                </a:solidFill>
                <a:latin typeface="Arial" pitchFamily="34" charset="0"/>
                <a:ea typeface="Arial" pitchFamily="34" charset="-122"/>
                <a:cs typeface="Arial" pitchFamily="34" charset="-120"/>
              </a:rPr>
              <a:t> / 10</a:t>
            </a:r>
            <a:endParaRPr lang="en-US" sz="1000" dirty="0"/>
          </a:p>
        </p:txBody>
      </p:sp>
      <p:sp>
        <p:nvSpPr>
          <p:cNvPr id="3" name="Text 1"/>
          <p:cNvSpPr/>
          <p:nvPr/>
        </p:nvSpPr>
        <p:spPr>
          <a:xfrm>
            <a:off x="822960" y="640080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Arial" pitchFamily="34" charset="0"/>
                <a:ea typeface="Arial" pitchFamily="34" charset="-122"/>
                <a:cs typeface="Arial" pitchFamily="34" charset="-120"/>
              </a:rPr>
              <a:t>ESCALATE Training Program · Summer 2026</a:t>
            </a:r>
            <a:endParaRPr lang="en-US" sz="900" dirty="0"/>
          </a:p>
        </p:txBody>
      </p:sp>
      <p:sp>
        <p:nvSpPr>
          <p:cNvPr id="5" name="Text 3"/>
          <p:cNvSpPr/>
          <p:nvPr/>
        </p:nvSpPr>
        <p:spPr>
          <a:xfrm>
            <a:off x="822960" y="548640"/>
            <a:ext cx="6400800" cy="274320"/>
          </a:xfrm>
          <a:prstGeom prst="rect">
            <a:avLst/>
          </a:prstGeom>
          <a:noFill/>
          <a:ln/>
        </p:spPr>
        <p:txBody>
          <a:bodyPr wrap="square" lIns="0" tIns="0" rIns="0" bIns="0" rtlCol="0" anchor="t"/>
          <a:lstStyle/>
          <a:p>
            <a:pPr marL="0" indent="0">
              <a:buNone/>
            </a:pPr>
            <a:r>
              <a:rPr lang="en-US" sz="1100" b="1" kern="0" spc="220" dirty="0">
                <a:solidFill>
                  <a:srgbClr val="2B5187"/>
                </a:solidFill>
                <a:latin typeface="Arial" pitchFamily="34" charset="0"/>
                <a:ea typeface="Arial" pitchFamily="34" charset="-122"/>
                <a:cs typeface="Arial" pitchFamily="34" charset="-120"/>
              </a:rPr>
              <a:t>THE FOUR JOBS — AND HOW THEY BREAK</a:t>
            </a:r>
            <a:endParaRPr lang="en-US" sz="1100" dirty="0"/>
          </a:p>
        </p:txBody>
      </p:sp>
      <p:sp>
        <p:nvSpPr>
          <p:cNvPr id="6" name="Text 4"/>
          <p:cNvSpPr/>
          <p:nvPr/>
        </p:nvSpPr>
        <p:spPr>
          <a:xfrm>
            <a:off x="822960" y="868680"/>
            <a:ext cx="10607040" cy="1188720"/>
          </a:xfrm>
          <a:prstGeom prst="rect">
            <a:avLst/>
          </a:prstGeom>
          <a:noFill/>
          <a:ln/>
        </p:spPr>
        <p:txBody>
          <a:bodyPr wrap="square" lIns="0" tIns="0" rIns="0" bIns="0" rtlCol="0" anchor="t"/>
          <a:lstStyle/>
          <a:p>
            <a:pPr marL="0" indent="0">
              <a:lnSpc>
                <a:spcPct val="98000"/>
              </a:lnSpc>
              <a:buNone/>
            </a:pPr>
            <a:r>
              <a:rPr lang="en-US" sz="2900" b="1" dirty="0">
                <a:solidFill>
                  <a:srgbClr val="15171C"/>
                </a:solidFill>
                <a:latin typeface="Arial" pitchFamily="34" charset="0"/>
                <a:ea typeface="Arial" pitchFamily="34" charset="-122"/>
                <a:cs typeface="Arial" pitchFamily="34" charset="-120"/>
              </a:rPr>
              <a:t>Every job is something we can measure (cont.)</a:t>
            </a:r>
            <a:endParaRPr lang="en-US" sz="2900" dirty="0"/>
          </a:p>
        </p:txBody>
      </p:sp>
      <p:sp>
        <p:nvSpPr>
          <p:cNvPr id="15" name="Shape 13"/>
          <p:cNvSpPr/>
          <p:nvPr/>
        </p:nvSpPr>
        <p:spPr>
          <a:xfrm>
            <a:off x="822960" y="2120000"/>
            <a:ext cx="5111496" cy="2860000"/>
          </a:xfrm>
          <a:prstGeom prst="roundRect">
            <a:avLst>
              <a:gd name="adj" fmla="val 4118"/>
            </a:avLst>
          </a:prstGeom>
          <a:solidFill>
            <a:srgbClr val="FFFFFF"/>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16" name="Text 14"/>
          <p:cNvSpPr/>
          <p:nvPr/>
        </p:nvSpPr>
        <p:spPr>
          <a:xfrm>
            <a:off x="1115568" y="2340000"/>
            <a:ext cx="4526280" cy="365760"/>
          </a:xfrm>
          <a:prstGeom prst="rect">
            <a:avLst/>
          </a:prstGeom>
          <a:noFill/>
          <a:ln/>
        </p:spPr>
        <p:txBody>
          <a:bodyPr wrap="square" lIns="0" tIns="0" rIns="0" bIns="0" rtlCol="0" anchor="ctr"/>
          <a:lstStyle/>
          <a:p>
            <a:pPr marL="0" indent="0">
              <a:buNone/>
            </a:pPr>
            <a:r>
              <a:rPr lang="en-US" sz="2000" b="1" dirty="0">
                <a:solidFill>
                  <a:srgbClr val="2B5187"/>
                </a:solidFill>
                <a:latin typeface="Arial" pitchFamily="34" charset="0"/>
                <a:ea typeface="Arial" pitchFamily="34" charset="-122"/>
                <a:cs typeface="Arial" pitchFamily="34" charset="-120"/>
              </a:rPr>
              <a:t>Naming</a:t>
            </a:r>
            <a:endParaRPr lang="en-US" sz="1600" dirty="0"/>
          </a:p>
        </p:txBody>
      </p:sp>
      <p:sp>
        <p:nvSpPr>
          <p:cNvPr id="17" name="Text 15"/>
          <p:cNvSpPr/>
          <p:nvPr/>
        </p:nvSpPr>
        <p:spPr>
          <a:xfrm>
            <a:off x="1115568" y="2900000"/>
            <a:ext cx="4526280" cy="1300000"/>
          </a:xfrm>
          <a:prstGeom prst="rect">
            <a:avLst/>
          </a:prstGeom>
          <a:noFill/>
          <a:ln/>
        </p:spPr>
        <p:txBody>
          <a:bodyPr wrap="square" lIns="0" tIns="0" rIns="0" bIns="0" rtlCol="0" anchor="ctr"/>
          <a:lstStyle/>
          <a:p>
            <a:pPr marL="0" indent="0">
              <a:lnSpc>
                <a:spcPct val="105000"/>
              </a:lnSpc>
              <a:buNone/>
            </a:pPr>
            <a:r>
              <a:rPr lang="en-US" sz="2000" dirty="0">
                <a:solidFill>
                  <a:srgbClr val="33373F"/>
                </a:solidFill>
                <a:latin typeface="Arial" pitchFamily="34" charset="0"/>
                <a:ea typeface="Arial" pitchFamily="34" charset="-122"/>
                <a:cs typeface="Arial" pitchFamily="34" charset="-120"/>
              </a:rPr>
              <a:t>DNS turns names into addresses through a chain of servers.</a:t>
            </a:r>
            <a:endParaRPr lang="en-US" sz="1250" dirty="0"/>
          </a:p>
        </p:txBody>
      </p:sp>
      <p:sp>
        <p:nvSpPr>
          <p:cNvPr id="18" name="Text 16"/>
          <p:cNvSpPr/>
          <p:nvPr/>
        </p:nvSpPr>
        <p:spPr>
          <a:xfrm>
            <a:off x="1115568" y="4400000"/>
            <a:ext cx="4526280" cy="520000"/>
          </a:xfrm>
          <a:prstGeom prst="rect">
            <a:avLst/>
          </a:prstGeom>
          <a:noFill/>
          <a:ln/>
        </p:spPr>
        <p:txBody>
          <a:bodyPr wrap="square" lIns="0" tIns="0" rIns="0" bIns="0" rtlCol="0" anchor="ctr"/>
          <a:lstStyle/>
          <a:p>
            <a:pPr marL="0" indent="0">
              <a:buNone/>
            </a:pPr>
            <a:r>
              <a:rPr lang="en-US" sz="2000" b="1" dirty="0">
                <a:solidFill>
                  <a:srgbClr val="DB5B40"/>
                </a:solidFill>
                <a:latin typeface="Arial" pitchFamily="34" charset="0"/>
                <a:ea typeface="Arial" pitchFamily="34" charset="-122"/>
                <a:cs typeface="Arial" pitchFamily="34" charset="-120"/>
              </a:rPr>
              <a:t>Fails as  </a:t>
            </a:r>
            <a:r>
              <a:rPr lang="en-US" sz="2000" dirty="0">
                <a:solidFill>
                  <a:srgbClr val="33373F"/>
                </a:solidFill>
                <a:latin typeface="Arial" pitchFamily="34" charset="0"/>
                <a:ea typeface="Arial" pitchFamily="34" charset="-122"/>
                <a:cs typeface="Arial" pitchFamily="34" charset="-120"/>
              </a:rPr>
              <a:t>Cache poisoning — wrong answers returned</a:t>
            </a:r>
            <a:endParaRPr lang="en-US" sz="1150" dirty="0"/>
          </a:p>
        </p:txBody>
      </p:sp>
      <p:sp>
        <p:nvSpPr>
          <p:cNvPr id="19" name="Shape 17"/>
          <p:cNvSpPr/>
          <p:nvPr/>
        </p:nvSpPr>
        <p:spPr>
          <a:xfrm>
            <a:off x="6254496" y="2120000"/>
            <a:ext cx="5111496" cy="2860000"/>
          </a:xfrm>
          <a:prstGeom prst="roundRect">
            <a:avLst>
              <a:gd name="adj" fmla="val 4118"/>
            </a:avLst>
          </a:prstGeom>
          <a:solidFill>
            <a:srgbClr val="FFFFFF"/>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20" name="Text 18"/>
          <p:cNvSpPr/>
          <p:nvPr/>
        </p:nvSpPr>
        <p:spPr>
          <a:xfrm>
            <a:off x="6547104" y="2340000"/>
            <a:ext cx="4526280" cy="365760"/>
          </a:xfrm>
          <a:prstGeom prst="rect">
            <a:avLst/>
          </a:prstGeom>
          <a:noFill/>
          <a:ln/>
        </p:spPr>
        <p:txBody>
          <a:bodyPr wrap="square" lIns="0" tIns="0" rIns="0" bIns="0" rtlCol="0" anchor="ctr"/>
          <a:lstStyle/>
          <a:p>
            <a:pPr marL="0" indent="0">
              <a:buNone/>
            </a:pPr>
            <a:r>
              <a:rPr lang="en-US" sz="2000" b="1" dirty="0">
                <a:solidFill>
                  <a:srgbClr val="2B5187"/>
                </a:solidFill>
                <a:latin typeface="Arial" pitchFamily="34" charset="0"/>
                <a:ea typeface="Arial" pitchFamily="34" charset="-122"/>
                <a:cs typeface="Arial" pitchFamily="34" charset="-120"/>
              </a:rPr>
              <a:t>Authentication</a:t>
            </a:r>
            <a:endParaRPr lang="en-US" sz="1600" dirty="0"/>
          </a:p>
        </p:txBody>
      </p:sp>
      <p:sp>
        <p:nvSpPr>
          <p:cNvPr id="21" name="Text 19"/>
          <p:cNvSpPr/>
          <p:nvPr/>
        </p:nvSpPr>
        <p:spPr>
          <a:xfrm>
            <a:off x="6547104" y="2900000"/>
            <a:ext cx="4526280" cy="1300000"/>
          </a:xfrm>
          <a:prstGeom prst="rect">
            <a:avLst/>
          </a:prstGeom>
          <a:noFill/>
          <a:ln/>
        </p:spPr>
        <p:txBody>
          <a:bodyPr wrap="square" lIns="0" tIns="0" rIns="0" bIns="0" rtlCol="0" anchor="ctr"/>
          <a:lstStyle/>
          <a:p>
            <a:pPr marL="0" indent="0">
              <a:lnSpc>
                <a:spcPct val="105000"/>
              </a:lnSpc>
              <a:buNone/>
            </a:pPr>
            <a:r>
              <a:rPr lang="en-US" sz="2000" dirty="0">
                <a:solidFill>
                  <a:srgbClr val="33373F"/>
                </a:solidFill>
                <a:latin typeface="Arial" pitchFamily="34" charset="0"/>
                <a:ea typeface="Arial" pitchFamily="34" charset="-122"/>
                <a:cs typeface="Arial" pitchFamily="34" charset="-120"/>
              </a:rPr>
              <a:t>Certificates prove you reached who you intended.</a:t>
            </a:r>
            <a:endParaRPr lang="en-US" sz="1250" dirty="0"/>
          </a:p>
        </p:txBody>
      </p:sp>
      <p:sp>
        <p:nvSpPr>
          <p:cNvPr id="22" name="Text 20"/>
          <p:cNvSpPr/>
          <p:nvPr/>
        </p:nvSpPr>
        <p:spPr>
          <a:xfrm>
            <a:off x="6547104" y="4400000"/>
            <a:ext cx="4526280" cy="520000"/>
          </a:xfrm>
          <a:prstGeom prst="rect">
            <a:avLst/>
          </a:prstGeom>
          <a:noFill/>
          <a:ln/>
        </p:spPr>
        <p:txBody>
          <a:bodyPr wrap="square" lIns="0" tIns="0" rIns="0" bIns="0" rtlCol="0" anchor="ctr"/>
          <a:lstStyle/>
          <a:p>
            <a:pPr marL="0" indent="0">
              <a:buNone/>
            </a:pPr>
            <a:r>
              <a:rPr lang="en-US" sz="2000" b="1" dirty="0">
                <a:solidFill>
                  <a:srgbClr val="DB5B40"/>
                </a:solidFill>
                <a:latin typeface="Arial" pitchFamily="34" charset="0"/>
                <a:ea typeface="Arial" pitchFamily="34" charset="-122"/>
                <a:cs typeface="Arial" pitchFamily="34" charset="-120"/>
              </a:rPr>
              <a:t>Fails as  </a:t>
            </a:r>
            <a:r>
              <a:rPr lang="en-US" sz="2000" dirty="0">
                <a:solidFill>
                  <a:srgbClr val="33373F"/>
                </a:solidFill>
                <a:latin typeface="Arial" pitchFamily="34" charset="0"/>
                <a:ea typeface="Arial" pitchFamily="34" charset="-122"/>
                <a:cs typeface="Arial" pitchFamily="34" charset="-120"/>
              </a:rPr>
              <a:t>Mis-issuance — a forged identity accepted</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8074152" y="384048"/>
            <a:ext cx="3291840" cy="274320"/>
          </a:xfrm>
          <a:prstGeom prst="rect">
            <a:avLst/>
          </a:prstGeom>
          <a:noFill/>
          <a:ln/>
        </p:spPr>
        <p:txBody>
          <a:bodyPr wrap="square" lIns="0" tIns="0" rIns="0" bIns="0" rtlCol="0" anchor="ctr"/>
          <a:lstStyle/>
          <a:p>
            <a:pPr marL="0" indent="0" algn="r">
              <a:buNone/>
            </a:pPr>
            <a:r>
              <a:rPr lang="en-US" sz="1000" b="1" kern="0" spc="120" dirty="0">
                <a:solidFill>
                  <a:srgbClr val="15171C"/>
                </a:solidFill>
                <a:latin typeface="Arial" pitchFamily="34" charset="0"/>
                <a:ea typeface="Arial" pitchFamily="34" charset="-122"/>
                <a:cs typeface="Arial" pitchFamily="34" charset="-120"/>
              </a:rPr>
              <a:t>WEEK 1</a:t>
            </a:r>
            <a:r>
              <a:rPr lang="en-US" sz="1000" kern="0" spc="120" dirty="0">
                <a:solidFill>
                  <a:srgbClr val="6B7280"/>
                </a:solidFill>
                <a:latin typeface="Arial" pitchFamily="34" charset="0"/>
                <a:ea typeface="Arial" pitchFamily="34" charset="-122"/>
                <a:cs typeface="Arial" pitchFamily="34" charset="-120"/>
              </a:rPr>
              <a:t>  ·  BUILDING BLOCK </a:t>
            </a:r>
            <a:r>
              <a:rPr lang="en-US" sz="1000" b="1" kern="0" spc="120" dirty="0">
                <a:solidFill>
                  <a:srgbClr val="2B5187"/>
                </a:solidFill>
                <a:latin typeface="Arial" pitchFamily="34" charset="0"/>
                <a:ea typeface="Arial" pitchFamily="34" charset="-122"/>
                <a:cs typeface="Arial" pitchFamily="34" charset="-120"/>
              </a:rPr>
              <a:t>1</a:t>
            </a:r>
            <a:r>
              <a:rPr lang="en-US" sz="1000" kern="0" spc="120" dirty="0">
                <a:solidFill>
                  <a:srgbClr val="6B7280"/>
                </a:solidFill>
                <a:latin typeface="Arial" pitchFamily="34" charset="0"/>
                <a:ea typeface="Arial" pitchFamily="34" charset="-122"/>
                <a:cs typeface="Arial" pitchFamily="34" charset="-120"/>
              </a:rPr>
              <a:t> / 10</a:t>
            </a:r>
            <a:endParaRPr lang="en-US" sz="1000" dirty="0"/>
          </a:p>
        </p:txBody>
      </p:sp>
      <p:sp>
        <p:nvSpPr>
          <p:cNvPr id="3" name="Text 1"/>
          <p:cNvSpPr/>
          <p:nvPr/>
        </p:nvSpPr>
        <p:spPr>
          <a:xfrm>
            <a:off x="822960" y="640080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Arial" pitchFamily="34" charset="0"/>
                <a:ea typeface="Arial" pitchFamily="34" charset="-122"/>
                <a:cs typeface="Arial" pitchFamily="34" charset="-120"/>
              </a:rPr>
              <a:t>ESCALATE Training Program · Summer 2026</a:t>
            </a:r>
            <a:endParaRPr lang="en-US" sz="900" dirty="0"/>
          </a:p>
        </p:txBody>
      </p:sp>
      <p:sp>
        <p:nvSpPr>
          <p:cNvPr id="5" name="Text 3"/>
          <p:cNvSpPr/>
          <p:nvPr/>
        </p:nvSpPr>
        <p:spPr>
          <a:xfrm>
            <a:off x="822960" y="548640"/>
            <a:ext cx="5486400" cy="274320"/>
          </a:xfrm>
          <a:prstGeom prst="rect">
            <a:avLst/>
          </a:prstGeom>
          <a:noFill/>
          <a:ln/>
        </p:spPr>
        <p:txBody>
          <a:bodyPr wrap="square" lIns="0" tIns="0" rIns="0" bIns="0" rtlCol="0" anchor="t"/>
          <a:lstStyle/>
          <a:p>
            <a:pPr marL="0" indent="0">
              <a:buNone/>
            </a:pPr>
            <a:r>
              <a:rPr lang="en-US" sz="1100" b="1" kern="0" spc="220" dirty="0">
                <a:solidFill>
                  <a:srgbClr val="2B5187"/>
                </a:solidFill>
                <a:latin typeface="Arial" pitchFamily="34" charset="0"/>
                <a:ea typeface="Arial" pitchFamily="34" charset="-122"/>
                <a:cs typeface="Arial" pitchFamily="34" charset="-120"/>
              </a:rPr>
              <a:t>INTERNET STRUCTURE · ASNs</a:t>
            </a:r>
            <a:endParaRPr lang="en-US" sz="1100" dirty="0"/>
          </a:p>
        </p:txBody>
      </p:sp>
      <p:sp>
        <p:nvSpPr>
          <p:cNvPr id="6" name="Text 4"/>
          <p:cNvSpPr/>
          <p:nvPr/>
        </p:nvSpPr>
        <p:spPr>
          <a:xfrm>
            <a:off x="822960" y="868680"/>
            <a:ext cx="7315200" cy="1188720"/>
          </a:xfrm>
          <a:prstGeom prst="rect">
            <a:avLst/>
          </a:prstGeom>
          <a:noFill/>
          <a:ln/>
        </p:spPr>
        <p:txBody>
          <a:bodyPr wrap="square" lIns="0" tIns="0" rIns="0" bIns="0" rtlCol="0" anchor="t"/>
          <a:lstStyle/>
          <a:p>
            <a:pPr marL="0" indent="0">
              <a:lnSpc>
                <a:spcPct val="98000"/>
              </a:lnSpc>
              <a:buNone/>
            </a:pPr>
            <a:r>
              <a:rPr lang="en-US" sz="3000" b="1" dirty="0">
                <a:solidFill>
                  <a:srgbClr val="15171C"/>
                </a:solidFill>
                <a:latin typeface="Arial" pitchFamily="34" charset="0"/>
                <a:ea typeface="Arial" pitchFamily="34" charset="-122"/>
                <a:cs typeface="Arial" pitchFamily="34" charset="-120"/>
              </a:rPr>
              <a:t>Autonomous Systems &amp; ASNs</a:t>
            </a:r>
            <a:endParaRPr lang="en-US" sz="3000" dirty="0"/>
          </a:p>
        </p:txBody>
      </p:sp>
      <p:sp>
        <p:nvSpPr>
          <p:cNvPr id="7" name="Shape 5"/>
          <p:cNvSpPr/>
          <p:nvPr/>
        </p:nvSpPr>
        <p:spPr>
          <a:xfrm>
            <a:off x="822960" y="2118580"/>
            <a:ext cx="91440" cy="91440"/>
          </a:xfrm>
          <a:prstGeom prst="ellipse">
            <a:avLst/>
          </a:prstGeom>
          <a:solidFill>
            <a:srgbClr val="2B5187"/>
          </a:solidFill>
          <a:ln/>
        </p:spPr>
        <p:txBody>
          <a:bodyPr/>
          <a:lstStyle/>
          <a:p>
            <a:endParaRPr lang="en-US"/>
          </a:p>
        </p:txBody>
      </p:sp>
      <p:sp>
        <p:nvSpPr>
          <p:cNvPr id="8" name="Text 6"/>
          <p:cNvSpPr/>
          <p:nvPr/>
        </p:nvSpPr>
        <p:spPr>
          <a:xfrm>
            <a:off x="1133856" y="2050000"/>
            <a:ext cx="6300000" cy="1040000"/>
          </a:xfrm>
          <a:prstGeom prst="rect">
            <a:avLst/>
          </a:prstGeom>
          <a:noFill/>
          <a:ln/>
        </p:spPr>
        <p:txBody>
          <a:bodyPr wrap="square" lIns="0" tIns="0" rIns="0" bIns="0" rtlCol="0" anchor="t"/>
          <a:lstStyle/>
          <a:p>
            <a:pPr marL="0" indent="0">
              <a:lnSpc>
                <a:spcPct val="103000"/>
              </a:lnSpc>
              <a:buNone/>
            </a:pPr>
            <a:r>
              <a:rPr lang="en-US" sz="2000" dirty="0">
                <a:solidFill>
                  <a:srgbClr val="33373F"/>
                </a:solidFill>
                <a:latin typeface="Arial" pitchFamily="34" charset="0"/>
                <a:ea typeface="Arial" pitchFamily="34" charset="-122"/>
                <a:cs typeface="Arial" pitchFamily="34" charset="-120"/>
              </a:rPr>
              <a:t>An </a:t>
            </a:r>
            <a:r>
              <a:rPr lang="en-US" sz="2000" b="1" dirty="0">
                <a:solidFill>
                  <a:srgbClr val="15171C"/>
                </a:solidFill>
                <a:latin typeface="Arial" pitchFamily="34" charset="0"/>
                <a:ea typeface="Arial" pitchFamily="34" charset="-122"/>
                <a:cs typeface="Arial" pitchFamily="34" charset="-120"/>
              </a:rPr>
              <a:t>Autonomous System (AS) </a:t>
            </a:r>
            <a:r>
              <a:rPr lang="en-US" sz="2000" dirty="0">
                <a:solidFill>
                  <a:srgbClr val="33373F"/>
                </a:solidFill>
                <a:latin typeface="Arial" pitchFamily="34" charset="0"/>
                <a:ea typeface="Arial" pitchFamily="34" charset="-122"/>
                <a:cs typeface="Arial" pitchFamily="34" charset="-120"/>
              </a:rPr>
              <a:t>is an independently operated network — a set of IP prefixes under one routing policy.</a:t>
            </a:r>
            <a:endParaRPr lang="en-US" sz="1500" dirty="0"/>
          </a:p>
        </p:txBody>
      </p:sp>
      <p:sp>
        <p:nvSpPr>
          <p:cNvPr id="9" name="Shape 7"/>
          <p:cNvSpPr/>
          <p:nvPr/>
        </p:nvSpPr>
        <p:spPr>
          <a:xfrm>
            <a:off x="822960" y="3668580"/>
            <a:ext cx="91440" cy="91440"/>
          </a:xfrm>
          <a:prstGeom prst="ellipse">
            <a:avLst/>
          </a:prstGeom>
          <a:solidFill>
            <a:srgbClr val="2B5187"/>
          </a:solidFill>
          <a:ln/>
        </p:spPr>
        <p:txBody>
          <a:bodyPr/>
          <a:lstStyle/>
          <a:p>
            <a:endParaRPr lang="en-US"/>
          </a:p>
        </p:txBody>
      </p:sp>
      <p:sp>
        <p:nvSpPr>
          <p:cNvPr id="10" name="Text 8"/>
          <p:cNvSpPr/>
          <p:nvPr/>
        </p:nvSpPr>
        <p:spPr>
          <a:xfrm>
            <a:off x="1133856" y="3600000"/>
            <a:ext cx="6300000" cy="1040000"/>
          </a:xfrm>
          <a:prstGeom prst="rect">
            <a:avLst/>
          </a:prstGeom>
          <a:noFill/>
          <a:ln/>
        </p:spPr>
        <p:txBody>
          <a:bodyPr wrap="square" lIns="0" tIns="0" rIns="0" bIns="0" rtlCol="0" anchor="t"/>
          <a:lstStyle/>
          <a:p>
            <a:pPr marL="0" indent="0">
              <a:lnSpc>
                <a:spcPct val="103000"/>
              </a:lnSpc>
              <a:buNone/>
            </a:pPr>
            <a:r>
              <a:rPr lang="en-US" sz="2000" dirty="0">
                <a:solidFill>
                  <a:srgbClr val="33373F"/>
                </a:solidFill>
                <a:latin typeface="Arial" pitchFamily="34" charset="0"/>
                <a:ea typeface="Arial" pitchFamily="34" charset="-122"/>
                <a:cs typeface="Arial" pitchFamily="34" charset="-120"/>
              </a:rPr>
              <a:t>Each AS has a globally unique </a:t>
            </a:r>
            <a:r>
              <a:rPr lang="en-US" sz="2000" b="1" dirty="0">
                <a:solidFill>
                  <a:srgbClr val="15171C"/>
                </a:solidFill>
                <a:latin typeface="Arial" pitchFamily="34" charset="0"/>
                <a:ea typeface="Arial" pitchFamily="34" charset="-122"/>
                <a:cs typeface="Arial" pitchFamily="34" charset="-120"/>
              </a:rPr>
              <a:t>ASN</a:t>
            </a:r>
            <a:r>
              <a:rPr lang="en-US" sz="2000" dirty="0">
                <a:solidFill>
                  <a:srgbClr val="33373F"/>
                </a:solidFill>
                <a:latin typeface="Arial" pitchFamily="34" charset="0"/>
                <a:ea typeface="Arial" pitchFamily="34" charset="-122"/>
                <a:cs typeface="Arial" pitchFamily="34" charset="-120"/>
              </a:rPr>
              <a:t>, allocated by a Regional Internet Registry.</a:t>
            </a:r>
            <a:endParaRPr lang="en-US" sz="1500" dirty="0"/>
          </a:p>
        </p:txBody>
      </p:sp>
      <p:sp>
        <p:nvSpPr>
          <p:cNvPr id="15" name="Shape 13"/>
          <p:cNvSpPr/>
          <p:nvPr/>
        </p:nvSpPr>
        <p:spPr>
          <a:xfrm flipH="1">
            <a:off x="8138160" y="2926080"/>
            <a:ext cx="1005840" cy="1060704"/>
          </a:xfrm>
          <a:prstGeom prst="line">
            <a:avLst/>
          </a:prstGeom>
          <a:noFill/>
          <a:ln w="25400">
            <a:solidFill>
              <a:srgbClr val="B4C6E4"/>
            </a:solidFill>
            <a:prstDash val="solid"/>
          </a:ln>
        </p:spPr>
        <p:txBody>
          <a:bodyPr/>
          <a:lstStyle/>
          <a:p>
            <a:endParaRPr lang="en-US"/>
          </a:p>
        </p:txBody>
      </p:sp>
      <p:sp>
        <p:nvSpPr>
          <p:cNvPr id="16" name="Shape 14"/>
          <p:cNvSpPr/>
          <p:nvPr/>
        </p:nvSpPr>
        <p:spPr>
          <a:xfrm>
            <a:off x="9144000" y="2926080"/>
            <a:ext cx="914" cy="1060704"/>
          </a:xfrm>
          <a:prstGeom prst="line">
            <a:avLst/>
          </a:prstGeom>
          <a:noFill/>
          <a:ln w="25400">
            <a:solidFill>
              <a:srgbClr val="B4C6E4"/>
            </a:solidFill>
            <a:prstDash val="solid"/>
          </a:ln>
        </p:spPr>
        <p:txBody>
          <a:bodyPr/>
          <a:lstStyle/>
          <a:p>
            <a:endParaRPr lang="en-US"/>
          </a:p>
        </p:txBody>
      </p:sp>
      <p:sp>
        <p:nvSpPr>
          <p:cNvPr id="17" name="Shape 15"/>
          <p:cNvSpPr/>
          <p:nvPr/>
        </p:nvSpPr>
        <p:spPr>
          <a:xfrm>
            <a:off x="9144000" y="2926080"/>
            <a:ext cx="1005840" cy="1060704"/>
          </a:xfrm>
          <a:prstGeom prst="line">
            <a:avLst/>
          </a:prstGeom>
          <a:noFill/>
          <a:ln w="25400">
            <a:solidFill>
              <a:srgbClr val="B4C6E4"/>
            </a:solidFill>
            <a:prstDash val="solid"/>
          </a:ln>
        </p:spPr>
        <p:txBody>
          <a:bodyPr/>
          <a:lstStyle/>
          <a:p>
            <a:endParaRPr lang="en-US"/>
          </a:p>
        </p:txBody>
      </p:sp>
      <p:sp>
        <p:nvSpPr>
          <p:cNvPr id="18" name="Shape 16"/>
          <p:cNvSpPr/>
          <p:nvPr/>
        </p:nvSpPr>
        <p:spPr>
          <a:xfrm>
            <a:off x="8229600" y="2423160"/>
            <a:ext cx="1828800" cy="502920"/>
          </a:xfrm>
          <a:prstGeom prst="roundRect">
            <a:avLst>
              <a:gd name="adj" fmla="val 10909"/>
            </a:avLst>
          </a:prstGeom>
          <a:solidFill>
            <a:srgbClr val="2B5187"/>
          </a:solidFill>
          <a:ln/>
        </p:spPr>
        <p:txBody>
          <a:bodyPr/>
          <a:lstStyle/>
          <a:p>
            <a:endParaRPr lang="en-US"/>
          </a:p>
        </p:txBody>
      </p:sp>
      <p:sp>
        <p:nvSpPr>
          <p:cNvPr id="19" name="Text 17"/>
          <p:cNvSpPr/>
          <p:nvPr/>
        </p:nvSpPr>
        <p:spPr>
          <a:xfrm>
            <a:off x="8229600" y="2468880"/>
            <a:ext cx="1828800" cy="411480"/>
          </a:xfrm>
          <a:prstGeom prst="rect">
            <a:avLst/>
          </a:prstGeom>
          <a:noFill/>
          <a:ln/>
        </p:spPr>
        <p:txBody>
          <a:bodyPr wrap="square" lIns="0" tIns="0" rIns="0" bIns="0"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Organization</a:t>
            </a:r>
            <a:endParaRPr lang="en-US" sz="1200" dirty="0"/>
          </a:p>
        </p:txBody>
      </p:sp>
      <p:sp>
        <p:nvSpPr>
          <p:cNvPr id="20" name="Shape 18"/>
          <p:cNvSpPr/>
          <p:nvPr/>
        </p:nvSpPr>
        <p:spPr>
          <a:xfrm>
            <a:off x="7991856" y="3840480"/>
            <a:ext cx="292608" cy="292608"/>
          </a:xfrm>
          <a:prstGeom prst="ellipse">
            <a:avLst/>
          </a:prstGeom>
          <a:solidFill>
            <a:srgbClr val="2B5187"/>
          </a:solidFill>
          <a:ln/>
        </p:spPr>
        <p:txBody>
          <a:bodyPr/>
          <a:lstStyle/>
          <a:p>
            <a:endParaRPr lang="en-US"/>
          </a:p>
        </p:txBody>
      </p:sp>
      <p:sp>
        <p:nvSpPr>
          <p:cNvPr id="21" name="Text 19"/>
          <p:cNvSpPr/>
          <p:nvPr/>
        </p:nvSpPr>
        <p:spPr>
          <a:xfrm>
            <a:off x="7991856" y="3877056"/>
            <a:ext cx="292608"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AS</a:t>
            </a:r>
            <a:endParaRPr lang="en-US" sz="800" dirty="0"/>
          </a:p>
        </p:txBody>
      </p:sp>
      <p:sp>
        <p:nvSpPr>
          <p:cNvPr id="22" name="Shape 20"/>
          <p:cNvSpPr/>
          <p:nvPr/>
        </p:nvSpPr>
        <p:spPr>
          <a:xfrm>
            <a:off x="8997696" y="3840480"/>
            <a:ext cx="292608" cy="292608"/>
          </a:xfrm>
          <a:prstGeom prst="ellipse">
            <a:avLst/>
          </a:prstGeom>
          <a:solidFill>
            <a:srgbClr val="2B5187"/>
          </a:solidFill>
          <a:ln/>
        </p:spPr>
        <p:txBody>
          <a:bodyPr/>
          <a:lstStyle/>
          <a:p>
            <a:endParaRPr lang="en-US"/>
          </a:p>
        </p:txBody>
      </p:sp>
      <p:sp>
        <p:nvSpPr>
          <p:cNvPr id="23" name="Text 21"/>
          <p:cNvSpPr/>
          <p:nvPr/>
        </p:nvSpPr>
        <p:spPr>
          <a:xfrm>
            <a:off x="8997696" y="3877056"/>
            <a:ext cx="292608"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AS</a:t>
            </a:r>
            <a:endParaRPr lang="en-US" sz="800" dirty="0"/>
          </a:p>
        </p:txBody>
      </p:sp>
      <p:sp>
        <p:nvSpPr>
          <p:cNvPr id="24" name="Shape 22"/>
          <p:cNvSpPr/>
          <p:nvPr/>
        </p:nvSpPr>
        <p:spPr>
          <a:xfrm>
            <a:off x="10003536" y="3840480"/>
            <a:ext cx="292608" cy="292608"/>
          </a:xfrm>
          <a:prstGeom prst="ellipse">
            <a:avLst/>
          </a:prstGeom>
          <a:solidFill>
            <a:srgbClr val="2B5187"/>
          </a:solidFill>
          <a:ln/>
        </p:spPr>
        <p:txBody>
          <a:bodyPr/>
          <a:lstStyle/>
          <a:p>
            <a:endParaRPr lang="en-US"/>
          </a:p>
        </p:txBody>
      </p:sp>
      <p:sp>
        <p:nvSpPr>
          <p:cNvPr id="25" name="Text 23"/>
          <p:cNvSpPr/>
          <p:nvPr/>
        </p:nvSpPr>
        <p:spPr>
          <a:xfrm>
            <a:off x="10003536" y="3877056"/>
            <a:ext cx="292608"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AS</a:t>
            </a:r>
            <a:endParaRPr lang="en-US" sz="800" dirty="0"/>
          </a:p>
        </p:txBody>
      </p:sp>
      <p:sp>
        <p:nvSpPr>
          <p:cNvPr id="26" name="Text 24"/>
          <p:cNvSpPr/>
          <p:nvPr/>
        </p:nvSpPr>
        <p:spPr>
          <a:xfrm>
            <a:off x="7863840" y="4251960"/>
            <a:ext cx="2560320" cy="274320"/>
          </a:xfrm>
          <a:prstGeom prst="rect">
            <a:avLst/>
          </a:prstGeom>
          <a:noFill/>
          <a:ln/>
        </p:spPr>
        <p:txBody>
          <a:bodyPr wrap="square" lIns="0" tIns="0" rIns="0" bIns="0" rtlCol="0" anchor="ctr"/>
          <a:lstStyle/>
          <a:p>
            <a:pPr marL="0" indent="0" algn="ctr">
              <a:buNone/>
            </a:pPr>
            <a:r>
              <a:rPr lang="en-US" sz="1300" dirty="0">
                <a:solidFill>
                  <a:srgbClr val="6B7280"/>
                </a:solidFill>
                <a:latin typeface="Consolas" pitchFamily="34" charset="0"/>
                <a:ea typeface="Consolas" pitchFamily="34" charset="-122"/>
                <a:cs typeface="Consolas" pitchFamily="34" charset="-120"/>
              </a:rPr>
              <a:t>one org, several ASNs</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8074152" y="384048"/>
            <a:ext cx="3291840" cy="274320"/>
          </a:xfrm>
          <a:prstGeom prst="rect">
            <a:avLst/>
          </a:prstGeom>
          <a:noFill/>
          <a:ln/>
        </p:spPr>
        <p:txBody>
          <a:bodyPr wrap="square" lIns="0" tIns="0" rIns="0" bIns="0" rtlCol="0" anchor="ctr"/>
          <a:lstStyle/>
          <a:p>
            <a:pPr marL="0" indent="0" algn="r">
              <a:buNone/>
            </a:pPr>
            <a:r>
              <a:rPr lang="en-US" sz="1000" b="1" kern="0" spc="120" dirty="0">
                <a:solidFill>
                  <a:srgbClr val="15171C"/>
                </a:solidFill>
                <a:latin typeface="Arial" pitchFamily="34" charset="0"/>
                <a:ea typeface="Arial" pitchFamily="34" charset="-122"/>
                <a:cs typeface="Arial" pitchFamily="34" charset="-120"/>
              </a:rPr>
              <a:t>WEEK 1</a:t>
            </a:r>
            <a:r>
              <a:rPr lang="en-US" sz="1000" kern="0" spc="120" dirty="0">
                <a:solidFill>
                  <a:srgbClr val="6B7280"/>
                </a:solidFill>
                <a:latin typeface="Arial" pitchFamily="34" charset="0"/>
                <a:ea typeface="Arial" pitchFamily="34" charset="-122"/>
                <a:cs typeface="Arial" pitchFamily="34" charset="-120"/>
              </a:rPr>
              <a:t>  ·  BUILDING BLOCK </a:t>
            </a:r>
            <a:r>
              <a:rPr lang="en-US" sz="1000" b="1" kern="0" spc="120" dirty="0">
                <a:solidFill>
                  <a:srgbClr val="2B5187"/>
                </a:solidFill>
                <a:latin typeface="Arial" pitchFamily="34" charset="0"/>
                <a:ea typeface="Arial" pitchFamily="34" charset="-122"/>
                <a:cs typeface="Arial" pitchFamily="34" charset="-120"/>
              </a:rPr>
              <a:t>1</a:t>
            </a:r>
            <a:r>
              <a:rPr lang="en-US" sz="1000" kern="0" spc="120" dirty="0">
                <a:solidFill>
                  <a:srgbClr val="6B7280"/>
                </a:solidFill>
                <a:latin typeface="Arial" pitchFamily="34" charset="0"/>
                <a:ea typeface="Arial" pitchFamily="34" charset="-122"/>
                <a:cs typeface="Arial" pitchFamily="34" charset="-120"/>
              </a:rPr>
              <a:t> / 10</a:t>
            </a:r>
            <a:endParaRPr lang="en-US" sz="1000" dirty="0"/>
          </a:p>
        </p:txBody>
      </p:sp>
      <p:sp>
        <p:nvSpPr>
          <p:cNvPr id="3" name="Text 1"/>
          <p:cNvSpPr/>
          <p:nvPr/>
        </p:nvSpPr>
        <p:spPr>
          <a:xfrm>
            <a:off x="822960" y="640080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Arial" pitchFamily="34" charset="0"/>
                <a:ea typeface="Arial" pitchFamily="34" charset="-122"/>
                <a:cs typeface="Arial" pitchFamily="34" charset="-120"/>
              </a:rPr>
              <a:t>ESCALATE Training Program · Summer 2026</a:t>
            </a:r>
            <a:endParaRPr lang="en-US" sz="900" dirty="0"/>
          </a:p>
        </p:txBody>
      </p:sp>
      <p:sp>
        <p:nvSpPr>
          <p:cNvPr id="5" name="Text 3"/>
          <p:cNvSpPr/>
          <p:nvPr/>
        </p:nvSpPr>
        <p:spPr>
          <a:xfrm>
            <a:off x="822960" y="548640"/>
            <a:ext cx="5486400" cy="274320"/>
          </a:xfrm>
          <a:prstGeom prst="rect">
            <a:avLst/>
          </a:prstGeom>
          <a:noFill/>
          <a:ln/>
        </p:spPr>
        <p:txBody>
          <a:bodyPr wrap="square" lIns="0" tIns="0" rIns="0" bIns="0" rtlCol="0" anchor="t"/>
          <a:lstStyle/>
          <a:p>
            <a:pPr marL="0" indent="0">
              <a:buNone/>
            </a:pPr>
            <a:r>
              <a:rPr lang="en-US" sz="1100" b="1" kern="0" spc="220" dirty="0">
                <a:solidFill>
                  <a:srgbClr val="2B5187"/>
                </a:solidFill>
                <a:latin typeface="Arial" pitchFamily="34" charset="0"/>
                <a:ea typeface="Arial" pitchFamily="34" charset="-122"/>
                <a:cs typeface="Arial" pitchFamily="34" charset="-120"/>
              </a:rPr>
              <a:t>INTERNET STRUCTURE · ASNs</a:t>
            </a:r>
            <a:endParaRPr lang="en-US" sz="1100" dirty="0"/>
          </a:p>
        </p:txBody>
      </p:sp>
      <p:sp>
        <p:nvSpPr>
          <p:cNvPr id="6" name="Text 4"/>
          <p:cNvSpPr/>
          <p:nvPr/>
        </p:nvSpPr>
        <p:spPr>
          <a:xfrm>
            <a:off x="822960" y="868680"/>
            <a:ext cx="7315200" cy="1188720"/>
          </a:xfrm>
          <a:prstGeom prst="rect">
            <a:avLst/>
          </a:prstGeom>
          <a:noFill/>
          <a:ln/>
        </p:spPr>
        <p:txBody>
          <a:bodyPr wrap="square" lIns="0" tIns="0" rIns="0" bIns="0" rtlCol="0" anchor="t"/>
          <a:lstStyle/>
          <a:p>
            <a:pPr marL="0" indent="0">
              <a:lnSpc>
                <a:spcPct val="98000"/>
              </a:lnSpc>
              <a:buNone/>
            </a:pPr>
            <a:r>
              <a:rPr lang="en-US" sz="3000" b="1" dirty="0">
                <a:solidFill>
                  <a:srgbClr val="15171C"/>
                </a:solidFill>
                <a:latin typeface="Arial" pitchFamily="34" charset="0"/>
                <a:ea typeface="Arial" pitchFamily="34" charset="-122"/>
                <a:cs typeface="Arial" pitchFamily="34" charset="-120"/>
              </a:rPr>
              <a:t>Autonomous Systems &amp; ASNs (cont.)</a:t>
            </a:r>
            <a:endParaRPr lang="en-US" sz="3000" dirty="0"/>
          </a:p>
        </p:txBody>
      </p:sp>
      <p:sp>
        <p:nvSpPr>
          <p:cNvPr id="11" name="Shape 9"/>
          <p:cNvSpPr/>
          <p:nvPr/>
        </p:nvSpPr>
        <p:spPr>
          <a:xfrm>
            <a:off x="822960" y="2118580"/>
            <a:ext cx="91440" cy="91440"/>
          </a:xfrm>
          <a:prstGeom prst="ellipse">
            <a:avLst/>
          </a:prstGeom>
          <a:solidFill>
            <a:srgbClr val="2B5187"/>
          </a:solidFill>
          <a:ln/>
        </p:spPr>
        <p:txBody>
          <a:bodyPr/>
          <a:lstStyle/>
          <a:p>
            <a:endParaRPr lang="en-US"/>
          </a:p>
        </p:txBody>
      </p:sp>
      <p:sp>
        <p:nvSpPr>
          <p:cNvPr id="12" name="Text 10"/>
          <p:cNvSpPr/>
          <p:nvPr/>
        </p:nvSpPr>
        <p:spPr>
          <a:xfrm>
            <a:off x="1133856" y="2050000"/>
            <a:ext cx="10150000" cy="1040000"/>
          </a:xfrm>
          <a:prstGeom prst="rect">
            <a:avLst/>
          </a:prstGeom>
          <a:noFill/>
          <a:ln/>
        </p:spPr>
        <p:txBody>
          <a:bodyPr wrap="square" lIns="0" tIns="0" rIns="0" bIns="0" rtlCol="0" anchor="t"/>
          <a:lstStyle/>
          <a:p>
            <a:pPr marL="0" indent="0">
              <a:lnSpc>
                <a:spcPct val="103000"/>
              </a:lnSpc>
              <a:buNone/>
            </a:pPr>
            <a:r>
              <a:rPr lang="en-US" sz="2000" dirty="0">
                <a:solidFill>
                  <a:srgbClr val="33373F"/>
                </a:solidFill>
                <a:latin typeface="Arial" pitchFamily="34" charset="0"/>
                <a:ea typeface="Arial" pitchFamily="34" charset="-122"/>
                <a:cs typeface="Arial" pitchFamily="34" charset="-120"/>
              </a:rPr>
              <a:t>One organization may operate </a:t>
            </a:r>
            <a:r>
              <a:rPr lang="en-US" sz="2000" b="1" dirty="0">
                <a:solidFill>
                  <a:srgbClr val="15171C"/>
                </a:solidFill>
                <a:latin typeface="Arial" pitchFamily="34" charset="0"/>
                <a:ea typeface="Arial" pitchFamily="34" charset="-122"/>
                <a:cs typeface="Arial" pitchFamily="34" charset="-120"/>
              </a:rPr>
              <a:t>many ASNs</a:t>
            </a:r>
            <a:r>
              <a:rPr lang="en-US" sz="2000" dirty="0">
                <a:solidFill>
                  <a:srgbClr val="33373F"/>
                </a:solidFill>
                <a:latin typeface="Arial" pitchFamily="34" charset="0"/>
                <a:ea typeface="Arial" pitchFamily="34" charset="-122"/>
                <a:cs typeface="Arial" pitchFamily="34" charset="-120"/>
              </a:rPr>
              <a:t> — e.g. separate networks per region or service tier.</a:t>
            </a:r>
            <a:endParaRPr lang="en-US" sz="1500" dirty="0"/>
          </a:p>
        </p:txBody>
      </p:sp>
      <p:sp>
        <p:nvSpPr>
          <p:cNvPr id="13" name="Shape 11"/>
          <p:cNvSpPr/>
          <p:nvPr/>
        </p:nvSpPr>
        <p:spPr>
          <a:xfrm>
            <a:off x="822960" y="3618580"/>
            <a:ext cx="91440" cy="91440"/>
          </a:xfrm>
          <a:prstGeom prst="ellipse">
            <a:avLst/>
          </a:prstGeom>
          <a:solidFill>
            <a:srgbClr val="2B5187"/>
          </a:solidFill>
          <a:ln/>
        </p:spPr>
        <p:txBody>
          <a:bodyPr/>
          <a:lstStyle/>
          <a:p>
            <a:endParaRPr lang="en-US"/>
          </a:p>
        </p:txBody>
      </p:sp>
      <p:sp>
        <p:nvSpPr>
          <p:cNvPr id="14" name="Text 12"/>
          <p:cNvSpPr/>
          <p:nvPr/>
        </p:nvSpPr>
        <p:spPr>
          <a:xfrm>
            <a:off x="1133856" y="3550000"/>
            <a:ext cx="10150000" cy="1040000"/>
          </a:xfrm>
          <a:prstGeom prst="rect">
            <a:avLst/>
          </a:prstGeom>
          <a:noFill/>
          <a:ln/>
        </p:spPr>
        <p:txBody>
          <a:bodyPr wrap="square" lIns="0" tIns="0" rIns="0" bIns="0" rtlCol="0" anchor="t"/>
          <a:lstStyle/>
          <a:p>
            <a:pPr marL="0" indent="0">
              <a:lnSpc>
                <a:spcPct val="103000"/>
              </a:lnSpc>
              <a:buNone/>
            </a:pPr>
            <a:r>
              <a:rPr lang="en-US" sz="2000" dirty="0">
                <a:solidFill>
                  <a:srgbClr val="33373F"/>
                </a:solidFill>
                <a:latin typeface="Arial" pitchFamily="34" charset="0"/>
                <a:ea typeface="Arial" pitchFamily="34" charset="-122"/>
                <a:cs typeface="Arial" pitchFamily="34" charset="-120"/>
              </a:rPr>
              <a:t>CAIDA infers an </a:t>
            </a:r>
            <a:r>
              <a:rPr lang="en-US" sz="2000" b="1" dirty="0">
                <a:solidFill>
                  <a:srgbClr val="15171C"/>
                </a:solidFill>
                <a:latin typeface="Arial" pitchFamily="34" charset="0"/>
                <a:ea typeface="Arial" pitchFamily="34" charset="-122"/>
                <a:cs typeface="Arial" pitchFamily="34" charset="-120"/>
              </a:rPr>
              <a:t>ASN → organization </a:t>
            </a:r>
            <a:r>
              <a:rPr lang="en-US" sz="2000" dirty="0">
                <a:solidFill>
                  <a:srgbClr val="33373F"/>
                </a:solidFill>
                <a:latin typeface="Arial" pitchFamily="34" charset="0"/>
                <a:ea typeface="Arial" pitchFamily="34" charset="-122"/>
                <a:cs typeface="Arial" pitchFamily="34" charset="-120"/>
              </a:rPr>
              <a:t>mapping from registry WHOIS records — the AS-to-Org dataset you'll use this week.</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8074152" y="384048"/>
            <a:ext cx="3291840" cy="274320"/>
          </a:xfrm>
          <a:prstGeom prst="rect">
            <a:avLst/>
          </a:prstGeom>
          <a:noFill/>
          <a:ln/>
        </p:spPr>
        <p:txBody>
          <a:bodyPr wrap="square" lIns="0" tIns="0" rIns="0" bIns="0" rtlCol="0" anchor="ctr"/>
          <a:lstStyle/>
          <a:p>
            <a:pPr marL="0" indent="0" algn="r">
              <a:buNone/>
            </a:pPr>
            <a:r>
              <a:rPr lang="en-US" sz="1000" b="1" kern="0" spc="120" dirty="0">
                <a:solidFill>
                  <a:srgbClr val="15171C"/>
                </a:solidFill>
                <a:latin typeface="Arial" pitchFamily="34" charset="0"/>
                <a:ea typeface="Arial" pitchFamily="34" charset="-122"/>
                <a:cs typeface="Arial" pitchFamily="34" charset="-120"/>
              </a:rPr>
              <a:t>WEEK 1</a:t>
            </a:r>
            <a:r>
              <a:rPr lang="en-US" sz="1000" kern="0" spc="120" dirty="0">
                <a:solidFill>
                  <a:srgbClr val="6B7280"/>
                </a:solidFill>
                <a:latin typeface="Arial" pitchFamily="34" charset="0"/>
                <a:ea typeface="Arial" pitchFamily="34" charset="-122"/>
                <a:cs typeface="Arial" pitchFamily="34" charset="-120"/>
              </a:rPr>
              <a:t>  ·  BUILDING BLOCK </a:t>
            </a:r>
            <a:r>
              <a:rPr lang="en-US" sz="1000" b="1" kern="0" spc="120" dirty="0">
                <a:solidFill>
                  <a:srgbClr val="2B5187"/>
                </a:solidFill>
                <a:latin typeface="Arial" pitchFamily="34" charset="0"/>
                <a:ea typeface="Arial" pitchFamily="34" charset="-122"/>
                <a:cs typeface="Arial" pitchFamily="34" charset="-120"/>
              </a:rPr>
              <a:t>1</a:t>
            </a:r>
            <a:r>
              <a:rPr lang="en-US" sz="1000" kern="0" spc="120" dirty="0">
                <a:solidFill>
                  <a:srgbClr val="6B7280"/>
                </a:solidFill>
                <a:latin typeface="Arial" pitchFamily="34" charset="0"/>
                <a:ea typeface="Arial" pitchFamily="34" charset="-122"/>
                <a:cs typeface="Arial" pitchFamily="34" charset="-120"/>
              </a:rPr>
              <a:t> / 10</a:t>
            </a:r>
            <a:endParaRPr lang="en-US" sz="1000" dirty="0"/>
          </a:p>
        </p:txBody>
      </p:sp>
      <p:sp>
        <p:nvSpPr>
          <p:cNvPr id="3" name="Text 1"/>
          <p:cNvSpPr/>
          <p:nvPr/>
        </p:nvSpPr>
        <p:spPr>
          <a:xfrm>
            <a:off x="822960" y="640080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Arial" pitchFamily="34" charset="0"/>
                <a:ea typeface="Arial" pitchFamily="34" charset="-122"/>
                <a:cs typeface="Arial" pitchFamily="34" charset="-120"/>
              </a:rPr>
              <a:t>ESCALATE Training Program · Summer 2026</a:t>
            </a:r>
            <a:endParaRPr lang="en-US" sz="900" dirty="0"/>
          </a:p>
        </p:txBody>
      </p:sp>
      <p:pic>
        <p:nvPicPr>
          <p:cNvPr id="5" name="Image 0" descr="cone.png"/>
          <p:cNvPicPr>
            <a:picLocks noChangeAspect="1"/>
          </p:cNvPicPr>
          <p:nvPr/>
        </p:nvPicPr>
        <p:blipFill>
          <a:blip r:embed="rId3"/>
          <a:stretch>
            <a:fillRect/>
          </a:stretch>
        </p:blipFill>
        <p:spPr>
          <a:xfrm>
            <a:off x="7955280" y="2011680"/>
            <a:ext cx="3566160" cy="2615184"/>
          </a:xfrm>
          <a:prstGeom prst="rect">
            <a:avLst/>
          </a:prstGeom>
        </p:spPr>
      </p:pic>
      <p:sp>
        <p:nvSpPr>
          <p:cNvPr id="6" name="Text 3"/>
          <p:cNvSpPr/>
          <p:nvPr/>
        </p:nvSpPr>
        <p:spPr>
          <a:xfrm>
            <a:off x="7955280" y="4617720"/>
            <a:ext cx="3566160" cy="274320"/>
          </a:xfrm>
          <a:prstGeom prst="rect">
            <a:avLst/>
          </a:prstGeom>
          <a:noFill/>
          <a:ln/>
        </p:spPr>
        <p:txBody>
          <a:bodyPr wrap="square" lIns="0" tIns="0" rIns="0" bIns="0" rtlCol="0" anchor="ctr"/>
          <a:lstStyle/>
          <a:p>
            <a:pPr marL="0" indent="0" algn="ctr">
              <a:buNone/>
            </a:pPr>
            <a:r>
              <a:rPr lang="en-US" sz="1300" dirty="0">
                <a:solidFill>
                  <a:srgbClr val="6B7280"/>
                </a:solidFill>
                <a:latin typeface="Consolas" pitchFamily="34" charset="0"/>
                <a:ea typeface="Consolas" pitchFamily="34" charset="-122"/>
                <a:cs typeface="Consolas" pitchFamily="34" charset="-120"/>
              </a:rPr>
              <a:t>size = number of ASNs in the cone</a:t>
            </a:r>
            <a:endParaRPr lang="en-US" sz="1000" dirty="0"/>
          </a:p>
        </p:txBody>
      </p:sp>
      <p:sp>
        <p:nvSpPr>
          <p:cNvPr id="7" name="Text 4"/>
          <p:cNvSpPr/>
          <p:nvPr/>
        </p:nvSpPr>
        <p:spPr>
          <a:xfrm>
            <a:off x="822960" y="548640"/>
            <a:ext cx="5486400" cy="274320"/>
          </a:xfrm>
          <a:prstGeom prst="rect">
            <a:avLst/>
          </a:prstGeom>
          <a:noFill/>
          <a:ln/>
        </p:spPr>
        <p:txBody>
          <a:bodyPr wrap="square" lIns="0" tIns="0" rIns="0" bIns="0" rtlCol="0" anchor="t"/>
          <a:lstStyle/>
          <a:p>
            <a:pPr marL="0" indent="0">
              <a:buNone/>
            </a:pPr>
            <a:r>
              <a:rPr lang="en-US" sz="1100" b="1" kern="0" spc="220" dirty="0">
                <a:solidFill>
                  <a:srgbClr val="2B5187"/>
                </a:solidFill>
                <a:latin typeface="Arial" pitchFamily="34" charset="0"/>
                <a:ea typeface="Arial" pitchFamily="34" charset="-122"/>
                <a:cs typeface="Arial" pitchFamily="34" charset="-120"/>
              </a:rPr>
              <a:t>INTERNET STRUCTURE · REACH</a:t>
            </a:r>
            <a:endParaRPr lang="en-US" sz="1100" dirty="0"/>
          </a:p>
        </p:txBody>
      </p:sp>
      <p:sp>
        <p:nvSpPr>
          <p:cNvPr id="8" name="Text 5"/>
          <p:cNvSpPr/>
          <p:nvPr/>
        </p:nvSpPr>
        <p:spPr>
          <a:xfrm>
            <a:off x="822960" y="868680"/>
            <a:ext cx="7315200" cy="1188720"/>
          </a:xfrm>
          <a:prstGeom prst="rect">
            <a:avLst/>
          </a:prstGeom>
          <a:noFill/>
          <a:ln/>
        </p:spPr>
        <p:txBody>
          <a:bodyPr wrap="square" lIns="0" tIns="0" rIns="0" bIns="0" rtlCol="0" anchor="t"/>
          <a:lstStyle/>
          <a:p>
            <a:pPr marL="0" indent="0">
              <a:lnSpc>
                <a:spcPct val="98000"/>
              </a:lnSpc>
              <a:buNone/>
            </a:pPr>
            <a:r>
              <a:rPr lang="en-US" sz="3000" b="1" dirty="0">
                <a:solidFill>
                  <a:srgbClr val="15171C"/>
                </a:solidFill>
                <a:latin typeface="Arial" pitchFamily="34" charset="0"/>
                <a:ea typeface="Arial" pitchFamily="34" charset="-122"/>
                <a:cs typeface="Arial" pitchFamily="34" charset="-120"/>
              </a:rPr>
              <a:t>Customer cones</a:t>
            </a:r>
            <a:endParaRPr lang="en-US" sz="3000" dirty="0"/>
          </a:p>
        </p:txBody>
      </p:sp>
      <p:sp>
        <p:nvSpPr>
          <p:cNvPr id="9" name="Shape 6"/>
          <p:cNvSpPr/>
          <p:nvPr/>
        </p:nvSpPr>
        <p:spPr>
          <a:xfrm>
            <a:off x="822960" y="2048580"/>
            <a:ext cx="91440" cy="91440"/>
          </a:xfrm>
          <a:prstGeom prst="ellipse">
            <a:avLst/>
          </a:prstGeom>
          <a:solidFill>
            <a:srgbClr val="2B5187"/>
          </a:solidFill>
          <a:ln/>
        </p:spPr>
        <p:txBody>
          <a:bodyPr/>
          <a:lstStyle/>
          <a:p>
            <a:endParaRPr lang="en-US"/>
          </a:p>
        </p:txBody>
      </p:sp>
      <p:sp>
        <p:nvSpPr>
          <p:cNvPr id="10" name="Text 7"/>
          <p:cNvSpPr/>
          <p:nvPr/>
        </p:nvSpPr>
        <p:spPr>
          <a:xfrm>
            <a:off x="1133856" y="1980000"/>
            <a:ext cx="6300000" cy="1040000"/>
          </a:xfrm>
          <a:prstGeom prst="rect">
            <a:avLst/>
          </a:prstGeom>
          <a:noFill/>
          <a:ln/>
        </p:spPr>
        <p:txBody>
          <a:bodyPr wrap="square" lIns="0" tIns="0" rIns="0" bIns="0" rtlCol="0" anchor="t"/>
          <a:lstStyle/>
          <a:p>
            <a:pPr marL="0" indent="0">
              <a:lnSpc>
                <a:spcPct val="103000"/>
              </a:lnSpc>
              <a:buNone/>
            </a:pPr>
            <a:r>
              <a:rPr lang="en-US" sz="2000" dirty="0">
                <a:solidFill>
                  <a:srgbClr val="33373F"/>
                </a:solidFill>
                <a:latin typeface="Arial" pitchFamily="34" charset="0"/>
                <a:ea typeface="Arial" pitchFamily="34" charset="-122"/>
                <a:cs typeface="Arial" pitchFamily="34" charset="-120"/>
              </a:rPr>
              <a:t>Networks connect through </a:t>
            </a:r>
            <a:r>
              <a:rPr lang="en-US" sz="2000" b="1" dirty="0">
                <a:solidFill>
                  <a:srgbClr val="15171C"/>
                </a:solidFill>
                <a:latin typeface="Arial" pitchFamily="34" charset="0"/>
                <a:ea typeface="Arial" pitchFamily="34" charset="-122"/>
                <a:cs typeface="Arial" pitchFamily="34" charset="-120"/>
              </a:rPr>
              <a:t>provider-to-customer (p2c) </a:t>
            </a:r>
            <a:r>
              <a:rPr lang="en-US" sz="2000" dirty="0">
                <a:solidFill>
                  <a:srgbClr val="33373F"/>
                </a:solidFill>
                <a:latin typeface="Arial" pitchFamily="34" charset="0"/>
                <a:ea typeface="Arial" pitchFamily="34" charset="-122"/>
                <a:cs typeface="Arial" pitchFamily="34" charset="-120"/>
              </a:rPr>
              <a:t>links — the customer pays for transit.</a:t>
            </a:r>
            <a:endParaRPr lang="en-US" sz="1450" dirty="0"/>
          </a:p>
        </p:txBody>
      </p:sp>
      <p:sp>
        <p:nvSpPr>
          <p:cNvPr id="11" name="Shape 8"/>
          <p:cNvSpPr/>
          <p:nvPr/>
        </p:nvSpPr>
        <p:spPr>
          <a:xfrm>
            <a:off x="822960" y="3548580"/>
            <a:ext cx="91440" cy="91440"/>
          </a:xfrm>
          <a:prstGeom prst="ellipse">
            <a:avLst/>
          </a:prstGeom>
          <a:solidFill>
            <a:srgbClr val="2B5187"/>
          </a:solidFill>
          <a:ln/>
        </p:spPr>
        <p:txBody>
          <a:bodyPr/>
          <a:lstStyle/>
          <a:p>
            <a:endParaRPr lang="en-US"/>
          </a:p>
        </p:txBody>
      </p:sp>
      <p:sp>
        <p:nvSpPr>
          <p:cNvPr id="12" name="Text 9"/>
          <p:cNvSpPr/>
          <p:nvPr/>
        </p:nvSpPr>
        <p:spPr>
          <a:xfrm>
            <a:off x="1133856" y="3480000"/>
            <a:ext cx="6300000" cy="1040000"/>
          </a:xfrm>
          <a:prstGeom prst="rect">
            <a:avLst/>
          </a:prstGeom>
          <a:noFill/>
          <a:ln/>
        </p:spPr>
        <p:txBody>
          <a:bodyPr wrap="square" lIns="0" tIns="0" rIns="0" bIns="0" rtlCol="0" anchor="t"/>
          <a:lstStyle/>
          <a:p>
            <a:pPr marL="0" indent="0">
              <a:lnSpc>
                <a:spcPct val="103000"/>
              </a:lnSpc>
              <a:buNone/>
            </a:pPr>
            <a:r>
              <a:rPr lang="en-US" sz="2000" dirty="0">
                <a:solidFill>
                  <a:srgbClr val="33373F"/>
                </a:solidFill>
                <a:latin typeface="Arial" pitchFamily="34" charset="0"/>
                <a:ea typeface="Arial" pitchFamily="34" charset="-122"/>
                <a:cs typeface="Arial" pitchFamily="34" charset="-120"/>
              </a:rPr>
              <a:t>An AS's </a:t>
            </a:r>
            <a:r>
              <a:rPr lang="en-US" sz="2000" b="1" dirty="0">
                <a:solidFill>
                  <a:srgbClr val="15171C"/>
                </a:solidFill>
                <a:latin typeface="Arial" pitchFamily="34" charset="0"/>
                <a:ea typeface="Arial" pitchFamily="34" charset="-122"/>
                <a:cs typeface="Arial" pitchFamily="34" charset="-120"/>
              </a:rPr>
              <a:t>customer cone </a:t>
            </a:r>
            <a:r>
              <a:rPr lang="en-US" sz="2000" dirty="0">
                <a:solidFill>
                  <a:srgbClr val="33373F"/>
                </a:solidFill>
                <a:latin typeface="Arial" pitchFamily="34" charset="0"/>
                <a:ea typeface="Arial" pitchFamily="34" charset="-122"/>
                <a:cs typeface="Arial" pitchFamily="34" charset="-120"/>
              </a:rPr>
              <a:t>is itself plus everything reachable by following p2c links: its customers, their customers, and so on.</a:t>
            </a:r>
            <a:endParaRPr lang="en-US" sz="1450" dirty="0"/>
          </a:p>
        </p:txBody>
      </p:sp>
      <p:sp>
        <p:nvSpPr>
          <p:cNvPr id="17" name="Examples Label"/>
          <p:cNvSpPr/>
          <p:nvPr/>
        </p:nvSpPr>
        <p:spPr>
          <a:xfrm>
            <a:off x="7955280" y="4830000"/>
            <a:ext cx="3566160" cy="230000"/>
          </a:xfrm>
          <a:prstGeom prst="rect">
            <a:avLst/>
          </a:prstGeom>
          <a:noFill/>
          <a:ln/>
        </p:spPr>
        <p:txBody>
          <a:bodyPr wrap="square" lIns="0" tIns="0" rIns="0" bIns="0" rtlCol="0" anchor="t"/>
          <a:lstStyle/>
          <a:p>
            <a:pPr marL="0" indent="0">
              <a:buNone/>
            </a:pPr>
            <a:r>
              <a:rPr lang="en-US" sz="1000" b="1" kern="0" spc="120" dirty="0">
                <a:solidFill>
                  <a:srgbClr val="2B5187"/>
                </a:solidFill>
                <a:latin typeface="Arial" pitchFamily="34" charset="0"/>
                <a:ea typeface="Arial" pitchFamily="34" charset="-122"/>
                <a:cs typeface="Arial" pitchFamily="34" charset="-120"/>
              </a:rPr>
              <a:t>EXAMPLES</a:t>
            </a:r>
            <a:endParaRPr lang="en-US" sz="1000" dirty="0"/>
          </a:p>
        </p:txBody>
      </p:sp>
      <p:sp>
        <p:nvSpPr>
          <p:cNvPr id="18" name="Examples List"/>
          <p:cNvSpPr/>
          <p:nvPr/>
        </p:nvSpPr>
        <p:spPr>
          <a:xfrm>
            <a:off x="7955280" y="5120000"/>
            <a:ext cx="3420000" cy="1250000"/>
          </a:xfrm>
          <a:prstGeom prst="rect">
            <a:avLst/>
          </a:prstGeom>
          <a:noFill/>
          <a:ln/>
        </p:spPr>
        <p:txBody>
          <a:bodyPr wrap="square" lIns="0" tIns="0" rIns="0" bIns="0" rtlCol="0" anchor="t"/>
          <a:lstStyle/>
          <a:p>
            <a:pPr marL="0" indent="0">
              <a:lnSpc>
                <a:spcPct val="100000"/>
              </a:lnSpc>
              <a:buNone/>
            </a:pPr>
            <a:r>
              <a:rPr lang="en-US" sz="1300" b="1" dirty="0">
                <a:solidFill>
                  <a:srgbClr val="15171C"/>
                </a:solidFill>
                <a:latin typeface="Arial" pitchFamily="34" charset="0"/>
                <a:ea typeface="Arial" pitchFamily="34" charset="-122"/>
                <a:cs typeface="Arial" pitchFamily="34" charset="-120"/>
              </a:rPr>
              <a:t>Tier-1 transit</a:t>
            </a:r>
            <a:r>
              <a:rPr lang="en-US" sz="1300" dirty="0">
                <a:solidFill>
                  <a:srgbClr val="33373F"/>
                </a:solidFill>
                <a:latin typeface="Arial" pitchFamily="34" charset="0"/>
                <a:ea typeface="Arial" pitchFamily="34" charset="-122"/>
                <a:cs typeface="Arial" pitchFamily="34" charset="-120"/>
              </a:rPr>
              <a:t> — Lumen, Cogent: ~tens of thousands</a:t>
            </a:r>
          </a:p>
          <a:p>
            <a:pPr marL="0" indent="0">
              <a:lnSpc>
                <a:spcPct val="100000"/>
              </a:lnSpc>
              <a:spcBef>
                <a:spcPts val="700"/>
              </a:spcBef>
              <a:buNone/>
            </a:pPr>
            <a:r>
              <a:rPr lang="en-US" sz="1300" b="1" dirty="0">
                <a:solidFill>
                  <a:srgbClr val="15171C"/>
                </a:solidFill>
                <a:latin typeface="Arial" pitchFamily="34" charset="0"/>
                <a:ea typeface="Arial" pitchFamily="34" charset="-122"/>
                <a:cs typeface="Arial" pitchFamily="34" charset="-120"/>
              </a:rPr>
              <a:t>Regional ISP</a:t>
            </a:r>
            <a:r>
              <a:rPr lang="en-US" sz="1300" dirty="0">
                <a:solidFill>
                  <a:srgbClr val="33373F"/>
                </a:solidFill>
                <a:latin typeface="Arial" pitchFamily="34" charset="0"/>
                <a:ea typeface="Arial" pitchFamily="34" charset="-122"/>
                <a:cs typeface="Arial" pitchFamily="34" charset="-120"/>
              </a:rPr>
              <a:t> — hundreds to a few thousand</a:t>
            </a:r>
          </a:p>
          <a:p>
            <a:pPr marL="0" indent="0">
              <a:lnSpc>
                <a:spcPct val="100000"/>
              </a:lnSpc>
              <a:spcBef>
                <a:spcPts val="700"/>
              </a:spcBef>
              <a:buNone/>
            </a:pPr>
            <a:r>
              <a:rPr lang="en-US" sz="1300" b="1" dirty="0">
                <a:solidFill>
                  <a:srgbClr val="15171C"/>
                </a:solidFill>
                <a:latin typeface="Arial" pitchFamily="34" charset="0"/>
                <a:ea typeface="Arial" pitchFamily="34" charset="-122"/>
                <a:cs typeface="Arial" pitchFamily="34" charset="-120"/>
              </a:rPr>
              <a:t>Stub network</a:t>
            </a:r>
            <a:r>
              <a:rPr lang="en-US" sz="1300" dirty="0">
                <a:solidFill>
                  <a:srgbClr val="33373F"/>
                </a:solidFill>
                <a:latin typeface="Arial" pitchFamily="34" charset="0"/>
                <a:ea typeface="Arial" pitchFamily="34" charset="-122"/>
                <a:cs typeface="Arial" pitchFamily="34" charset="-120"/>
              </a:rPr>
              <a:t> — a campus or firm: cone of 1 (itself)</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8074152" y="384048"/>
            <a:ext cx="3291840" cy="274320"/>
          </a:xfrm>
          <a:prstGeom prst="rect">
            <a:avLst/>
          </a:prstGeom>
          <a:noFill/>
          <a:ln/>
        </p:spPr>
        <p:txBody>
          <a:bodyPr wrap="square" lIns="0" tIns="0" rIns="0" bIns="0" rtlCol="0" anchor="ctr"/>
          <a:lstStyle/>
          <a:p>
            <a:pPr marL="0" indent="0" algn="r">
              <a:buNone/>
            </a:pPr>
            <a:r>
              <a:rPr lang="en-US" sz="1000" b="1" kern="0" spc="120" dirty="0">
                <a:solidFill>
                  <a:srgbClr val="15171C"/>
                </a:solidFill>
                <a:latin typeface="Arial" pitchFamily="34" charset="0"/>
                <a:ea typeface="Arial" pitchFamily="34" charset="-122"/>
                <a:cs typeface="Arial" pitchFamily="34" charset="-120"/>
              </a:rPr>
              <a:t>WEEK 1</a:t>
            </a:r>
            <a:r>
              <a:rPr lang="en-US" sz="1000" kern="0" spc="120" dirty="0">
                <a:solidFill>
                  <a:srgbClr val="6B7280"/>
                </a:solidFill>
                <a:latin typeface="Arial" pitchFamily="34" charset="0"/>
                <a:ea typeface="Arial" pitchFamily="34" charset="-122"/>
                <a:cs typeface="Arial" pitchFamily="34" charset="-120"/>
              </a:rPr>
              <a:t>  ·  BUILDING BLOCK </a:t>
            </a:r>
            <a:r>
              <a:rPr lang="en-US" sz="1000" b="1" kern="0" spc="120" dirty="0">
                <a:solidFill>
                  <a:srgbClr val="2B5187"/>
                </a:solidFill>
                <a:latin typeface="Arial" pitchFamily="34" charset="0"/>
                <a:ea typeface="Arial" pitchFamily="34" charset="-122"/>
                <a:cs typeface="Arial" pitchFamily="34" charset="-120"/>
              </a:rPr>
              <a:t>1</a:t>
            </a:r>
            <a:r>
              <a:rPr lang="en-US" sz="1000" kern="0" spc="120" dirty="0">
                <a:solidFill>
                  <a:srgbClr val="6B7280"/>
                </a:solidFill>
                <a:latin typeface="Arial" pitchFamily="34" charset="0"/>
                <a:ea typeface="Arial" pitchFamily="34" charset="-122"/>
                <a:cs typeface="Arial" pitchFamily="34" charset="-120"/>
              </a:rPr>
              <a:t> / 10</a:t>
            </a:r>
            <a:endParaRPr lang="en-US" sz="1000" dirty="0"/>
          </a:p>
        </p:txBody>
      </p:sp>
      <p:sp>
        <p:nvSpPr>
          <p:cNvPr id="3" name="Text 1"/>
          <p:cNvSpPr/>
          <p:nvPr/>
        </p:nvSpPr>
        <p:spPr>
          <a:xfrm>
            <a:off x="822960" y="640080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Arial" pitchFamily="34" charset="0"/>
                <a:ea typeface="Arial" pitchFamily="34" charset="-122"/>
                <a:cs typeface="Arial" pitchFamily="34" charset="-120"/>
              </a:rPr>
              <a:t>ESCALATE Training Program · Summer 2026</a:t>
            </a:r>
            <a:endParaRPr lang="en-US" sz="900" dirty="0"/>
          </a:p>
        </p:txBody>
      </p:sp>
      <p:sp>
        <p:nvSpPr>
          <p:cNvPr id="7" name="Text 4"/>
          <p:cNvSpPr/>
          <p:nvPr/>
        </p:nvSpPr>
        <p:spPr>
          <a:xfrm>
            <a:off x="822960" y="548640"/>
            <a:ext cx="5486400" cy="274320"/>
          </a:xfrm>
          <a:prstGeom prst="rect">
            <a:avLst/>
          </a:prstGeom>
          <a:noFill/>
          <a:ln/>
        </p:spPr>
        <p:txBody>
          <a:bodyPr wrap="square" lIns="0" tIns="0" rIns="0" bIns="0" rtlCol="0" anchor="t"/>
          <a:lstStyle/>
          <a:p>
            <a:pPr marL="0" indent="0">
              <a:buNone/>
            </a:pPr>
            <a:r>
              <a:rPr lang="en-US" sz="1100" b="1" kern="0" spc="220" dirty="0">
                <a:solidFill>
                  <a:srgbClr val="2B5187"/>
                </a:solidFill>
                <a:latin typeface="Arial" pitchFamily="34" charset="0"/>
                <a:ea typeface="Arial" pitchFamily="34" charset="-122"/>
                <a:cs typeface="Arial" pitchFamily="34" charset="-120"/>
              </a:rPr>
              <a:t>INTERNET STRUCTURE · REACH</a:t>
            </a:r>
            <a:endParaRPr lang="en-US" sz="1100" dirty="0"/>
          </a:p>
        </p:txBody>
      </p:sp>
      <p:sp>
        <p:nvSpPr>
          <p:cNvPr id="8" name="Text 5"/>
          <p:cNvSpPr/>
          <p:nvPr/>
        </p:nvSpPr>
        <p:spPr>
          <a:xfrm>
            <a:off x="822960" y="868680"/>
            <a:ext cx="7315200" cy="1188720"/>
          </a:xfrm>
          <a:prstGeom prst="rect">
            <a:avLst/>
          </a:prstGeom>
          <a:noFill/>
          <a:ln/>
        </p:spPr>
        <p:txBody>
          <a:bodyPr wrap="square" lIns="0" tIns="0" rIns="0" bIns="0" rtlCol="0" anchor="t"/>
          <a:lstStyle/>
          <a:p>
            <a:pPr marL="0" indent="0">
              <a:lnSpc>
                <a:spcPct val="98000"/>
              </a:lnSpc>
              <a:buNone/>
            </a:pPr>
            <a:r>
              <a:rPr lang="en-US" sz="3000" b="1" dirty="0">
                <a:solidFill>
                  <a:srgbClr val="15171C"/>
                </a:solidFill>
                <a:latin typeface="Arial" pitchFamily="34" charset="0"/>
                <a:ea typeface="Arial" pitchFamily="34" charset="-122"/>
                <a:cs typeface="Arial" pitchFamily="34" charset="-120"/>
              </a:rPr>
              <a:t>Customer cones (cont.)</a:t>
            </a:r>
            <a:endParaRPr lang="en-US" sz="3000" dirty="0"/>
          </a:p>
        </p:txBody>
      </p:sp>
      <p:sp>
        <p:nvSpPr>
          <p:cNvPr id="13" name="Shape 10"/>
          <p:cNvSpPr/>
          <p:nvPr/>
        </p:nvSpPr>
        <p:spPr>
          <a:xfrm>
            <a:off x="822960" y="2118580"/>
            <a:ext cx="91440" cy="91440"/>
          </a:xfrm>
          <a:prstGeom prst="ellipse">
            <a:avLst/>
          </a:prstGeom>
          <a:solidFill>
            <a:srgbClr val="2B5187"/>
          </a:solidFill>
          <a:ln/>
        </p:spPr>
        <p:txBody>
          <a:bodyPr/>
          <a:lstStyle/>
          <a:p>
            <a:endParaRPr lang="en-US"/>
          </a:p>
        </p:txBody>
      </p:sp>
      <p:sp>
        <p:nvSpPr>
          <p:cNvPr id="14" name="Text 11"/>
          <p:cNvSpPr/>
          <p:nvPr/>
        </p:nvSpPr>
        <p:spPr>
          <a:xfrm>
            <a:off x="1133856" y="2050000"/>
            <a:ext cx="10150000" cy="1300000"/>
          </a:xfrm>
          <a:prstGeom prst="rect">
            <a:avLst/>
          </a:prstGeom>
          <a:noFill/>
          <a:ln/>
        </p:spPr>
        <p:txBody>
          <a:bodyPr wrap="square" lIns="0" tIns="0" rIns="0" bIns="0" rtlCol="0" anchor="t"/>
          <a:lstStyle/>
          <a:p>
            <a:pPr marL="0" indent="0">
              <a:lnSpc>
                <a:spcPct val="103000"/>
              </a:lnSpc>
              <a:buNone/>
            </a:pPr>
            <a:r>
              <a:rPr lang="en-US" sz="2000" dirty="0">
                <a:solidFill>
                  <a:srgbClr val="33373F"/>
                </a:solidFill>
                <a:latin typeface="Arial" pitchFamily="34" charset="0"/>
                <a:ea typeface="Arial" pitchFamily="34" charset="-122"/>
                <a:cs typeface="Arial" pitchFamily="34" charset="-120"/>
              </a:rPr>
              <a:t>Cone </a:t>
            </a:r>
            <a:r>
              <a:rPr lang="en-US" sz="2000" b="1" dirty="0">
                <a:solidFill>
                  <a:srgbClr val="15171C"/>
                </a:solidFill>
                <a:latin typeface="Arial" pitchFamily="34" charset="0"/>
                <a:ea typeface="Arial" pitchFamily="34" charset="-122"/>
                <a:cs typeface="Arial" pitchFamily="34" charset="-120"/>
              </a:rPr>
              <a:t>size </a:t>
            </a:r>
            <a:r>
              <a:rPr lang="en-US" sz="2000" dirty="0">
                <a:solidFill>
                  <a:srgbClr val="33373F"/>
                </a:solidFill>
                <a:latin typeface="Arial" pitchFamily="34" charset="0"/>
                <a:ea typeface="Arial" pitchFamily="34" charset="-122"/>
                <a:cs typeface="Arial" pitchFamily="34" charset="-120"/>
              </a:rPr>
              <a:t>(the count of ASNs) is a coarse proxy for a network's reach and influence.</a:t>
            </a:r>
            <a:endParaRPr lang="en-US" sz="1450" dirty="0"/>
          </a:p>
        </p:txBody>
      </p:sp>
      <p:sp>
        <p:nvSpPr>
          <p:cNvPr id="15" name="Shape 12"/>
          <p:cNvSpPr/>
          <p:nvPr/>
        </p:nvSpPr>
        <p:spPr>
          <a:xfrm>
            <a:off x="822960" y="3618580"/>
            <a:ext cx="91440" cy="91440"/>
          </a:xfrm>
          <a:prstGeom prst="ellipse">
            <a:avLst/>
          </a:prstGeom>
          <a:solidFill>
            <a:srgbClr val="2B5187"/>
          </a:solidFill>
          <a:ln/>
        </p:spPr>
        <p:txBody>
          <a:bodyPr/>
          <a:lstStyle/>
          <a:p>
            <a:endParaRPr lang="en-US"/>
          </a:p>
        </p:txBody>
      </p:sp>
      <p:sp>
        <p:nvSpPr>
          <p:cNvPr id="16" name="Text 13"/>
          <p:cNvSpPr/>
          <p:nvPr/>
        </p:nvSpPr>
        <p:spPr>
          <a:xfrm>
            <a:off x="1133856" y="3550000"/>
            <a:ext cx="10150000" cy="1300000"/>
          </a:xfrm>
          <a:prstGeom prst="rect">
            <a:avLst/>
          </a:prstGeom>
          <a:noFill/>
          <a:ln/>
        </p:spPr>
        <p:txBody>
          <a:bodyPr wrap="square" lIns="0" tIns="0" rIns="0" bIns="0" rtlCol="0" anchor="t"/>
          <a:lstStyle/>
          <a:p>
            <a:pPr marL="0" indent="0">
              <a:lnSpc>
                <a:spcPct val="103000"/>
              </a:lnSpc>
              <a:buNone/>
            </a:pPr>
            <a:r>
              <a:rPr lang="en-US" sz="2000" dirty="0">
                <a:solidFill>
                  <a:srgbClr val="33373F"/>
                </a:solidFill>
                <a:latin typeface="Arial" pitchFamily="34" charset="0"/>
                <a:ea typeface="Arial" pitchFamily="34" charset="-122"/>
                <a:cs typeface="Arial" pitchFamily="34" charset="-120"/>
              </a:rPr>
              <a:t>When most of a country's networks reach the rest of the Internet through just a few big providers, nearly all its ASNs sit inside a handful of customer cones — so a fault, outage, or shutdown in one of those cones can affect much of the country at once. That concentration is our first lens on </a:t>
            </a:r>
            <a:r>
              <a:rPr lang="en-US" sz="2000" b="1" dirty="0">
                <a:solidFill>
                  <a:srgbClr val="DB5B40"/>
                </a:solidFill>
                <a:latin typeface="Arial" pitchFamily="34" charset="0"/>
                <a:ea typeface="Arial" pitchFamily="34" charset="-122"/>
                <a:cs typeface="Arial" pitchFamily="34" charset="-120"/>
              </a:rPr>
              <a:t>degradation</a:t>
            </a:r>
            <a:r>
              <a:rPr lang="en-US" sz="2000" dirty="0">
                <a:solidFill>
                  <a:srgbClr val="33373F"/>
                </a:solidFill>
                <a:latin typeface="Arial" pitchFamily="34" charset="0"/>
                <a:ea typeface="Arial" pitchFamily="34" charset="-122"/>
                <a:cs typeface="Arial" pitchFamily="34" charset="-120"/>
              </a:rPr>
              <a:t> risk, deepened in Week 4.</a:t>
            </a:r>
            <a:endParaRPr lang="en-US" sz="14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arallel.png"/>
          <p:cNvPicPr>
            <a:picLocks noChangeAspect="1"/>
          </p:cNvPicPr>
          <p:nvPr/>
        </p:nvPicPr>
        <p:blipFill>
          <a:blip r:embed="rId3"/>
          <a:stretch>
            <a:fillRect/>
          </a:stretch>
        </p:blipFill>
        <p:spPr>
          <a:xfrm>
            <a:off x="7772400" y="1645920"/>
            <a:ext cx="3657600" cy="2679192"/>
          </a:xfrm>
          <a:prstGeom prst="rect">
            <a:avLst/>
          </a:prstGeom>
        </p:spPr>
      </p:pic>
      <p:sp>
        <p:nvSpPr>
          <p:cNvPr id="3" name="Text 0"/>
          <p:cNvSpPr/>
          <p:nvPr/>
        </p:nvSpPr>
        <p:spPr>
          <a:xfrm>
            <a:off x="822960" y="1828800"/>
            <a:ext cx="4572000" cy="274320"/>
          </a:xfrm>
          <a:prstGeom prst="rect">
            <a:avLst/>
          </a:prstGeom>
          <a:noFill/>
          <a:ln/>
        </p:spPr>
        <p:txBody>
          <a:bodyPr wrap="square" lIns="0" tIns="0" rIns="0" bIns="0" rtlCol="0" anchor="t"/>
          <a:lstStyle/>
          <a:p>
            <a:pPr marL="0" indent="0">
              <a:buNone/>
            </a:pPr>
            <a:r>
              <a:rPr lang="en-US" sz="1100" b="1" kern="0" spc="220" dirty="0">
                <a:solidFill>
                  <a:srgbClr val="2B5187"/>
                </a:solidFill>
                <a:latin typeface="Arial" pitchFamily="34" charset="0"/>
                <a:ea typeface="Arial" pitchFamily="34" charset="-122"/>
                <a:cs typeface="Arial" pitchFamily="34" charset="-120"/>
              </a:rPr>
              <a:t>PART TWO</a:t>
            </a:r>
            <a:endParaRPr lang="en-US" sz="1100" dirty="0"/>
          </a:p>
        </p:txBody>
      </p:sp>
      <p:sp>
        <p:nvSpPr>
          <p:cNvPr id="4" name="Text 1"/>
          <p:cNvSpPr/>
          <p:nvPr/>
        </p:nvSpPr>
        <p:spPr>
          <a:xfrm>
            <a:off x="777240" y="2148840"/>
            <a:ext cx="3657600" cy="1554480"/>
          </a:xfrm>
          <a:prstGeom prst="rect">
            <a:avLst/>
          </a:prstGeom>
          <a:noFill/>
          <a:ln/>
        </p:spPr>
        <p:txBody>
          <a:bodyPr wrap="square" lIns="0" tIns="0" rIns="0" bIns="0" rtlCol="0" anchor="ctr"/>
          <a:lstStyle/>
          <a:p>
            <a:pPr marL="0" indent="0">
              <a:buNone/>
            </a:pPr>
            <a:r>
              <a:rPr lang="en-US" sz="9600" b="1" dirty="0">
                <a:solidFill>
                  <a:srgbClr val="2B5187"/>
                </a:solidFill>
                <a:latin typeface="Arial" pitchFamily="34" charset="0"/>
                <a:ea typeface="Arial" pitchFamily="34" charset="-122"/>
                <a:cs typeface="Arial" pitchFamily="34" charset="-120"/>
              </a:rPr>
              <a:t>02</a:t>
            </a:r>
            <a:endParaRPr lang="en-US" sz="9600" dirty="0"/>
          </a:p>
        </p:txBody>
      </p:sp>
      <p:sp>
        <p:nvSpPr>
          <p:cNvPr id="5" name="Text 2"/>
          <p:cNvSpPr/>
          <p:nvPr/>
        </p:nvSpPr>
        <p:spPr>
          <a:xfrm>
            <a:off x="822960" y="3886200"/>
            <a:ext cx="6583680" cy="1188720"/>
          </a:xfrm>
          <a:prstGeom prst="rect">
            <a:avLst/>
          </a:prstGeom>
          <a:noFill/>
          <a:ln/>
        </p:spPr>
        <p:txBody>
          <a:bodyPr wrap="square" lIns="0" tIns="0" rIns="0" bIns="0" rtlCol="0" anchor="t"/>
          <a:lstStyle/>
          <a:p>
            <a:pPr marL="0" indent="0">
              <a:lnSpc>
                <a:spcPct val="98000"/>
              </a:lnSpc>
              <a:buNone/>
            </a:pPr>
            <a:r>
              <a:rPr lang="en-US" sz="3000" b="1" dirty="0">
                <a:solidFill>
                  <a:srgbClr val="15171C"/>
                </a:solidFill>
                <a:latin typeface="Arial" pitchFamily="34" charset="0"/>
                <a:ea typeface="Arial" pitchFamily="34" charset="-122"/>
                <a:cs typeface="Arial" pitchFamily="34" charset="-120"/>
              </a:rPr>
              <a:t>First steps on NRP</a:t>
            </a:r>
            <a:endParaRPr lang="en-US" sz="3000" dirty="0"/>
          </a:p>
        </p:txBody>
      </p:sp>
      <p:sp>
        <p:nvSpPr>
          <p:cNvPr id="6" name="Text 3"/>
          <p:cNvSpPr/>
          <p:nvPr/>
        </p:nvSpPr>
        <p:spPr>
          <a:xfrm>
            <a:off x="822960" y="4709160"/>
            <a:ext cx="6217920" cy="457200"/>
          </a:xfrm>
          <a:prstGeom prst="rect">
            <a:avLst/>
          </a:prstGeom>
          <a:noFill/>
          <a:ln/>
        </p:spPr>
        <p:txBody>
          <a:bodyPr wrap="square" lIns="0" tIns="0" rIns="0" bIns="0" rtlCol="0" anchor="ctr"/>
          <a:lstStyle/>
          <a:p>
            <a:pPr marL="0" indent="0">
              <a:buNone/>
            </a:pPr>
            <a:r>
              <a:rPr lang="en-US" sz="1350" i="1" dirty="0">
                <a:solidFill>
                  <a:srgbClr val="6B7280"/>
                </a:solidFill>
                <a:latin typeface="Arial" pitchFamily="34" charset="0"/>
                <a:ea typeface="Arial" pitchFamily="34" charset="-122"/>
                <a:cs typeface="Arial" pitchFamily="34" charset="-120"/>
              </a:rPr>
              <a:t>the data is too big for your laptop. Meet the infrastructure</a:t>
            </a:r>
            <a:endParaRPr lang="en-US" sz="1350" dirty="0"/>
          </a:p>
        </p:txBody>
      </p:sp>
      <p:sp>
        <p:nvSpPr>
          <p:cNvPr id="7" name="Text 4"/>
          <p:cNvSpPr/>
          <p:nvPr/>
        </p:nvSpPr>
        <p:spPr>
          <a:xfrm>
            <a:off x="7772400" y="4343400"/>
            <a:ext cx="3657600" cy="274320"/>
          </a:xfrm>
          <a:prstGeom prst="rect">
            <a:avLst/>
          </a:prstGeom>
          <a:noFill/>
          <a:ln/>
        </p:spPr>
        <p:txBody>
          <a:bodyPr wrap="square" lIns="0" tIns="0" rIns="0" bIns="0" rtlCol="0" anchor="ctr"/>
          <a:lstStyle/>
          <a:p>
            <a:pPr marL="0" indent="0" algn="ctr">
              <a:buNone/>
            </a:pPr>
            <a:r>
              <a:rPr lang="en-US" sz="1000" dirty="0">
                <a:solidFill>
                  <a:srgbClr val="6B7280"/>
                </a:solidFill>
                <a:latin typeface="Consolas" pitchFamily="34" charset="0"/>
                <a:ea typeface="Consolas" pitchFamily="34" charset="-122"/>
                <a:cs typeface="Consolas" pitchFamily="34" charset="-120"/>
              </a:rPr>
              <a:t>one analysis, many parallel jobs</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8074152" y="384048"/>
            <a:ext cx="3291840" cy="274320"/>
          </a:xfrm>
          <a:prstGeom prst="rect">
            <a:avLst/>
          </a:prstGeom>
          <a:noFill/>
          <a:ln/>
        </p:spPr>
        <p:txBody>
          <a:bodyPr wrap="square" lIns="0" tIns="0" rIns="0" bIns="0" rtlCol="0" anchor="ctr"/>
          <a:lstStyle/>
          <a:p>
            <a:pPr marL="0" indent="0" algn="r">
              <a:buNone/>
            </a:pPr>
            <a:r>
              <a:rPr lang="en-US" sz="1000" b="1" kern="0" spc="120" dirty="0">
                <a:solidFill>
                  <a:srgbClr val="15171C"/>
                </a:solidFill>
                <a:latin typeface="Arial" pitchFamily="34" charset="0"/>
                <a:ea typeface="Arial" pitchFamily="34" charset="-122"/>
                <a:cs typeface="Arial" pitchFamily="34" charset="-120"/>
              </a:rPr>
              <a:t>WEEK 1</a:t>
            </a:r>
            <a:r>
              <a:rPr lang="en-US" sz="1000" kern="0" spc="120" dirty="0">
                <a:solidFill>
                  <a:srgbClr val="6B7280"/>
                </a:solidFill>
                <a:latin typeface="Arial" pitchFamily="34" charset="0"/>
                <a:ea typeface="Arial" pitchFamily="34" charset="-122"/>
                <a:cs typeface="Arial" pitchFamily="34" charset="-120"/>
              </a:rPr>
              <a:t>  ·  BUILDING BLOCK </a:t>
            </a:r>
            <a:r>
              <a:rPr lang="en-US" sz="1000" b="1" kern="0" spc="120" dirty="0">
                <a:solidFill>
                  <a:srgbClr val="2B5187"/>
                </a:solidFill>
                <a:latin typeface="Arial" pitchFamily="34" charset="0"/>
                <a:ea typeface="Arial" pitchFamily="34" charset="-122"/>
                <a:cs typeface="Arial" pitchFamily="34" charset="-120"/>
              </a:rPr>
              <a:t>1</a:t>
            </a:r>
            <a:r>
              <a:rPr lang="en-US" sz="1000" kern="0" spc="120" dirty="0">
                <a:solidFill>
                  <a:srgbClr val="6B7280"/>
                </a:solidFill>
                <a:latin typeface="Arial" pitchFamily="34" charset="0"/>
                <a:ea typeface="Arial" pitchFamily="34" charset="-122"/>
                <a:cs typeface="Arial" pitchFamily="34" charset="-120"/>
              </a:rPr>
              <a:t> / 10</a:t>
            </a:r>
            <a:endParaRPr lang="en-US" sz="1000" dirty="0"/>
          </a:p>
        </p:txBody>
      </p:sp>
      <p:sp>
        <p:nvSpPr>
          <p:cNvPr id="3" name="Text 1"/>
          <p:cNvSpPr/>
          <p:nvPr/>
        </p:nvSpPr>
        <p:spPr>
          <a:xfrm>
            <a:off x="822960" y="640080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Arial" pitchFamily="34" charset="0"/>
                <a:ea typeface="Arial" pitchFamily="34" charset="-122"/>
                <a:cs typeface="Arial" pitchFamily="34" charset="-120"/>
              </a:rPr>
              <a:t>ESCALATE Training Program · Summer 2026</a:t>
            </a:r>
            <a:endParaRPr lang="en-US" sz="900" dirty="0"/>
          </a:p>
        </p:txBody>
      </p:sp>
      <p:sp>
        <p:nvSpPr>
          <p:cNvPr id="5" name="Text 3"/>
          <p:cNvSpPr/>
          <p:nvPr/>
        </p:nvSpPr>
        <p:spPr>
          <a:xfrm>
            <a:off x="822960" y="548640"/>
            <a:ext cx="6400800" cy="274320"/>
          </a:xfrm>
          <a:prstGeom prst="rect">
            <a:avLst/>
          </a:prstGeom>
          <a:noFill/>
          <a:ln/>
        </p:spPr>
        <p:txBody>
          <a:bodyPr wrap="square" lIns="0" tIns="0" rIns="0" bIns="0" rtlCol="0" anchor="t"/>
          <a:lstStyle/>
          <a:p>
            <a:pPr marL="0" indent="0">
              <a:buNone/>
            </a:pPr>
            <a:r>
              <a:rPr lang="en-US" sz="1100" b="1" kern="0" spc="220" dirty="0">
                <a:solidFill>
                  <a:srgbClr val="2B5187"/>
                </a:solidFill>
                <a:latin typeface="Arial" pitchFamily="34" charset="0"/>
                <a:ea typeface="Arial" pitchFamily="34" charset="-122"/>
                <a:cs typeface="Arial" pitchFamily="34" charset="-120"/>
              </a:rPr>
              <a:t>WHY YOUR LAPTOP ISN'T ENOUGH</a:t>
            </a:r>
            <a:endParaRPr lang="en-US" sz="1100" dirty="0"/>
          </a:p>
        </p:txBody>
      </p:sp>
      <p:sp>
        <p:nvSpPr>
          <p:cNvPr id="6" name="Text 4"/>
          <p:cNvSpPr/>
          <p:nvPr/>
        </p:nvSpPr>
        <p:spPr>
          <a:xfrm>
            <a:off x="822960" y="868680"/>
            <a:ext cx="10607040" cy="1188720"/>
          </a:xfrm>
          <a:prstGeom prst="rect">
            <a:avLst/>
          </a:prstGeom>
          <a:noFill/>
          <a:ln/>
        </p:spPr>
        <p:txBody>
          <a:bodyPr wrap="square" lIns="0" tIns="0" rIns="0" bIns="0" rtlCol="0" anchor="t"/>
          <a:lstStyle/>
          <a:p>
            <a:pPr marL="0" indent="0">
              <a:lnSpc>
                <a:spcPct val="98000"/>
              </a:lnSpc>
              <a:buNone/>
            </a:pPr>
            <a:r>
              <a:rPr lang="en-US" sz="2900" b="1" dirty="0">
                <a:solidFill>
                  <a:srgbClr val="15171C"/>
                </a:solidFill>
                <a:latin typeface="Arial" pitchFamily="34" charset="0"/>
                <a:ea typeface="Arial" pitchFamily="34" charset="-122"/>
                <a:cs typeface="Arial" pitchFamily="34" charset="-120"/>
              </a:rPr>
              <a:t>Two systems you'll learn to use</a:t>
            </a:r>
            <a:endParaRPr lang="en-US" sz="2900" dirty="0"/>
          </a:p>
        </p:txBody>
      </p:sp>
      <p:sp>
        <p:nvSpPr>
          <p:cNvPr id="7" name="Text 5"/>
          <p:cNvSpPr/>
          <p:nvPr/>
        </p:nvSpPr>
        <p:spPr>
          <a:xfrm>
            <a:off x="822960" y="1783080"/>
            <a:ext cx="10543032" cy="457200"/>
          </a:xfrm>
          <a:prstGeom prst="rect">
            <a:avLst/>
          </a:prstGeom>
          <a:noFill/>
          <a:ln/>
        </p:spPr>
        <p:txBody>
          <a:bodyPr wrap="square" lIns="0" tIns="0" rIns="0" bIns="0" rtlCol="0" anchor="ctr"/>
          <a:lstStyle/>
          <a:p>
            <a:pPr marL="0" indent="0">
              <a:lnSpc>
                <a:spcPct val="110000"/>
              </a:lnSpc>
              <a:buNone/>
            </a:pPr>
            <a:r>
              <a:rPr lang="en-US" sz="2000" dirty="0">
                <a:solidFill>
                  <a:srgbClr val="33373F"/>
                </a:solidFill>
                <a:latin typeface="Arial" pitchFamily="34" charset="0"/>
                <a:ea typeface="Arial" pitchFamily="34" charset="-122"/>
                <a:cs typeface="Arial" pitchFamily="34" charset="-120"/>
              </a:rPr>
              <a:t>The datasets are global and span months. You'll learn two complementary research cyberinfrastructures — both NSF-funded.</a:t>
            </a:r>
            <a:endParaRPr lang="en-US" sz="1450" dirty="0"/>
          </a:p>
        </p:txBody>
      </p:sp>
      <p:sp>
        <p:nvSpPr>
          <p:cNvPr id="8" name="Shape 6"/>
          <p:cNvSpPr/>
          <p:nvPr/>
        </p:nvSpPr>
        <p:spPr>
          <a:xfrm>
            <a:off x="822960" y="2514600"/>
            <a:ext cx="5029200" cy="2834640"/>
          </a:xfrm>
          <a:prstGeom prst="roundRect">
            <a:avLst>
              <a:gd name="adj" fmla="val 2258"/>
            </a:avLst>
          </a:prstGeom>
          <a:solidFill>
            <a:srgbClr val="FFFFFF"/>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9" name="Text 7"/>
          <p:cNvSpPr/>
          <p:nvPr/>
        </p:nvSpPr>
        <p:spPr>
          <a:xfrm>
            <a:off x="1143000" y="2788920"/>
            <a:ext cx="4389120" cy="365760"/>
          </a:xfrm>
          <a:prstGeom prst="rect">
            <a:avLst/>
          </a:prstGeom>
          <a:noFill/>
          <a:ln/>
        </p:spPr>
        <p:txBody>
          <a:bodyPr wrap="square" lIns="0" tIns="0" rIns="0" bIns="0" rtlCol="0" anchor="ctr"/>
          <a:lstStyle/>
          <a:p>
            <a:pPr marL="0" indent="0">
              <a:buNone/>
            </a:pPr>
            <a:r>
              <a:rPr lang="en-US" sz="2000" b="1" dirty="0">
                <a:solidFill>
                  <a:srgbClr val="2B5187"/>
                </a:solidFill>
                <a:latin typeface="Arial" pitchFamily="34" charset="0"/>
                <a:ea typeface="Arial" pitchFamily="34" charset="-122"/>
                <a:cs typeface="Arial" pitchFamily="34" charset="-120"/>
              </a:rPr>
              <a:t>NRP / Nautilus</a:t>
            </a:r>
            <a:endParaRPr lang="en-US" sz="1800" dirty="0"/>
          </a:p>
        </p:txBody>
      </p:sp>
      <p:sp>
        <p:nvSpPr>
          <p:cNvPr id="10" name="Text 8"/>
          <p:cNvSpPr/>
          <p:nvPr/>
        </p:nvSpPr>
        <p:spPr>
          <a:xfrm>
            <a:off x="1143000" y="3209544"/>
            <a:ext cx="4389120" cy="274320"/>
          </a:xfrm>
          <a:prstGeom prst="rect">
            <a:avLst/>
          </a:prstGeom>
          <a:noFill/>
          <a:ln/>
        </p:spPr>
        <p:txBody>
          <a:bodyPr wrap="square" lIns="0" tIns="0" rIns="0" bIns="0" rtlCol="0" anchor="ctr"/>
          <a:lstStyle/>
          <a:p>
            <a:pPr marL="0" indent="0">
              <a:buNone/>
            </a:pPr>
            <a:r>
              <a:rPr lang="en-US" sz="2000" dirty="0">
                <a:solidFill>
                  <a:srgbClr val="6B7280"/>
                </a:solidFill>
                <a:latin typeface="Arial" pitchFamily="34" charset="0"/>
                <a:ea typeface="Arial" pitchFamily="34" charset="-122"/>
                <a:cs typeface="Arial" pitchFamily="34" charset="-120"/>
              </a:rPr>
              <a:t>The National Research Platform</a:t>
            </a:r>
            <a:endParaRPr lang="en-US" sz="1100" dirty="0"/>
          </a:p>
        </p:txBody>
      </p:sp>
      <p:sp>
        <p:nvSpPr>
          <p:cNvPr id="11" name="Shape 9"/>
          <p:cNvSpPr/>
          <p:nvPr/>
        </p:nvSpPr>
        <p:spPr>
          <a:xfrm>
            <a:off x="1097280" y="3718580"/>
            <a:ext cx="91440" cy="91440"/>
          </a:xfrm>
          <a:prstGeom prst="ellipse">
            <a:avLst/>
          </a:prstGeom>
          <a:solidFill>
            <a:srgbClr val="2B5187"/>
          </a:solidFill>
          <a:ln/>
        </p:spPr>
        <p:txBody>
          <a:bodyPr/>
          <a:lstStyle/>
          <a:p>
            <a:endParaRPr lang="en-US"/>
          </a:p>
        </p:txBody>
      </p:sp>
      <p:sp>
        <p:nvSpPr>
          <p:cNvPr id="12" name="Text 10"/>
          <p:cNvSpPr/>
          <p:nvPr/>
        </p:nvSpPr>
        <p:spPr>
          <a:xfrm>
            <a:off x="1408176" y="3650000"/>
            <a:ext cx="4169664" cy="420624"/>
          </a:xfrm>
          <a:prstGeom prst="rect">
            <a:avLst/>
          </a:prstGeom>
          <a:noFill/>
          <a:ln/>
        </p:spPr>
        <p:txBody>
          <a:bodyPr wrap="square" lIns="0" tIns="0" rIns="0" bIns="0" rtlCol="0" anchor="t"/>
          <a:lstStyle/>
          <a:p>
            <a:pPr marL="0" indent="0">
              <a:lnSpc>
                <a:spcPct val="103000"/>
              </a:lnSpc>
              <a:buNone/>
            </a:pPr>
            <a:r>
              <a:rPr lang="en-US" sz="2000" dirty="0">
                <a:solidFill>
                  <a:srgbClr val="33373F"/>
                </a:solidFill>
                <a:latin typeface="Arial" pitchFamily="34" charset="0"/>
                <a:ea typeface="Arial" pitchFamily="34" charset="-122"/>
                <a:cs typeface="Arial" pitchFamily="34" charset="-120"/>
              </a:rPr>
              <a:t>Kubernetes-based; you start with </a:t>
            </a:r>
            <a:r>
              <a:rPr lang="en-US" sz="2000" b="1" dirty="0">
                <a:solidFill>
                  <a:srgbClr val="15171C"/>
                </a:solidFill>
                <a:latin typeface="Arial" pitchFamily="34" charset="0"/>
                <a:ea typeface="Arial" pitchFamily="34" charset="-122"/>
                <a:cs typeface="Arial" pitchFamily="34" charset="-120"/>
              </a:rPr>
              <a:t>JupyterHub</a:t>
            </a:r>
            <a:endParaRPr lang="en-US" sz="1300" dirty="0"/>
          </a:p>
        </p:txBody>
      </p:sp>
      <p:sp>
        <p:nvSpPr>
          <p:cNvPr id="13" name="Shape 11"/>
          <p:cNvSpPr/>
          <p:nvPr/>
        </p:nvSpPr>
        <p:spPr>
          <a:xfrm>
            <a:off x="1097280" y="4468580"/>
            <a:ext cx="91440" cy="91440"/>
          </a:xfrm>
          <a:prstGeom prst="ellipse">
            <a:avLst/>
          </a:prstGeom>
          <a:solidFill>
            <a:srgbClr val="2B5187"/>
          </a:solidFill>
          <a:ln/>
        </p:spPr>
        <p:txBody>
          <a:bodyPr/>
          <a:lstStyle/>
          <a:p>
            <a:endParaRPr lang="en-US"/>
          </a:p>
        </p:txBody>
      </p:sp>
      <p:sp>
        <p:nvSpPr>
          <p:cNvPr id="14" name="Text 12"/>
          <p:cNvSpPr/>
          <p:nvPr/>
        </p:nvSpPr>
        <p:spPr>
          <a:xfrm>
            <a:off x="1408176" y="4400000"/>
            <a:ext cx="4169664" cy="420624"/>
          </a:xfrm>
          <a:prstGeom prst="rect">
            <a:avLst/>
          </a:prstGeom>
          <a:noFill/>
          <a:ln/>
        </p:spPr>
        <p:txBody>
          <a:bodyPr wrap="square" lIns="0" tIns="0" rIns="0" bIns="0" rtlCol="0" anchor="t"/>
          <a:lstStyle/>
          <a:p>
            <a:pPr marL="0" indent="0">
              <a:lnSpc>
                <a:spcPct val="103000"/>
              </a:lnSpc>
              <a:buNone/>
            </a:pPr>
            <a:r>
              <a:rPr lang="en-US" sz="2000" dirty="0">
                <a:solidFill>
                  <a:srgbClr val="33373F"/>
                </a:solidFill>
                <a:latin typeface="Arial" pitchFamily="34" charset="0"/>
                <a:ea typeface="Arial" pitchFamily="34" charset="-122"/>
                <a:cs typeface="Arial" pitchFamily="34" charset="-120"/>
              </a:rPr>
              <a:t>Interactive notebooks, then </a:t>
            </a:r>
            <a:r>
              <a:rPr lang="en-US" sz="2000" b="1" dirty="0">
                <a:solidFill>
                  <a:srgbClr val="15171C"/>
                </a:solidFill>
                <a:latin typeface="Arial" pitchFamily="34" charset="0"/>
                <a:ea typeface="Arial" pitchFamily="34" charset="-122"/>
                <a:cs typeface="Arial" pitchFamily="34" charset="-120"/>
              </a:rPr>
              <a:t>parallel jobs</a:t>
            </a:r>
            <a:endParaRPr lang="en-US" sz="1300" dirty="0"/>
          </a:p>
        </p:txBody>
      </p:sp>
      <p:sp>
        <p:nvSpPr>
          <p:cNvPr id="19" name="Shape 17"/>
          <p:cNvSpPr/>
          <p:nvPr/>
        </p:nvSpPr>
        <p:spPr>
          <a:xfrm>
            <a:off x="6309360" y="2514600"/>
            <a:ext cx="5029200" cy="2834640"/>
          </a:xfrm>
          <a:prstGeom prst="roundRect">
            <a:avLst>
              <a:gd name="adj" fmla="val 2258"/>
            </a:avLst>
          </a:prstGeom>
          <a:solidFill>
            <a:srgbClr val="FFFFFF"/>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20" name="Text 18"/>
          <p:cNvSpPr/>
          <p:nvPr/>
        </p:nvSpPr>
        <p:spPr>
          <a:xfrm>
            <a:off x="6629400" y="2788920"/>
            <a:ext cx="4389120" cy="365760"/>
          </a:xfrm>
          <a:prstGeom prst="rect">
            <a:avLst/>
          </a:prstGeom>
          <a:noFill/>
          <a:ln/>
        </p:spPr>
        <p:txBody>
          <a:bodyPr wrap="square" lIns="0" tIns="0" rIns="0" bIns="0" rtlCol="0" anchor="ctr"/>
          <a:lstStyle/>
          <a:p>
            <a:pPr marL="0" indent="0">
              <a:buNone/>
            </a:pPr>
            <a:r>
              <a:rPr lang="en-US" sz="2000" b="1" dirty="0">
                <a:solidFill>
                  <a:srgbClr val="2B5187"/>
                </a:solidFill>
                <a:latin typeface="Arial" pitchFamily="34" charset="0"/>
                <a:ea typeface="Arial" pitchFamily="34" charset="-122"/>
                <a:cs typeface="Arial" pitchFamily="34" charset="-120"/>
              </a:rPr>
              <a:t>SDSC Expanse</a:t>
            </a:r>
            <a:endParaRPr lang="en-US" sz="1800" dirty="0"/>
          </a:p>
        </p:txBody>
      </p:sp>
      <p:sp>
        <p:nvSpPr>
          <p:cNvPr id="21" name="Text 19"/>
          <p:cNvSpPr/>
          <p:nvPr/>
        </p:nvSpPr>
        <p:spPr>
          <a:xfrm>
            <a:off x="6629400" y="3209544"/>
            <a:ext cx="4389120" cy="274320"/>
          </a:xfrm>
          <a:prstGeom prst="rect">
            <a:avLst/>
          </a:prstGeom>
          <a:noFill/>
          <a:ln/>
        </p:spPr>
        <p:txBody>
          <a:bodyPr wrap="square" lIns="0" tIns="0" rIns="0" bIns="0" rtlCol="0" anchor="ctr"/>
          <a:lstStyle/>
          <a:p>
            <a:pPr marL="0" indent="0">
              <a:buNone/>
            </a:pPr>
            <a:r>
              <a:rPr lang="en-US" sz="2000" dirty="0">
                <a:solidFill>
                  <a:srgbClr val="6B7280"/>
                </a:solidFill>
                <a:latin typeface="Arial" pitchFamily="34" charset="0"/>
                <a:ea typeface="Arial" pitchFamily="34" charset="-122"/>
                <a:cs typeface="Arial" pitchFamily="34" charset="-120"/>
              </a:rPr>
              <a:t>A supercomputer at SDSC</a:t>
            </a:r>
            <a:endParaRPr lang="en-US" sz="1100" dirty="0"/>
          </a:p>
        </p:txBody>
      </p:sp>
      <p:sp>
        <p:nvSpPr>
          <p:cNvPr id="22" name="Shape 20"/>
          <p:cNvSpPr/>
          <p:nvPr/>
        </p:nvSpPr>
        <p:spPr>
          <a:xfrm>
            <a:off x="6583680" y="3718580"/>
            <a:ext cx="91440" cy="91440"/>
          </a:xfrm>
          <a:prstGeom prst="ellipse">
            <a:avLst/>
          </a:prstGeom>
          <a:solidFill>
            <a:srgbClr val="2B5187"/>
          </a:solidFill>
          <a:ln/>
        </p:spPr>
        <p:txBody>
          <a:bodyPr/>
          <a:lstStyle/>
          <a:p>
            <a:endParaRPr lang="en-US"/>
          </a:p>
        </p:txBody>
      </p:sp>
      <p:sp>
        <p:nvSpPr>
          <p:cNvPr id="23" name="Text 21"/>
          <p:cNvSpPr/>
          <p:nvPr/>
        </p:nvSpPr>
        <p:spPr>
          <a:xfrm>
            <a:off x="6894576" y="3650000"/>
            <a:ext cx="4169664" cy="420624"/>
          </a:xfrm>
          <a:prstGeom prst="rect">
            <a:avLst/>
          </a:prstGeom>
          <a:noFill/>
          <a:ln/>
        </p:spPr>
        <p:txBody>
          <a:bodyPr wrap="square" lIns="0" tIns="0" rIns="0" bIns="0" rtlCol="0" anchor="t"/>
          <a:lstStyle/>
          <a:p>
            <a:pPr marL="0" indent="0">
              <a:lnSpc>
                <a:spcPct val="103000"/>
              </a:lnSpc>
              <a:buNone/>
            </a:pPr>
            <a:r>
              <a:rPr lang="en-US" sz="2000" dirty="0">
                <a:solidFill>
                  <a:srgbClr val="33373F"/>
                </a:solidFill>
                <a:latin typeface="Arial" pitchFamily="34" charset="0"/>
                <a:ea typeface="Arial" pitchFamily="34" charset="-122"/>
                <a:cs typeface="Arial" pitchFamily="34" charset="-120"/>
              </a:rPr>
              <a:t>Batch HPC scheduled with </a:t>
            </a:r>
            <a:r>
              <a:rPr lang="en-US" sz="2000" b="1" dirty="0">
                <a:solidFill>
                  <a:srgbClr val="15171C"/>
                </a:solidFill>
                <a:latin typeface="Arial" pitchFamily="34" charset="0"/>
                <a:ea typeface="Arial" pitchFamily="34" charset="-122"/>
                <a:cs typeface="Arial" pitchFamily="34" charset="-120"/>
              </a:rPr>
              <a:t>Slurm</a:t>
            </a:r>
            <a:endParaRPr lang="en-US" sz="1300" dirty="0"/>
          </a:p>
        </p:txBody>
      </p:sp>
      <p:sp>
        <p:nvSpPr>
          <p:cNvPr id="24" name="Shape 22"/>
          <p:cNvSpPr/>
          <p:nvPr/>
        </p:nvSpPr>
        <p:spPr>
          <a:xfrm>
            <a:off x="6583680" y="4468580"/>
            <a:ext cx="91440" cy="91440"/>
          </a:xfrm>
          <a:prstGeom prst="ellipse">
            <a:avLst/>
          </a:prstGeom>
          <a:solidFill>
            <a:srgbClr val="2B5187"/>
          </a:solidFill>
          <a:ln/>
        </p:spPr>
        <p:txBody>
          <a:bodyPr/>
          <a:lstStyle/>
          <a:p>
            <a:endParaRPr lang="en-US"/>
          </a:p>
        </p:txBody>
      </p:sp>
      <p:sp>
        <p:nvSpPr>
          <p:cNvPr id="25" name="Text 23"/>
          <p:cNvSpPr/>
          <p:nvPr/>
        </p:nvSpPr>
        <p:spPr>
          <a:xfrm>
            <a:off x="6894576" y="4400000"/>
            <a:ext cx="4169664" cy="420624"/>
          </a:xfrm>
          <a:prstGeom prst="rect">
            <a:avLst/>
          </a:prstGeom>
          <a:noFill/>
          <a:ln/>
        </p:spPr>
        <p:txBody>
          <a:bodyPr wrap="square" lIns="0" tIns="0" rIns="0" bIns="0" rtlCol="0" anchor="t"/>
          <a:lstStyle/>
          <a:p>
            <a:pPr marL="0" indent="0">
              <a:lnSpc>
                <a:spcPct val="103000"/>
              </a:lnSpc>
              <a:buNone/>
            </a:pPr>
            <a:r>
              <a:rPr lang="en-US" sz="2000" dirty="0">
                <a:solidFill>
                  <a:srgbClr val="33373F"/>
                </a:solidFill>
                <a:latin typeface="Arial" pitchFamily="34" charset="0"/>
                <a:ea typeface="Arial" pitchFamily="34" charset="-122"/>
                <a:cs typeface="Arial" pitchFamily="34" charset="-120"/>
              </a:rPr>
              <a:t>For the heavy </a:t>
            </a:r>
            <a:r>
              <a:rPr lang="en-US" sz="2000" b="1" dirty="0">
                <a:solidFill>
                  <a:srgbClr val="15171C"/>
                </a:solidFill>
                <a:latin typeface="Arial" pitchFamily="34" charset="0"/>
                <a:ea typeface="Arial" pitchFamily="34" charset="-122"/>
                <a:cs typeface="Arial" pitchFamily="34" charset="-120"/>
              </a:rPr>
              <a:t>longitudinal jobs</a:t>
            </a:r>
            <a:r>
              <a:rPr lang="en-US" sz="2000" dirty="0">
                <a:solidFill>
                  <a:srgbClr val="33373F"/>
                </a:solidFill>
                <a:latin typeface="Arial" pitchFamily="34" charset="0"/>
                <a:ea typeface="Arial" pitchFamily="34" charset="-122"/>
                <a:cs typeface="Arial" pitchFamily="34" charset="-120"/>
              </a:rPr>
              <a:t> (many snapshots)</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8074152" y="384048"/>
            <a:ext cx="3291840" cy="274320"/>
          </a:xfrm>
          <a:prstGeom prst="rect">
            <a:avLst/>
          </a:prstGeom>
          <a:noFill/>
          <a:ln/>
        </p:spPr>
        <p:txBody>
          <a:bodyPr wrap="square" lIns="0" tIns="0" rIns="0" bIns="0" rtlCol="0" anchor="ctr"/>
          <a:lstStyle/>
          <a:p>
            <a:pPr marL="0" indent="0" algn="r">
              <a:buNone/>
            </a:pPr>
            <a:r>
              <a:rPr lang="en-US" sz="1000" b="1" kern="0" spc="120" dirty="0">
                <a:solidFill>
                  <a:srgbClr val="15171C"/>
                </a:solidFill>
                <a:latin typeface="Arial" pitchFamily="34" charset="0"/>
                <a:ea typeface="Arial" pitchFamily="34" charset="-122"/>
                <a:cs typeface="Arial" pitchFamily="34" charset="-120"/>
              </a:rPr>
              <a:t>WEEK 1</a:t>
            </a:r>
            <a:r>
              <a:rPr lang="en-US" sz="1000" kern="0" spc="120" dirty="0">
                <a:solidFill>
                  <a:srgbClr val="6B7280"/>
                </a:solidFill>
                <a:latin typeface="Arial" pitchFamily="34" charset="0"/>
                <a:ea typeface="Arial" pitchFamily="34" charset="-122"/>
                <a:cs typeface="Arial" pitchFamily="34" charset="-120"/>
              </a:rPr>
              <a:t>  ·  BUILDING BLOCK </a:t>
            </a:r>
            <a:r>
              <a:rPr lang="en-US" sz="1000" b="1" kern="0" spc="120" dirty="0">
                <a:solidFill>
                  <a:srgbClr val="2B5187"/>
                </a:solidFill>
                <a:latin typeface="Arial" pitchFamily="34" charset="0"/>
                <a:ea typeface="Arial" pitchFamily="34" charset="-122"/>
                <a:cs typeface="Arial" pitchFamily="34" charset="-120"/>
              </a:rPr>
              <a:t>1</a:t>
            </a:r>
            <a:r>
              <a:rPr lang="en-US" sz="1000" kern="0" spc="120" dirty="0">
                <a:solidFill>
                  <a:srgbClr val="6B7280"/>
                </a:solidFill>
                <a:latin typeface="Arial" pitchFamily="34" charset="0"/>
                <a:ea typeface="Arial" pitchFamily="34" charset="-122"/>
                <a:cs typeface="Arial" pitchFamily="34" charset="-120"/>
              </a:rPr>
              <a:t> / 10</a:t>
            </a:r>
            <a:endParaRPr lang="en-US" sz="1000" dirty="0"/>
          </a:p>
        </p:txBody>
      </p:sp>
      <p:sp>
        <p:nvSpPr>
          <p:cNvPr id="3" name="Text 1"/>
          <p:cNvSpPr/>
          <p:nvPr/>
        </p:nvSpPr>
        <p:spPr>
          <a:xfrm>
            <a:off x="822960" y="640080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Arial" pitchFamily="34" charset="0"/>
                <a:ea typeface="Arial" pitchFamily="34" charset="-122"/>
                <a:cs typeface="Arial" pitchFamily="34" charset="-120"/>
              </a:rPr>
              <a:t>ESCALATE Training Program · Summer 2026</a:t>
            </a:r>
            <a:endParaRPr lang="en-US" sz="900" dirty="0"/>
          </a:p>
        </p:txBody>
      </p:sp>
      <p:sp>
        <p:nvSpPr>
          <p:cNvPr id="5" name="Text 3"/>
          <p:cNvSpPr/>
          <p:nvPr/>
        </p:nvSpPr>
        <p:spPr>
          <a:xfrm>
            <a:off x="822960" y="548640"/>
            <a:ext cx="6400800" cy="274320"/>
          </a:xfrm>
          <a:prstGeom prst="rect">
            <a:avLst/>
          </a:prstGeom>
          <a:noFill/>
          <a:ln/>
        </p:spPr>
        <p:txBody>
          <a:bodyPr wrap="square" lIns="0" tIns="0" rIns="0" bIns="0" rtlCol="0" anchor="t"/>
          <a:lstStyle/>
          <a:p>
            <a:pPr marL="0" indent="0">
              <a:buNone/>
            </a:pPr>
            <a:r>
              <a:rPr lang="en-US" sz="1100" b="1" kern="0" spc="220" dirty="0">
                <a:solidFill>
                  <a:srgbClr val="2B5187"/>
                </a:solidFill>
                <a:latin typeface="Arial" pitchFamily="34" charset="0"/>
                <a:ea typeface="Arial" pitchFamily="34" charset="-122"/>
                <a:cs typeface="Arial" pitchFamily="34" charset="-120"/>
              </a:rPr>
              <a:t>WHY YOUR LAPTOP ISN'T ENOUGH</a:t>
            </a:r>
            <a:endParaRPr lang="en-US" sz="1100" dirty="0"/>
          </a:p>
        </p:txBody>
      </p:sp>
      <p:sp>
        <p:nvSpPr>
          <p:cNvPr id="6" name="Text 4"/>
          <p:cNvSpPr/>
          <p:nvPr/>
        </p:nvSpPr>
        <p:spPr>
          <a:xfrm>
            <a:off x="822960" y="868680"/>
            <a:ext cx="10607040" cy="1188720"/>
          </a:xfrm>
          <a:prstGeom prst="rect">
            <a:avLst/>
          </a:prstGeom>
          <a:noFill/>
          <a:ln/>
        </p:spPr>
        <p:txBody>
          <a:bodyPr wrap="square" lIns="0" tIns="0" rIns="0" bIns="0" rtlCol="0" anchor="t"/>
          <a:lstStyle/>
          <a:p>
            <a:pPr marL="0" indent="0">
              <a:lnSpc>
                <a:spcPct val="98000"/>
              </a:lnSpc>
              <a:buNone/>
            </a:pPr>
            <a:r>
              <a:rPr lang="en-US" sz="2900" b="1" dirty="0">
                <a:solidFill>
                  <a:srgbClr val="15171C"/>
                </a:solidFill>
                <a:latin typeface="Arial" pitchFamily="34" charset="0"/>
                <a:ea typeface="Arial" pitchFamily="34" charset="-122"/>
                <a:cs typeface="Arial" pitchFamily="34" charset="-120"/>
              </a:rPr>
              <a:t>Two systems you'll learn to use (cont.)</a:t>
            </a:r>
            <a:endParaRPr lang="en-US" sz="2900" dirty="0"/>
          </a:p>
        </p:txBody>
      </p:sp>
      <p:sp>
        <p:nvSpPr>
          <p:cNvPr id="7" name="Text 5"/>
          <p:cNvSpPr/>
          <p:nvPr/>
        </p:nvSpPr>
        <p:spPr>
          <a:xfrm>
            <a:off x="822960" y="1783080"/>
            <a:ext cx="10543032" cy="457200"/>
          </a:xfrm>
          <a:prstGeom prst="rect">
            <a:avLst/>
          </a:prstGeom>
          <a:noFill/>
          <a:ln/>
        </p:spPr>
        <p:txBody>
          <a:bodyPr wrap="square" lIns="0" tIns="0" rIns="0" bIns="0" rtlCol="0" anchor="ctr"/>
          <a:lstStyle/>
          <a:p>
            <a:pPr marL="0" indent="0">
              <a:lnSpc>
                <a:spcPct val="110000"/>
              </a:lnSpc>
              <a:buNone/>
            </a:pPr>
            <a:r>
              <a:rPr lang="en-US" sz="2000" dirty="0">
                <a:solidFill>
                  <a:srgbClr val="33373F"/>
                </a:solidFill>
                <a:latin typeface="Arial" pitchFamily="34" charset="0"/>
                <a:ea typeface="Arial" pitchFamily="34" charset="-122"/>
                <a:cs typeface="Arial" pitchFamily="34" charset="-120"/>
              </a:rPr>
              <a:t>The datasets are global and span months. You'll learn two complementary research cyberinfrastructures — both NSF-funded.</a:t>
            </a:r>
            <a:endParaRPr lang="en-US" sz="1450" dirty="0"/>
          </a:p>
        </p:txBody>
      </p:sp>
      <p:sp>
        <p:nvSpPr>
          <p:cNvPr id="8" name="Shape 6"/>
          <p:cNvSpPr/>
          <p:nvPr/>
        </p:nvSpPr>
        <p:spPr>
          <a:xfrm>
            <a:off x="822960" y="2514600"/>
            <a:ext cx="5029200" cy="2834640"/>
          </a:xfrm>
          <a:prstGeom prst="roundRect">
            <a:avLst>
              <a:gd name="adj" fmla="val 2258"/>
            </a:avLst>
          </a:prstGeom>
          <a:solidFill>
            <a:srgbClr val="FFFFFF"/>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9" name="Text 7"/>
          <p:cNvSpPr/>
          <p:nvPr/>
        </p:nvSpPr>
        <p:spPr>
          <a:xfrm>
            <a:off x="1143000" y="2788920"/>
            <a:ext cx="4389120" cy="365760"/>
          </a:xfrm>
          <a:prstGeom prst="rect">
            <a:avLst/>
          </a:prstGeom>
          <a:noFill/>
          <a:ln/>
        </p:spPr>
        <p:txBody>
          <a:bodyPr wrap="square" lIns="0" tIns="0" rIns="0" bIns="0" rtlCol="0" anchor="ctr"/>
          <a:lstStyle/>
          <a:p>
            <a:pPr marL="0" indent="0">
              <a:buNone/>
            </a:pPr>
            <a:r>
              <a:rPr lang="en-US" sz="2000" b="1" dirty="0">
                <a:solidFill>
                  <a:srgbClr val="2B5187"/>
                </a:solidFill>
                <a:latin typeface="Arial" pitchFamily="34" charset="0"/>
                <a:ea typeface="Arial" pitchFamily="34" charset="-122"/>
                <a:cs typeface="Arial" pitchFamily="34" charset="-120"/>
              </a:rPr>
              <a:t>NRP / Nautilus</a:t>
            </a:r>
            <a:endParaRPr lang="en-US" sz="1800" dirty="0"/>
          </a:p>
        </p:txBody>
      </p:sp>
      <p:sp>
        <p:nvSpPr>
          <p:cNvPr id="10" name="Text 8"/>
          <p:cNvSpPr/>
          <p:nvPr/>
        </p:nvSpPr>
        <p:spPr>
          <a:xfrm>
            <a:off x="1143000" y="3209544"/>
            <a:ext cx="4389120" cy="274320"/>
          </a:xfrm>
          <a:prstGeom prst="rect">
            <a:avLst/>
          </a:prstGeom>
          <a:noFill/>
          <a:ln/>
        </p:spPr>
        <p:txBody>
          <a:bodyPr wrap="square" lIns="0" tIns="0" rIns="0" bIns="0" rtlCol="0" anchor="ctr"/>
          <a:lstStyle/>
          <a:p>
            <a:pPr marL="0" indent="0">
              <a:buNone/>
            </a:pPr>
            <a:r>
              <a:rPr lang="en-US" sz="2000" dirty="0">
                <a:solidFill>
                  <a:srgbClr val="6B7280"/>
                </a:solidFill>
                <a:latin typeface="Arial" pitchFamily="34" charset="0"/>
                <a:ea typeface="Arial" pitchFamily="34" charset="-122"/>
                <a:cs typeface="Arial" pitchFamily="34" charset="-120"/>
              </a:rPr>
              <a:t>The National Research Platform</a:t>
            </a:r>
            <a:endParaRPr lang="en-US" sz="1100" dirty="0"/>
          </a:p>
        </p:txBody>
      </p:sp>
      <p:sp>
        <p:nvSpPr>
          <p:cNvPr id="15" name="Shape 13"/>
          <p:cNvSpPr/>
          <p:nvPr/>
        </p:nvSpPr>
        <p:spPr>
          <a:xfrm>
            <a:off x="1097280" y="3718580"/>
            <a:ext cx="91440" cy="91440"/>
          </a:xfrm>
          <a:prstGeom prst="ellipse">
            <a:avLst/>
          </a:prstGeom>
          <a:solidFill>
            <a:srgbClr val="2B5187"/>
          </a:solidFill>
          <a:ln/>
        </p:spPr>
        <p:txBody>
          <a:bodyPr/>
          <a:lstStyle/>
          <a:p>
            <a:endParaRPr lang="en-US"/>
          </a:p>
        </p:txBody>
      </p:sp>
      <p:sp>
        <p:nvSpPr>
          <p:cNvPr id="16" name="Text 14"/>
          <p:cNvSpPr/>
          <p:nvPr/>
        </p:nvSpPr>
        <p:spPr>
          <a:xfrm>
            <a:off x="1408176" y="3650000"/>
            <a:ext cx="4169664" cy="420624"/>
          </a:xfrm>
          <a:prstGeom prst="rect">
            <a:avLst/>
          </a:prstGeom>
          <a:noFill/>
          <a:ln/>
        </p:spPr>
        <p:txBody>
          <a:bodyPr wrap="square" lIns="0" tIns="0" rIns="0" bIns="0" rtlCol="0" anchor="t"/>
          <a:lstStyle/>
          <a:p>
            <a:pPr marL="0" indent="0">
              <a:lnSpc>
                <a:spcPct val="103000"/>
              </a:lnSpc>
              <a:buNone/>
            </a:pPr>
            <a:r>
              <a:rPr lang="en-US" sz="2000" dirty="0">
                <a:solidFill>
                  <a:srgbClr val="33373F"/>
                </a:solidFill>
                <a:latin typeface="Arial" pitchFamily="34" charset="0"/>
                <a:ea typeface="Arial" pitchFamily="34" charset="-122"/>
                <a:cs typeface="Arial" pitchFamily="34" charset="-120"/>
              </a:rPr>
              <a:t>Work lives in a </a:t>
            </a:r>
            <a:r>
              <a:rPr lang="en-US" sz="2000" b="1" dirty="0">
                <a:solidFill>
                  <a:srgbClr val="15171C"/>
                </a:solidFill>
                <a:latin typeface="Arial" pitchFamily="34" charset="0"/>
                <a:ea typeface="Arial" pitchFamily="34" charset="-122"/>
                <a:cs typeface="Arial" pitchFamily="34" charset="-120"/>
              </a:rPr>
              <a:t>namespace</a:t>
            </a:r>
            <a:r>
              <a:rPr lang="en-US" sz="2000" dirty="0">
                <a:solidFill>
                  <a:srgbClr val="33373F"/>
                </a:solidFill>
                <a:latin typeface="Arial" pitchFamily="34" charset="0"/>
                <a:ea typeface="Arial" pitchFamily="34" charset="-122"/>
                <a:cs typeface="Arial" pitchFamily="34" charset="-120"/>
              </a:rPr>
              <a:t> (ours: caida-nids)</a:t>
            </a:r>
            <a:endParaRPr lang="en-US" sz="1300" dirty="0"/>
          </a:p>
        </p:txBody>
      </p:sp>
      <p:sp>
        <p:nvSpPr>
          <p:cNvPr id="17" name="Shape 15"/>
          <p:cNvSpPr/>
          <p:nvPr/>
        </p:nvSpPr>
        <p:spPr>
          <a:xfrm>
            <a:off x="1097280" y="4468580"/>
            <a:ext cx="91440" cy="91440"/>
          </a:xfrm>
          <a:prstGeom prst="ellipse">
            <a:avLst/>
          </a:prstGeom>
          <a:solidFill>
            <a:srgbClr val="2B5187"/>
          </a:solidFill>
          <a:ln/>
        </p:spPr>
        <p:txBody>
          <a:bodyPr/>
          <a:lstStyle/>
          <a:p>
            <a:endParaRPr lang="en-US"/>
          </a:p>
        </p:txBody>
      </p:sp>
      <p:sp>
        <p:nvSpPr>
          <p:cNvPr id="18" name="Text 16"/>
          <p:cNvSpPr/>
          <p:nvPr/>
        </p:nvSpPr>
        <p:spPr>
          <a:xfrm>
            <a:off x="1408176" y="4400000"/>
            <a:ext cx="4169664" cy="420624"/>
          </a:xfrm>
          <a:prstGeom prst="rect">
            <a:avLst/>
          </a:prstGeom>
          <a:noFill/>
          <a:ln/>
        </p:spPr>
        <p:txBody>
          <a:bodyPr wrap="square" lIns="0" tIns="0" rIns="0" bIns="0" rtlCol="0" anchor="t"/>
          <a:lstStyle/>
          <a:p>
            <a:pPr marL="0" indent="0">
              <a:lnSpc>
                <a:spcPct val="103000"/>
              </a:lnSpc>
              <a:buNone/>
            </a:pPr>
            <a:r>
              <a:rPr lang="en-US" sz="2000" dirty="0">
                <a:solidFill>
                  <a:srgbClr val="33373F"/>
                </a:solidFill>
                <a:latin typeface="Arial" pitchFamily="34" charset="0"/>
                <a:ea typeface="Arial" pitchFamily="34" charset="-122"/>
                <a:cs typeface="Arial" pitchFamily="34" charset="-120"/>
              </a:rPr>
              <a:t>Where Week 1 happens</a:t>
            </a:r>
            <a:endParaRPr lang="en-US" sz="1300" dirty="0"/>
          </a:p>
        </p:txBody>
      </p:sp>
      <p:sp>
        <p:nvSpPr>
          <p:cNvPr id="19" name="Shape 17"/>
          <p:cNvSpPr/>
          <p:nvPr/>
        </p:nvSpPr>
        <p:spPr>
          <a:xfrm>
            <a:off x="6309360" y="2514600"/>
            <a:ext cx="5029200" cy="2834640"/>
          </a:xfrm>
          <a:prstGeom prst="roundRect">
            <a:avLst>
              <a:gd name="adj" fmla="val 2258"/>
            </a:avLst>
          </a:prstGeom>
          <a:solidFill>
            <a:srgbClr val="FFFFFF"/>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20" name="Text 18"/>
          <p:cNvSpPr/>
          <p:nvPr/>
        </p:nvSpPr>
        <p:spPr>
          <a:xfrm>
            <a:off x="6629400" y="2788920"/>
            <a:ext cx="4389120" cy="365760"/>
          </a:xfrm>
          <a:prstGeom prst="rect">
            <a:avLst/>
          </a:prstGeom>
          <a:noFill/>
          <a:ln/>
        </p:spPr>
        <p:txBody>
          <a:bodyPr wrap="square" lIns="0" tIns="0" rIns="0" bIns="0" rtlCol="0" anchor="ctr"/>
          <a:lstStyle/>
          <a:p>
            <a:pPr marL="0" indent="0">
              <a:buNone/>
            </a:pPr>
            <a:r>
              <a:rPr lang="en-US" sz="2000" b="1" dirty="0">
                <a:solidFill>
                  <a:srgbClr val="2B5187"/>
                </a:solidFill>
                <a:latin typeface="Arial" pitchFamily="34" charset="0"/>
                <a:ea typeface="Arial" pitchFamily="34" charset="-122"/>
                <a:cs typeface="Arial" pitchFamily="34" charset="-120"/>
              </a:rPr>
              <a:t>SDSC Expanse</a:t>
            </a:r>
            <a:endParaRPr lang="en-US" sz="1800" dirty="0"/>
          </a:p>
        </p:txBody>
      </p:sp>
      <p:sp>
        <p:nvSpPr>
          <p:cNvPr id="21" name="Text 19"/>
          <p:cNvSpPr/>
          <p:nvPr/>
        </p:nvSpPr>
        <p:spPr>
          <a:xfrm>
            <a:off x="6629400" y="3209544"/>
            <a:ext cx="4389120" cy="274320"/>
          </a:xfrm>
          <a:prstGeom prst="rect">
            <a:avLst/>
          </a:prstGeom>
          <a:noFill/>
          <a:ln/>
        </p:spPr>
        <p:txBody>
          <a:bodyPr wrap="square" lIns="0" tIns="0" rIns="0" bIns="0" rtlCol="0" anchor="ctr"/>
          <a:lstStyle/>
          <a:p>
            <a:pPr marL="0" indent="0">
              <a:buNone/>
            </a:pPr>
            <a:r>
              <a:rPr lang="en-US" sz="2000" dirty="0">
                <a:solidFill>
                  <a:srgbClr val="6B7280"/>
                </a:solidFill>
                <a:latin typeface="Arial" pitchFamily="34" charset="0"/>
                <a:ea typeface="Arial" pitchFamily="34" charset="-122"/>
                <a:cs typeface="Arial" pitchFamily="34" charset="-120"/>
              </a:rPr>
              <a:t>A supercomputer at SDSC</a:t>
            </a:r>
            <a:endParaRPr lang="en-US" sz="1100" dirty="0"/>
          </a:p>
        </p:txBody>
      </p:sp>
      <p:sp>
        <p:nvSpPr>
          <p:cNvPr id="26" name="Shape 24"/>
          <p:cNvSpPr/>
          <p:nvPr/>
        </p:nvSpPr>
        <p:spPr>
          <a:xfrm>
            <a:off x="6583680" y="3718580"/>
            <a:ext cx="91440" cy="91440"/>
          </a:xfrm>
          <a:prstGeom prst="ellipse">
            <a:avLst/>
          </a:prstGeom>
          <a:solidFill>
            <a:srgbClr val="2B5187"/>
          </a:solidFill>
          <a:ln/>
        </p:spPr>
        <p:txBody>
          <a:bodyPr/>
          <a:lstStyle/>
          <a:p>
            <a:endParaRPr lang="en-US"/>
          </a:p>
        </p:txBody>
      </p:sp>
      <p:sp>
        <p:nvSpPr>
          <p:cNvPr id="27" name="Text 25"/>
          <p:cNvSpPr/>
          <p:nvPr/>
        </p:nvSpPr>
        <p:spPr>
          <a:xfrm>
            <a:off x="6894576" y="3650000"/>
            <a:ext cx="4169664" cy="420624"/>
          </a:xfrm>
          <a:prstGeom prst="rect">
            <a:avLst/>
          </a:prstGeom>
          <a:noFill/>
          <a:ln/>
        </p:spPr>
        <p:txBody>
          <a:bodyPr wrap="square" lIns="0" tIns="0" rIns="0" bIns="0" rtlCol="0" anchor="t"/>
          <a:lstStyle/>
          <a:p>
            <a:pPr marL="0" indent="0">
              <a:lnSpc>
                <a:spcPct val="103000"/>
              </a:lnSpc>
              <a:buNone/>
            </a:pPr>
            <a:r>
              <a:rPr lang="en-US" sz="2000" dirty="0">
                <a:solidFill>
                  <a:srgbClr val="33373F"/>
                </a:solidFill>
                <a:latin typeface="Arial" pitchFamily="34" charset="0"/>
                <a:ea typeface="Arial" pitchFamily="34" charset="-122"/>
                <a:cs typeface="Arial" pitchFamily="34" charset="-120"/>
              </a:rPr>
              <a:t>Big memory and storage for whole datasets</a:t>
            </a:r>
            <a:endParaRPr lang="en-US" sz="1300" dirty="0"/>
          </a:p>
        </p:txBody>
      </p:sp>
      <p:sp>
        <p:nvSpPr>
          <p:cNvPr id="28" name="Shape 26"/>
          <p:cNvSpPr/>
          <p:nvPr/>
        </p:nvSpPr>
        <p:spPr>
          <a:xfrm>
            <a:off x="6583680" y="4468580"/>
            <a:ext cx="91440" cy="91440"/>
          </a:xfrm>
          <a:prstGeom prst="ellipse">
            <a:avLst/>
          </a:prstGeom>
          <a:solidFill>
            <a:srgbClr val="2B5187"/>
          </a:solidFill>
          <a:ln/>
        </p:spPr>
        <p:txBody>
          <a:bodyPr/>
          <a:lstStyle/>
          <a:p>
            <a:endParaRPr lang="en-US"/>
          </a:p>
        </p:txBody>
      </p:sp>
      <p:sp>
        <p:nvSpPr>
          <p:cNvPr id="29" name="Text 27"/>
          <p:cNvSpPr/>
          <p:nvPr/>
        </p:nvSpPr>
        <p:spPr>
          <a:xfrm>
            <a:off x="6894576" y="4400000"/>
            <a:ext cx="4169664" cy="420624"/>
          </a:xfrm>
          <a:prstGeom prst="rect">
            <a:avLst/>
          </a:prstGeom>
          <a:noFill/>
          <a:ln/>
        </p:spPr>
        <p:txBody>
          <a:bodyPr wrap="square" lIns="0" tIns="0" rIns="0" bIns="0" rtlCol="0" anchor="t"/>
          <a:lstStyle/>
          <a:p>
            <a:pPr marL="0" indent="0">
              <a:lnSpc>
                <a:spcPct val="103000"/>
              </a:lnSpc>
              <a:buNone/>
            </a:pPr>
            <a:r>
              <a:rPr lang="en-US" sz="2000" dirty="0">
                <a:solidFill>
                  <a:srgbClr val="33373F"/>
                </a:solidFill>
                <a:latin typeface="Arial" pitchFamily="34" charset="0"/>
                <a:ea typeface="Arial" pitchFamily="34" charset="-122"/>
                <a:cs typeface="Arial" pitchFamily="34" charset="-120"/>
              </a:rPr>
              <a:t>Introduced from Week 4 onward</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8074152" y="384048"/>
            <a:ext cx="3291840" cy="274320"/>
          </a:xfrm>
          <a:prstGeom prst="rect">
            <a:avLst/>
          </a:prstGeom>
          <a:noFill/>
          <a:ln/>
        </p:spPr>
        <p:txBody>
          <a:bodyPr wrap="square" lIns="0" tIns="0" rIns="0" bIns="0" rtlCol="0" anchor="ctr"/>
          <a:lstStyle/>
          <a:p>
            <a:pPr marL="0" indent="0" algn="r">
              <a:buNone/>
            </a:pPr>
            <a:r>
              <a:rPr lang="en-US" sz="1000" b="1" kern="0" spc="120" dirty="0">
                <a:solidFill>
                  <a:srgbClr val="15171C"/>
                </a:solidFill>
                <a:latin typeface="Arial" pitchFamily="34" charset="0"/>
                <a:ea typeface="Arial" pitchFamily="34" charset="-122"/>
                <a:cs typeface="Arial" pitchFamily="34" charset="-120"/>
              </a:rPr>
              <a:t>WEEK 1</a:t>
            </a:r>
            <a:r>
              <a:rPr lang="en-US" sz="1000" kern="0" spc="120" dirty="0">
                <a:solidFill>
                  <a:srgbClr val="6B7280"/>
                </a:solidFill>
                <a:latin typeface="Arial" pitchFamily="34" charset="0"/>
                <a:ea typeface="Arial" pitchFamily="34" charset="-122"/>
                <a:cs typeface="Arial" pitchFamily="34" charset="-120"/>
              </a:rPr>
              <a:t>  ·  BUILDING BLOCK </a:t>
            </a:r>
            <a:r>
              <a:rPr lang="en-US" sz="1000" b="1" kern="0" spc="120" dirty="0">
                <a:solidFill>
                  <a:srgbClr val="2B5187"/>
                </a:solidFill>
                <a:latin typeface="Arial" pitchFamily="34" charset="0"/>
                <a:ea typeface="Arial" pitchFamily="34" charset="-122"/>
                <a:cs typeface="Arial" pitchFamily="34" charset="-120"/>
              </a:rPr>
              <a:t>1</a:t>
            </a:r>
            <a:r>
              <a:rPr lang="en-US" sz="1000" kern="0" spc="120" dirty="0">
                <a:solidFill>
                  <a:srgbClr val="6B7280"/>
                </a:solidFill>
                <a:latin typeface="Arial" pitchFamily="34" charset="0"/>
                <a:ea typeface="Arial" pitchFamily="34" charset="-122"/>
                <a:cs typeface="Arial" pitchFamily="34" charset="-120"/>
              </a:rPr>
              <a:t> / 10</a:t>
            </a:r>
            <a:endParaRPr lang="en-US" sz="1000" dirty="0"/>
          </a:p>
        </p:txBody>
      </p:sp>
      <p:sp>
        <p:nvSpPr>
          <p:cNvPr id="3" name="Text 1"/>
          <p:cNvSpPr/>
          <p:nvPr/>
        </p:nvSpPr>
        <p:spPr>
          <a:xfrm>
            <a:off x="822960" y="640080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Arial" pitchFamily="34" charset="0"/>
                <a:ea typeface="Arial" pitchFamily="34" charset="-122"/>
                <a:cs typeface="Arial" pitchFamily="34" charset="-120"/>
              </a:rPr>
              <a:t>ESCALATE Training Program · Summer 2026</a:t>
            </a:r>
            <a:endParaRPr lang="en-US" sz="900" dirty="0"/>
          </a:p>
        </p:txBody>
      </p:sp>
      <p:sp>
        <p:nvSpPr>
          <p:cNvPr id="5" name="Text 3"/>
          <p:cNvSpPr/>
          <p:nvPr/>
        </p:nvSpPr>
        <p:spPr>
          <a:xfrm>
            <a:off x="822960" y="548640"/>
            <a:ext cx="6400800" cy="274320"/>
          </a:xfrm>
          <a:prstGeom prst="rect">
            <a:avLst/>
          </a:prstGeom>
          <a:noFill/>
          <a:ln/>
        </p:spPr>
        <p:txBody>
          <a:bodyPr wrap="square" lIns="0" tIns="0" rIns="0" bIns="0" rtlCol="0" anchor="t"/>
          <a:lstStyle/>
          <a:p>
            <a:pPr marL="0" indent="0">
              <a:buNone/>
            </a:pPr>
            <a:r>
              <a:rPr lang="en-US" sz="1100" b="1" kern="0" spc="220" dirty="0">
                <a:solidFill>
                  <a:srgbClr val="DB5B40"/>
                </a:solidFill>
                <a:latin typeface="Arial" pitchFamily="34" charset="0"/>
                <a:ea typeface="Arial" pitchFamily="34" charset="-122"/>
                <a:cs typeface="Arial" pitchFamily="34" charset="-120"/>
              </a:rPr>
              <a:t>ACTION REQUIRED · WEEK 1 SETUP</a:t>
            </a:r>
            <a:endParaRPr lang="en-US" sz="1100" dirty="0"/>
          </a:p>
        </p:txBody>
      </p:sp>
      <p:sp>
        <p:nvSpPr>
          <p:cNvPr id="6" name="Text 4"/>
          <p:cNvSpPr/>
          <p:nvPr/>
        </p:nvSpPr>
        <p:spPr>
          <a:xfrm>
            <a:off x="822960" y="868680"/>
            <a:ext cx="10607040" cy="1188720"/>
          </a:xfrm>
          <a:prstGeom prst="rect">
            <a:avLst/>
          </a:prstGeom>
          <a:noFill/>
          <a:ln/>
        </p:spPr>
        <p:txBody>
          <a:bodyPr wrap="square" lIns="0" tIns="0" rIns="0" bIns="0" rtlCol="0" anchor="t"/>
          <a:lstStyle/>
          <a:p>
            <a:pPr marL="0" indent="0">
              <a:lnSpc>
                <a:spcPct val="98000"/>
              </a:lnSpc>
              <a:buNone/>
            </a:pPr>
            <a:r>
              <a:rPr lang="en-US" sz="2900" b="1" dirty="0">
                <a:solidFill>
                  <a:srgbClr val="15171C"/>
                </a:solidFill>
                <a:latin typeface="Arial" pitchFamily="34" charset="0"/>
                <a:ea typeface="Arial" pitchFamily="34" charset="-122"/>
                <a:cs typeface="Arial" pitchFamily="34" charset="-120"/>
              </a:rPr>
              <a:t>Get onto NRP</a:t>
            </a:r>
            <a:endParaRPr lang="en-US" sz="2900" dirty="0"/>
          </a:p>
        </p:txBody>
      </p:sp>
      <p:sp>
        <p:nvSpPr>
          <p:cNvPr id="7" name="Shape 5"/>
          <p:cNvSpPr/>
          <p:nvPr/>
        </p:nvSpPr>
        <p:spPr>
          <a:xfrm>
            <a:off x="822960" y="2100000"/>
            <a:ext cx="457200" cy="457200"/>
          </a:xfrm>
          <a:prstGeom prst="ellipse">
            <a:avLst/>
          </a:prstGeom>
          <a:solidFill>
            <a:srgbClr val="2B5187"/>
          </a:solidFill>
          <a:ln/>
        </p:spPr>
        <p:txBody>
          <a:bodyPr/>
          <a:lstStyle/>
          <a:p>
            <a:endParaRPr lang="en-US"/>
          </a:p>
        </p:txBody>
      </p:sp>
      <p:sp>
        <p:nvSpPr>
          <p:cNvPr id="8" name="Text 6"/>
          <p:cNvSpPr/>
          <p:nvPr/>
        </p:nvSpPr>
        <p:spPr>
          <a:xfrm>
            <a:off x="822960" y="2118288"/>
            <a:ext cx="457200" cy="420624"/>
          </a:xfrm>
          <a:prstGeom prst="rect">
            <a:avLst/>
          </a:prstGeom>
          <a:noFill/>
          <a:ln/>
        </p:spPr>
        <p:txBody>
          <a:bodyPr wrap="square" lIns="0" tIns="0" rIns="0" bIns="0"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1</a:t>
            </a:r>
            <a:endParaRPr lang="en-US" sz="1800" dirty="0"/>
          </a:p>
        </p:txBody>
      </p:sp>
      <p:sp>
        <p:nvSpPr>
          <p:cNvPr id="9" name="Text 7"/>
          <p:cNvSpPr/>
          <p:nvPr/>
        </p:nvSpPr>
        <p:spPr>
          <a:xfrm>
            <a:off x="1508760" y="2081712"/>
            <a:ext cx="9857232" cy="820000"/>
          </a:xfrm>
          <a:prstGeom prst="rect">
            <a:avLst/>
          </a:prstGeom>
          <a:noFill/>
          <a:ln/>
        </p:spPr>
        <p:txBody>
          <a:bodyPr wrap="square" lIns="0" tIns="0" rIns="0" bIns="0" rtlCol="0" anchor="ctr"/>
          <a:lstStyle/>
          <a:p>
            <a:pPr marL="0" indent="0">
              <a:lnSpc>
                <a:spcPct val="103000"/>
              </a:lnSpc>
              <a:buNone/>
            </a:pPr>
            <a:r>
              <a:rPr lang="en-US" sz="2000" b="1" dirty="0">
                <a:solidFill>
                  <a:srgbClr val="15171C"/>
                </a:solidFill>
                <a:latin typeface="Arial" pitchFamily="34" charset="0"/>
                <a:ea typeface="Arial" pitchFamily="34" charset="-122"/>
                <a:cs typeface="Arial" pitchFamily="34" charset="-120"/>
              </a:rPr>
              <a:t>Visit nrp.ai   </a:t>
            </a:r>
            <a:r>
              <a:rPr lang="en-US" sz="2000" dirty="0">
                <a:solidFill>
                  <a:srgbClr val="33373F"/>
                </a:solidFill>
                <a:latin typeface="Arial" pitchFamily="34" charset="0"/>
                <a:ea typeface="Arial" pitchFamily="34" charset="-122"/>
                <a:cs typeface="Arial" pitchFamily="34" charset="-120"/>
              </a:rPr>
              <a:t>Go to nrp.ai (see CAIDA's “How to access NRP” guide).</a:t>
            </a:r>
            <a:endParaRPr lang="en-US" sz="1350" dirty="0"/>
          </a:p>
        </p:txBody>
      </p:sp>
      <p:sp>
        <p:nvSpPr>
          <p:cNvPr id="10" name="Shape 8"/>
          <p:cNvSpPr/>
          <p:nvPr/>
        </p:nvSpPr>
        <p:spPr>
          <a:xfrm>
            <a:off x="822960" y="3250000"/>
            <a:ext cx="457200" cy="457200"/>
          </a:xfrm>
          <a:prstGeom prst="ellipse">
            <a:avLst/>
          </a:prstGeom>
          <a:solidFill>
            <a:srgbClr val="2B5187"/>
          </a:solidFill>
          <a:ln/>
        </p:spPr>
        <p:txBody>
          <a:bodyPr/>
          <a:lstStyle/>
          <a:p>
            <a:endParaRPr lang="en-US"/>
          </a:p>
        </p:txBody>
      </p:sp>
      <p:sp>
        <p:nvSpPr>
          <p:cNvPr id="11" name="Text 9"/>
          <p:cNvSpPr/>
          <p:nvPr/>
        </p:nvSpPr>
        <p:spPr>
          <a:xfrm>
            <a:off x="822960" y="3268288"/>
            <a:ext cx="457200" cy="420624"/>
          </a:xfrm>
          <a:prstGeom prst="rect">
            <a:avLst/>
          </a:prstGeom>
          <a:noFill/>
          <a:ln/>
        </p:spPr>
        <p:txBody>
          <a:bodyPr wrap="square" lIns="0" tIns="0" rIns="0" bIns="0"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2</a:t>
            </a:r>
            <a:endParaRPr lang="en-US" sz="1800" dirty="0"/>
          </a:p>
        </p:txBody>
      </p:sp>
      <p:sp>
        <p:nvSpPr>
          <p:cNvPr id="12" name="Text 10"/>
          <p:cNvSpPr/>
          <p:nvPr/>
        </p:nvSpPr>
        <p:spPr>
          <a:xfrm>
            <a:off x="1508760" y="3231712"/>
            <a:ext cx="9857232" cy="820000"/>
          </a:xfrm>
          <a:prstGeom prst="rect">
            <a:avLst/>
          </a:prstGeom>
          <a:noFill/>
          <a:ln/>
        </p:spPr>
        <p:txBody>
          <a:bodyPr wrap="square" lIns="0" tIns="0" rIns="0" bIns="0" rtlCol="0" anchor="ctr"/>
          <a:lstStyle/>
          <a:p>
            <a:pPr marL="0" indent="0">
              <a:lnSpc>
                <a:spcPct val="103000"/>
              </a:lnSpc>
              <a:buNone/>
            </a:pPr>
            <a:r>
              <a:rPr lang="en-US" sz="2000" b="1" dirty="0">
                <a:solidFill>
                  <a:srgbClr val="15171C"/>
                </a:solidFill>
                <a:latin typeface="Arial" pitchFamily="34" charset="0"/>
                <a:ea typeface="Arial" pitchFamily="34" charset="-122"/>
                <a:cs typeface="Arial" pitchFamily="34" charset="-120"/>
              </a:rPr>
              <a:t>Log in   </a:t>
            </a:r>
            <a:r>
              <a:rPr lang="en-US" sz="2000" dirty="0">
                <a:solidFill>
                  <a:srgbClr val="33373F"/>
                </a:solidFill>
                <a:latin typeface="Arial" pitchFamily="34" charset="0"/>
                <a:ea typeface="Arial" pitchFamily="34" charset="-122"/>
                <a:cs typeface="Arial" pitchFamily="34" charset="-120"/>
              </a:rPr>
              <a:t>Click Log In, pick your organization, and authenticate.</a:t>
            </a:r>
            <a:endParaRPr lang="en-US" sz="1350" dirty="0"/>
          </a:p>
        </p:txBody>
      </p:sp>
      <p:sp>
        <p:nvSpPr>
          <p:cNvPr id="13" name="Shape 11"/>
          <p:cNvSpPr/>
          <p:nvPr/>
        </p:nvSpPr>
        <p:spPr>
          <a:xfrm>
            <a:off x="822960" y="4400000"/>
            <a:ext cx="457200" cy="457200"/>
          </a:xfrm>
          <a:prstGeom prst="ellipse">
            <a:avLst/>
          </a:prstGeom>
          <a:solidFill>
            <a:srgbClr val="2B5187"/>
          </a:solidFill>
          <a:ln/>
        </p:spPr>
        <p:txBody>
          <a:bodyPr/>
          <a:lstStyle/>
          <a:p>
            <a:endParaRPr lang="en-US"/>
          </a:p>
        </p:txBody>
      </p:sp>
      <p:sp>
        <p:nvSpPr>
          <p:cNvPr id="14" name="Text 12"/>
          <p:cNvSpPr/>
          <p:nvPr/>
        </p:nvSpPr>
        <p:spPr>
          <a:xfrm>
            <a:off x="822960" y="4418288"/>
            <a:ext cx="457200" cy="420624"/>
          </a:xfrm>
          <a:prstGeom prst="rect">
            <a:avLst/>
          </a:prstGeom>
          <a:noFill/>
          <a:ln/>
        </p:spPr>
        <p:txBody>
          <a:bodyPr wrap="square" lIns="0" tIns="0" rIns="0" bIns="0"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3</a:t>
            </a:r>
            <a:endParaRPr lang="en-US" sz="1800" dirty="0"/>
          </a:p>
        </p:txBody>
      </p:sp>
      <p:sp>
        <p:nvSpPr>
          <p:cNvPr id="15" name="Text 13"/>
          <p:cNvSpPr/>
          <p:nvPr/>
        </p:nvSpPr>
        <p:spPr>
          <a:xfrm>
            <a:off x="1508760" y="4381712"/>
            <a:ext cx="9857232" cy="820000"/>
          </a:xfrm>
          <a:prstGeom prst="rect">
            <a:avLst/>
          </a:prstGeom>
          <a:noFill/>
          <a:ln/>
        </p:spPr>
        <p:txBody>
          <a:bodyPr wrap="square" lIns="0" tIns="0" rIns="0" bIns="0" rtlCol="0" anchor="ctr"/>
          <a:lstStyle/>
          <a:p>
            <a:pPr marL="0" indent="0">
              <a:lnSpc>
                <a:spcPct val="103000"/>
              </a:lnSpc>
              <a:buNone/>
            </a:pPr>
            <a:r>
              <a:rPr lang="en-US" sz="2000" b="1" dirty="0">
                <a:solidFill>
                  <a:srgbClr val="15171C"/>
                </a:solidFill>
                <a:latin typeface="Arial" pitchFamily="34" charset="0"/>
                <a:ea typeface="Arial" pitchFamily="34" charset="-122"/>
                <a:cs typeface="Arial" pitchFamily="34" charset="-120"/>
              </a:rPr>
              <a:t>Request namespace access   </a:t>
            </a:r>
            <a:r>
              <a:rPr lang="en-US" sz="2000" dirty="0">
                <a:solidFill>
                  <a:srgbClr val="33373F"/>
                </a:solidFill>
                <a:latin typeface="Arial" pitchFamily="34" charset="0"/>
                <a:ea typeface="Arial" pitchFamily="34" charset="-122"/>
                <a:cs typeface="Arial" pitchFamily="34" charset="-120"/>
              </a:rPr>
              <a:t>Email training-program-info@caida.org with the exact address you logged in with, and we'll add you to caida-nids.</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8074152" y="384048"/>
            <a:ext cx="3291840" cy="274320"/>
          </a:xfrm>
          <a:prstGeom prst="rect">
            <a:avLst/>
          </a:prstGeom>
          <a:noFill/>
          <a:ln/>
        </p:spPr>
        <p:txBody>
          <a:bodyPr wrap="square" lIns="0" tIns="0" rIns="0" bIns="0" rtlCol="0" anchor="ctr"/>
          <a:lstStyle/>
          <a:p>
            <a:pPr marL="0" indent="0" algn="r">
              <a:buNone/>
            </a:pPr>
            <a:r>
              <a:rPr lang="en-US" sz="1000" b="1" kern="0" spc="120" dirty="0">
                <a:solidFill>
                  <a:srgbClr val="15171C"/>
                </a:solidFill>
                <a:latin typeface="Arial" pitchFamily="34" charset="0"/>
                <a:ea typeface="Arial" pitchFamily="34" charset="-122"/>
                <a:cs typeface="Arial" pitchFamily="34" charset="-120"/>
              </a:rPr>
              <a:t>WEEK 1</a:t>
            </a:r>
            <a:r>
              <a:rPr lang="en-US" sz="1000" kern="0" spc="120" dirty="0">
                <a:solidFill>
                  <a:srgbClr val="6B7280"/>
                </a:solidFill>
                <a:latin typeface="Arial" pitchFamily="34" charset="0"/>
                <a:ea typeface="Arial" pitchFamily="34" charset="-122"/>
                <a:cs typeface="Arial" pitchFamily="34" charset="-120"/>
              </a:rPr>
              <a:t>  ·  BUILDING BLOCK </a:t>
            </a:r>
            <a:r>
              <a:rPr lang="en-US" sz="1000" b="1" kern="0" spc="120" dirty="0">
                <a:solidFill>
                  <a:srgbClr val="2B5187"/>
                </a:solidFill>
                <a:latin typeface="Arial" pitchFamily="34" charset="0"/>
                <a:ea typeface="Arial" pitchFamily="34" charset="-122"/>
                <a:cs typeface="Arial" pitchFamily="34" charset="-120"/>
              </a:rPr>
              <a:t>1</a:t>
            </a:r>
            <a:r>
              <a:rPr lang="en-US" sz="1000" kern="0" spc="120" dirty="0">
                <a:solidFill>
                  <a:srgbClr val="6B7280"/>
                </a:solidFill>
                <a:latin typeface="Arial" pitchFamily="34" charset="0"/>
                <a:ea typeface="Arial" pitchFamily="34" charset="-122"/>
                <a:cs typeface="Arial" pitchFamily="34" charset="-120"/>
              </a:rPr>
              <a:t> / 10</a:t>
            </a:r>
            <a:endParaRPr lang="en-US" sz="1000" dirty="0"/>
          </a:p>
        </p:txBody>
      </p:sp>
      <p:sp>
        <p:nvSpPr>
          <p:cNvPr id="3" name="Text 1"/>
          <p:cNvSpPr/>
          <p:nvPr/>
        </p:nvSpPr>
        <p:spPr>
          <a:xfrm>
            <a:off x="822960" y="640080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Arial" pitchFamily="34" charset="0"/>
                <a:ea typeface="Arial" pitchFamily="34" charset="-122"/>
                <a:cs typeface="Arial" pitchFamily="34" charset="-120"/>
              </a:rPr>
              <a:t>ESCALATE Training Program · Summer 2026</a:t>
            </a:r>
            <a:endParaRPr lang="en-US" sz="900" dirty="0"/>
          </a:p>
        </p:txBody>
      </p:sp>
      <p:sp>
        <p:nvSpPr>
          <p:cNvPr id="5" name="Text 3"/>
          <p:cNvSpPr/>
          <p:nvPr/>
        </p:nvSpPr>
        <p:spPr>
          <a:xfrm>
            <a:off x="822960" y="548640"/>
            <a:ext cx="6400800" cy="274320"/>
          </a:xfrm>
          <a:prstGeom prst="rect">
            <a:avLst/>
          </a:prstGeom>
          <a:noFill/>
          <a:ln/>
        </p:spPr>
        <p:txBody>
          <a:bodyPr wrap="square" lIns="0" tIns="0" rIns="0" bIns="0" rtlCol="0" anchor="t"/>
          <a:lstStyle/>
          <a:p>
            <a:pPr marL="0" indent="0">
              <a:buNone/>
            </a:pPr>
            <a:r>
              <a:rPr lang="en-US" sz="1100" b="1" kern="0" spc="220" dirty="0">
                <a:solidFill>
                  <a:srgbClr val="DB5B40"/>
                </a:solidFill>
                <a:latin typeface="Arial" pitchFamily="34" charset="0"/>
                <a:ea typeface="Arial" pitchFamily="34" charset="-122"/>
                <a:cs typeface="Arial" pitchFamily="34" charset="-120"/>
              </a:rPr>
              <a:t>ACTION REQUIRED · WEEK 1 SETUP</a:t>
            </a:r>
            <a:endParaRPr lang="en-US" sz="1100" dirty="0"/>
          </a:p>
        </p:txBody>
      </p:sp>
      <p:sp>
        <p:nvSpPr>
          <p:cNvPr id="6" name="Text 4"/>
          <p:cNvSpPr/>
          <p:nvPr/>
        </p:nvSpPr>
        <p:spPr>
          <a:xfrm>
            <a:off x="822960" y="868680"/>
            <a:ext cx="10607040" cy="1188720"/>
          </a:xfrm>
          <a:prstGeom prst="rect">
            <a:avLst/>
          </a:prstGeom>
          <a:noFill/>
          <a:ln/>
        </p:spPr>
        <p:txBody>
          <a:bodyPr wrap="square" lIns="0" tIns="0" rIns="0" bIns="0" rtlCol="0" anchor="t"/>
          <a:lstStyle/>
          <a:p>
            <a:pPr marL="0" indent="0">
              <a:lnSpc>
                <a:spcPct val="98000"/>
              </a:lnSpc>
              <a:buNone/>
            </a:pPr>
            <a:r>
              <a:rPr lang="en-US" sz="2900" b="1" dirty="0">
                <a:solidFill>
                  <a:srgbClr val="15171C"/>
                </a:solidFill>
                <a:latin typeface="Arial" pitchFamily="34" charset="0"/>
                <a:ea typeface="Arial" pitchFamily="34" charset="-122"/>
                <a:cs typeface="Arial" pitchFamily="34" charset="-120"/>
              </a:rPr>
              <a:t>Get onto NRP (cont.)</a:t>
            </a:r>
            <a:endParaRPr lang="en-US" sz="2900" dirty="0"/>
          </a:p>
        </p:txBody>
      </p:sp>
      <p:sp>
        <p:nvSpPr>
          <p:cNvPr id="16" name="Shape 14"/>
          <p:cNvSpPr/>
          <p:nvPr/>
        </p:nvSpPr>
        <p:spPr>
          <a:xfrm>
            <a:off x="822960" y="2100000"/>
            <a:ext cx="457200" cy="457200"/>
          </a:xfrm>
          <a:prstGeom prst="ellipse">
            <a:avLst/>
          </a:prstGeom>
          <a:solidFill>
            <a:srgbClr val="2B5187"/>
          </a:solidFill>
          <a:ln/>
        </p:spPr>
        <p:txBody>
          <a:bodyPr/>
          <a:lstStyle/>
          <a:p>
            <a:endParaRPr lang="en-US"/>
          </a:p>
        </p:txBody>
      </p:sp>
      <p:sp>
        <p:nvSpPr>
          <p:cNvPr id="17" name="Text 15"/>
          <p:cNvSpPr/>
          <p:nvPr/>
        </p:nvSpPr>
        <p:spPr>
          <a:xfrm>
            <a:off x="822960" y="2118288"/>
            <a:ext cx="457200" cy="420624"/>
          </a:xfrm>
          <a:prstGeom prst="rect">
            <a:avLst/>
          </a:prstGeom>
          <a:noFill/>
          <a:ln/>
        </p:spPr>
        <p:txBody>
          <a:bodyPr wrap="square" lIns="0" tIns="0" rIns="0" bIns="0"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4</a:t>
            </a:r>
            <a:endParaRPr lang="en-US" sz="1800" dirty="0"/>
          </a:p>
        </p:txBody>
      </p:sp>
      <p:sp>
        <p:nvSpPr>
          <p:cNvPr id="18" name="Text 16"/>
          <p:cNvSpPr/>
          <p:nvPr/>
        </p:nvSpPr>
        <p:spPr>
          <a:xfrm>
            <a:off x="1508760" y="2081712"/>
            <a:ext cx="9857232" cy="820000"/>
          </a:xfrm>
          <a:prstGeom prst="rect">
            <a:avLst/>
          </a:prstGeom>
          <a:noFill/>
          <a:ln/>
        </p:spPr>
        <p:txBody>
          <a:bodyPr wrap="square" lIns="0" tIns="0" rIns="0" bIns="0" rtlCol="0" anchor="ctr"/>
          <a:lstStyle/>
          <a:p>
            <a:pPr marL="0" indent="0">
              <a:lnSpc>
                <a:spcPct val="103000"/>
              </a:lnSpc>
              <a:buNone/>
            </a:pPr>
            <a:r>
              <a:rPr lang="en-US" sz="2000" b="1" dirty="0">
                <a:solidFill>
                  <a:srgbClr val="15171C"/>
                </a:solidFill>
                <a:latin typeface="Arial" pitchFamily="34" charset="0"/>
                <a:ea typeface="Arial" pitchFamily="34" charset="-122"/>
                <a:cs typeface="Arial" pitchFamily="34" charset="-120"/>
              </a:rPr>
              <a:t>Open JupyterHub   </a:t>
            </a:r>
            <a:r>
              <a:rPr lang="en-US" sz="2000" dirty="0">
                <a:solidFill>
                  <a:srgbClr val="33373F"/>
                </a:solidFill>
                <a:latin typeface="Arial" pitchFamily="34" charset="0"/>
                <a:ea typeface="Arial" pitchFamily="34" charset="-122"/>
                <a:cs typeface="Arial" pitchFamily="34" charset="-120"/>
              </a:rPr>
              <a:t>Once added, sign in to the NRP JupyterHub (jupyterhub-west).</a:t>
            </a:r>
            <a:endParaRPr lang="en-US" sz="1350" dirty="0"/>
          </a:p>
        </p:txBody>
      </p:sp>
      <p:sp>
        <p:nvSpPr>
          <p:cNvPr id="19" name="Shape 17"/>
          <p:cNvSpPr/>
          <p:nvPr/>
        </p:nvSpPr>
        <p:spPr>
          <a:xfrm>
            <a:off x="822960" y="3250000"/>
            <a:ext cx="457200" cy="457200"/>
          </a:xfrm>
          <a:prstGeom prst="ellipse">
            <a:avLst/>
          </a:prstGeom>
          <a:solidFill>
            <a:srgbClr val="2B5187"/>
          </a:solidFill>
          <a:ln/>
        </p:spPr>
        <p:txBody>
          <a:bodyPr/>
          <a:lstStyle/>
          <a:p>
            <a:endParaRPr lang="en-US"/>
          </a:p>
        </p:txBody>
      </p:sp>
      <p:sp>
        <p:nvSpPr>
          <p:cNvPr id="20" name="Text 18"/>
          <p:cNvSpPr/>
          <p:nvPr/>
        </p:nvSpPr>
        <p:spPr>
          <a:xfrm>
            <a:off x="822960" y="3268288"/>
            <a:ext cx="457200" cy="420624"/>
          </a:xfrm>
          <a:prstGeom prst="rect">
            <a:avLst/>
          </a:prstGeom>
          <a:noFill/>
          <a:ln/>
        </p:spPr>
        <p:txBody>
          <a:bodyPr wrap="square" lIns="0" tIns="0" rIns="0" bIns="0"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5</a:t>
            </a:r>
            <a:endParaRPr lang="en-US" sz="1800" dirty="0"/>
          </a:p>
        </p:txBody>
      </p:sp>
      <p:sp>
        <p:nvSpPr>
          <p:cNvPr id="21" name="Text 19"/>
          <p:cNvSpPr/>
          <p:nvPr/>
        </p:nvSpPr>
        <p:spPr>
          <a:xfrm>
            <a:off x="1508760" y="3231712"/>
            <a:ext cx="9857232" cy="820000"/>
          </a:xfrm>
          <a:prstGeom prst="rect">
            <a:avLst/>
          </a:prstGeom>
          <a:noFill/>
          <a:ln/>
        </p:spPr>
        <p:txBody>
          <a:bodyPr wrap="square" lIns="0" tIns="0" rIns="0" bIns="0" rtlCol="0" anchor="ctr"/>
          <a:lstStyle/>
          <a:p>
            <a:pPr marL="0" indent="0">
              <a:lnSpc>
                <a:spcPct val="103000"/>
              </a:lnSpc>
              <a:buNone/>
            </a:pPr>
            <a:r>
              <a:rPr lang="en-US" sz="2000" b="1" dirty="0">
                <a:solidFill>
                  <a:srgbClr val="15171C"/>
                </a:solidFill>
                <a:latin typeface="Arial" pitchFamily="34" charset="0"/>
                <a:ea typeface="Arial" pitchFamily="34" charset="-122"/>
                <a:cs typeface="Arial" pitchFamily="34" charset="-120"/>
              </a:rPr>
              <a:t>Start your server   </a:t>
            </a:r>
            <a:r>
              <a:rPr lang="en-US" sz="2000" dirty="0">
                <a:solidFill>
                  <a:srgbClr val="33373F"/>
                </a:solidFill>
                <a:latin typeface="Arial" pitchFamily="34" charset="0"/>
                <a:ea typeface="Arial" pitchFamily="34" charset="-122"/>
                <a:cs typeface="Arial" pitchFamily="34" charset="-120"/>
              </a:rPr>
              <a:t>Accept the preset options, scroll down, and click Start.</a:t>
            </a:r>
            <a:endParaRPr lang="en-US" sz="1350" dirty="0"/>
          </a:p>
        </p:txBody>
      </p:sp>
      <p:sp>
        <p:nvSpPr>
          <p:cNvPr id="22" name="Text 20"/>
          <p:cNvSpPr/>
          <p:nvPr/>
        </p:nvSpPr>
        <p:spPr>
          <a:xfrm>
            <a:off x="822960" y="4550000"/>
            <a:ext cx="10543032" cy="1200000"/>
          </a:xfrm>
          <a:prstGeom prst="rect">
            <a:avLst/>
          </a:prstGeom>
          <a:noFill/>
          <a:ln/>
        </p:spPr>
        <p:txBody>
          <a:bodyPr wrap="square" lIns="0" tIns="0" rIns="0" bIns="0" rtlCol="0" anchor="ctr"/>
          <a:lstStyle/>
          <a:p>
            <a:pPr marL="0" indent="0">
              <a:lnSpc>
                <a:spcPct val="108000"/>
              </a:lnSpc>
              <a:buNone/>
            </a:pPr>
            <a:r>
              <a:rPr lang="en-US" sz="2000" b="1" dirty="0">
                <a:solidFill>
                  <a:srgbClr val="15171C"/>
                </a:solidFill>
                <a:latin typeface="Arial" pitchFamily="34" charset="0"/>
                <a:ea typeface="Arial" pitchFamily="34" charset="-122"/>
                <a:cs typeface="Arial" pitchFamily="34" charset="-120"/>
              </a:rPr>
              <a:t>Also: </a:t>
            </a:r>
            <a:r>
              <a:rPr lang="en-US" sz="2000" dirty="0">
                <a:solidFill>
                  <a:srgbClr val="33373F"/>
                </a:solidFill>
                <a:latin typeface="Arial" pitchFamily="34" charset="0"/>
                <a:ea typeface="Arial" pitchFamily="34" charset="-122"/>
                <a:cs typeface="Arial" pitchFamily="34" charset="-120"/>
              </a:rPr>
              <a:t>join Mattermost and message @ealee, @macat, or @vin011 to join the cohort channel, and send your GitHub username so we can grant access to the assignment repos and the course syllabus (github.com/CAIDA/etp-2026-overview). Hit a snag? Reply on Mattermost. We'll have it sorted out as soon as possible.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8074152" y="384048"/>
            <a:ext cx="3291840" cy="274320"/>
          </a:xfrm>
          <a:prstGeom prst="rect">
            <a:avLst/>
          </a:prstGeom>
          <a:noFill/>
          <a:ln/>
        </p:spPr>
        <p:txBody>
          <a:bodyPr wrap="square" lIns="0" tIns="0" rIns="0" bIns="0" rtlCol="0" anchor="ctr"/>
          <a:lstStyle/>
          <a:p>
            <a:pPr marL="0" indent="0" algn="r">
              <a:buNone/>
            </a:pPr>
            <a:r>
              <a:rPr lang="en-US" sz="1000" b="1" kern="0" spc="120" dirty="0">
                <a:solidFill>
                  <a:srgbClr val="15171C"/>
                </a:solidFill>
                <a:latin typeface="Arial" pitchFamily="34" charset="0"/>
                <a:ea typeface="Arial" pitchFamily="34" charset="-122"/>
                <a:cs typeface="Arial" pitchFamily="34" charset="-120"/>
              </a:rPr>
              <a:t>WEEK 1</a:t>
            </a:r>
            <a:r>
              <a:rPr lang="en-US" sz="1000" kern="0" spc="120" dirty="0">
                <a:solidFill>
                  <a:srgbClr val="6B7280"/>
                </a:solidFill>
                <a:latin typeface="Arial" pitchFamily="34" charset="0"/>
                <a:ea typeface="Arial" pitchFamily="34" charset="-122"/>
                <a:cs typeface="Arial" pitchFamily="34" charset="-120"/>
              </a:rPr>
              <a:t>  ·  BUILDING BLOCK </a:t>
            </a:r>
            <a:r>
              <a:rPr lang="en-US" sz="1000" b="1" kern="0" spc="120" dirty="0">
                <a:solidFill>
                  <a:srgbClr val="2B5187"/>
                </a:solidFill>
                <a:latin typeface="Arial" pitchFamily="34" charset="0"/>
                <a:ea typeface="Arial" pitchFamily="34" charset="-122"/>
                <a:cs typeface="Arial" pitchFamily="34" charset="-120"/>
              </a:rPr>
              <a:t>1</a:t>
            </a:r>
            <a:r>
              <a:rPr lang="en-US" sz="1000" kern="0" spc="120" dirty="0">
                <a:solidFill>
                  <a:srgbClr val="6B7280"/>
                </a:solidFill>
                <a:latin typeface="Arial" pitchFamily="34" charset="0"/>
                <a:ea typeface="Arial" pitchFamily="34" charset="-122"/>
                <a:cs typeface="Arial" pitchFamily="34" charset="-120"/>
              </a:rPr>
              <a:t> / 10</a:t>
            </a:r>
            <a:endParaRPr lang="en-US" sz="1000" dirty="0"/>
          </a:p>
        </p:txBody>
      </p:sp>
      <p:sp>
        <p:nvSpPr>
          <p:cNvPr id="3" name="Text 1"/>
          <p:cNvSpPr/>
          <p:nvPr/>
        </p:nvSpPr>
        <p:spPr>
          <a:xfrm>
            <a:off x="822960" y="640080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Arial" pitchFamily="34" charset="0"/>
                <a:ea typeface="Arial" pitchFamily="34" charset="-122"/>
                <a:cs typeface="Arial" pitchFamily="34" charset="-120"/>
              </a:rPr>
              <a:t>ESCALATE Training Program · Summer 2026</a:t>
            </a:r>
            <a:endParaRPr lang="en-US" sz="900" dirty="0"/>
          </a:p>
        </p:txBody>
      </p:sp>
      <p:sp>
        <p:nvSpPr>
          <p:cNvPr id="5" name="Text 3"/>
          <p:cNvSpPr/>
          <p:nvPr/>
        </p:nvSpPr>
        <p:spPr>
          <a:xfrm>
            <a:off x="822960" y="548640"/>
            <a:ext cx="6400800" cy="274320"/>
          </a:xfrm>
          <a:prstGeom prst="rect">
            <a:avLst/>
          </a:prstGeom>
          <a:noFill/>
          <a:ln/>
        </p:spPr>
        <p:txBody>
          <a:bodyPr wrap="square" lIns="0" tIns="0" rIns="0" bIns="0" rtlCol="0" anchor="t"/>
          <a:lstStyle/>
          <a:p>
            <a:pPr marL="0" indent="0">
              <a:buNone/>
            </a:pPr>
            <a:r>
              <a:rPr lang="en-US" sz="1100" b="1" kern="0" spc="220" dirty="0">
                <a:solidFill>
                  <a:srgbClr val="2B5187"/>
                </a:solidFill>
                <a:latin typeface="Arial" pitchFamily="34" charset="0"/>
                <a:ea typeface="Arial" pitchFamily="34" charset="-122"/>
                <a:cs typeface="Arial" pitchFamily="34" charset="-120"/>
              </a:rPr>
              <a:t>ASSIGNMENT 1 · DUE END OF WEEK 1</a:t>
            </a:r>
            <a:endParaRPr lang="en-US" sz="1100" dirty="0"/>
          </a:p>
        </p:txBody>
      </p:sp>
      <p:sp>
        <p:nvSpPr>
          <p:cNvPr id="6" name="Text 4"/>
          <p:cNvSpPr/>
          <p:nvPr/>
        </p:nvSpPr>
        <p:spPr>
          <a:xfrm>
            <a:off x="822960" y="868680"/>
            <a:ext cx="9144000" cy="1188720"/>
          </a:xfrm>
          <a:prstGeom prst="rect">
            <a:avLst/>
          </a:prstGeom>
          <a:noFill/>
          <a:ln/>
        </p:spPr>
        <p:txBody>
          <a:bodyPr wrap="square" lIns="0" tIns="0" rIns="0" bIns="0" rtlCol="0" anchor="t"/>
          <a:lstStyle/>
          <a:p>
            <a:pPr marL="0" indent="0">
              <a:lnSpc>
                <a:spcPct val="98000"/>
              </a:lnSpc>
              <a:buNone/>
            </a:pPr>
            <a:r>
              <a:rPr lang="en-US" sz="3000" b="1" dirty="0">
                <a:solidFill>
                  <a:srgbClr val="15171C"/>
                </a:solidFill>
                <a:latin typeface="Arial" pitchFamily="34" charset="0"/>
                <a:ea typeface="Arial" pitchFamily="34" charset="-122"/>
                <a:cs typeface="Arial" pitchFamily="34" charset="-120"/>
              </a:rPr>
              <a:t>nids-asn-introduction</a:t>
            </a:r>
            <a:endParaRPr lang="en-US" sz="3000" dirty="0"/>
          </a:p>
        </p:txBody>
      </p:sp>
      <p:sp>
        <p:nvSpPr>
          <p:cNvPr id="7" name="Text 5"/>
          <p:cNvSpPr/>
          <p:nvPr/>
        </p:nvSpPr>
        <p:spPr>
          <a:xfrm>
            <a:off x="822960" y="1700000"/>
            <a:ext cx="6200000" cy="1000000"/>
          </a:xfrm>
          <a:prstGeom prst="rect">
            <a:avLst/>
          </a:prstGeom>
          <a:noFill/>
          <a:ln/>
        </p:spPr>
        <p:txBody>
          <a:bodyPr wrap="square" lIns="0" tIns="0" rIns="0" bIns="0" rtlCol="0" anchor="ctr"/>
          <a:lstStyle/>
          <a:p>
            <a:pPr marL="0" indent="0">
              <a:lnSpc>
                <a:spcPct val="112000"/>
              </a:lnSpc>
              <a:buNone/>
            </a:pPr>
            <a:r>
              <a:rPr lang="en-US" sz="2000" dirty="0">
                <a:solidFill>
                  <a:srgbClr val="33373F"/>
                </a:solidFill>
                <a:latin typeface="Arial" pitchFamily="34" charset="0"/>
                <a:ea typeface="Arial" pitchFamily="34" charset="-122"/>
                <a:cs typeface="Arial" pitchFamily="34" charset="-120"/>
              </a:rPr>
              <a:t>On NRP's JupyterHub, work through how ASNs are distributed across networks and the customer-cone concept — your conceptual and environmental warm-up for everything that follows.</a:t>
            </a:r>
            <a:endParaRPr lang="en-US" sz="1450" dirty="0"/>
          </a:p>
        </p:txBody>
      </p:sp>
      <p:sp>
        <p:nvSpPr>
          <p:cNvPr id="8" name="Shape 6"/>
          <p:cNvSpPr/>
          <p:nvPr/>
        </p:nvSpPr>
        <p:spPr>
          <a:xfrm>
            <a:off x="822960" y="3188580"/>
            <a:ext cx="91440" cy="91440"/>
          </a:xfrm>
          <a:prstGeom prst="ellipse">
            <a:avLst/>
          </a:prstGeom>
          <a:solidFill>
            <a:srgbClr val="2B5187"/>
          </a:solidFill>
          <a:ln/>
        </p:spPr>
        <p:txBody>
          <a:bodyPr/>
          <a:lstStyle/>
          <a:p>
            <a:endParaRPr lang="en-US"/>
          </a:p>
        </p:txBody>
      </p:sp>
      <p:sp>
        <p:nvSpPr>
          <p:cNvPr id="9" name="Text 7"/>
          <p:cNvSpPr/>
          <p:nvPr/>
        </p:nvSpPr>
        <p:spPr>
          <a:xfrm>
            <a:off x="1133856" y="3120000"/>
            <a:ext cx="6200000" cy="760000"/>
          </a:xfrm>
          <a:prstGeom prst="rect">
            <a:avLst/>
          </a:prstGeom>
          <a:noFill/>
          <a:ln/>
        </p:spPr>
        <p:txBody>
          <a:bodyPr wrap="square" lIns="0" tIns="0" rIns="0" bIns="0" rtlCol="0" anchor="t"/>
          <a:lstStyle/>
          <a:p>
            <a:pPr marL="0" indent="0">
              <a:lnSpc>
                <a:spcPct val="103000"/>
              </a:lnSpc>
              <a:buNone/>
            </a:pPr>
            <a:r>
              <a:rPr lang="en-US" sz="2000" b="1" dirty="0">
                <a:solidFill>
                  <a:srgbClr val="15171C"/>
                </a:solidFill>
                <a:latin typeface="Arial" pitchFamily="34" charset="0"/>
                <a:ea typeface="Arial" pitchFamily="34" charset="-122"/>
                <a:cs typeface="Arial" pitchFamily="34" charset="-120"/>
              </a:rPr>
              <a:t>Run and modify the notebook on NRP</a:t>
            </a:r>
            <a:endParaRPr lang="en-US" sz="1400" dirty="0"/>
          </a:p>
        </p:txBody>
      </p:sp>
      <p:sp>
        <p:nvSpPr>
          <p:cNvPr id="10" name="Shape 8"/>
          <p:cNvSpPr/>
          <p:nvPr/>
        </p:nvSpPr>
        <p:spPr>
          <a:xfrm>
            <a:off x="822960" y="4008580"/>
            <a:ext cx="91440" cy="91440"/>
          </a:xfrm>
          <a:prstGeom prst="ellipse">
            <a:avLst/>
          </a:prstGeom>
          <a:solidFill>
            <a:srgbClr val="2B5187"/>
          </a:solidFill>
          <a:ln/>
        </p:spPr>
        <p:txBody>
          <a:bodyPr/>
          <a:lstStyle/>
          <a:p>
            <a:endParaRPr lang="en-US"/>
          </a:p>
        </p:txBody>
      </p:sp>
      <p:sp>
        <p:nvSpPr>
          <p:cNvPr id="11" name="Text 9"/>
          <p:cNvSpPr/>
          <p:nvPr/>
        </p:nvSpPr>
        <p:spPr>
          <a:xfrm>
            <a:off x="1133856" y="3940000"/>
            <a:ext cx="6200000" cy="760000"/>
          </a:xfrm>
          <a:prstGeom prst="rect">
            <a:avLst/>
          </a:prstGeom>
          <a:noFill/>
          <a:ln/>
        </p:spPr>
        <p:txBody>
          <a:bodyPr wrap="square" lIns="0" tIns="0" rIns="0" bIns="0" rtlCol="0" anchor="t"/>
          <a:lstStyle/>
          <a:p>
            <a:pPr marL="0" indent="0">
              <a:lnSpc>
                <a:spcPct val="103000"/>
              </a:lnSpc>
              <a:buNone/>
            </a:pPr>
            <a:r>
              <a:rPr lang="en-US" sz="2000" dirty="0">
                <a:solidFill>
                  <a:srgbClr val="33373F"/>
                </a:solidFill>
                <a:latin typeface="Arial" pitchFamily="34" charset="0"/>
                <a:ea typeface="Arial" pitchFamily="34" charset="-122"/>
                <a:cs typeface="Arial" pitchFamily="34" charset="-120"/>
              </a:rPr>
              <a:t>Parse CAIDA's AS-to-Org and customer-cone data</a:t>
            </a:r>
            <a:endParaRPr lang="en-US" sz="1400" dirty="0"/>
          </a:p>
        </p:txBody>
      </p:sp>
      <p:sp>
        <p:nvSpPr>
          <p:cNvPr id="12" name="Shape 10"/>
          <p:cNvSpPr/>
          <p:nvPr/>
        </p:nvSpPr>
        <p:spPr>
          <a:xfrm>
            <a:off x="822960" y="4828580"/>
            <a:ext cx="91440" cy="91440"/>
          </a:xfrm>
          <a:prstGeom prst="ellipse">
            <a:avLst/>
          </a:prstGeom>
          <a:solidFill>
            <a:srgbClr val="2B5187"/>
          </a:solidFill>
          <a:ln/>
        </p:spPr>
        <p:txBody>
          <a:bodyPr/>
          <a:lstStyle/>
          <a:p>
            <a:endParaRPr lang="en-US"/>
          </a:p>
        </p:txBody>
      </p:sp>
      <p:sp>
        <p:nvSpPr>
          <p:cNvPr id="13" name="Text 11"/>
          <p:cNvSpPr/>
          <p:nvPr/>
        </p:nvSpPr>
        <p:spPr>
          <a:xfrm>
            <a:off x="1133856" y="4760000"/>
            <a:ext cx="6200000" cy="760000"/>
          </a:xfrm>
          <a:prstGeom prst="rect">
            <a:avLst/>
          </a:prstGeom>
          <a:noFill/>
          <a:ln/>
        </p:spPr>
        <p:txBody>
          <a:bodyPr wrap="square" lIns="0" tIns="0" rIns="0" bIns="0" rtlCol="0" anchor="t"/>
          <a:lstStyle/>
          <a:p>
            <a:pPr marL="0" indent="0">
              <a:lnSpc>
                <a:spcPct val="103000"/>
              </a:lnSpc>
              <a:buNone/>
            </a:pPr>
            <a:r>
              <a:rPr lang="en-US" sz="2000" dirty="0">
                <a:solidFill>
                  <a:srgbClr val="33373F"/>
                </a:solidFill>
                <a:latin typeface="Arial" pitchFamily="34" charset="0"/>
                <a:ea typeface="Arial" pitchFamily="34" charset="-122"/>
                <a:cs typeface="Arial" pitchFamily="34" charset="-120"/>
              </a:rPr>
              <a:t>Sort ASNs into tiers by cone size</a:t>
            </a:r>
            <a:endParaRPr lang="en-US" sz="1400" dirty="0"/>
          </a:p>
        </p:txBody>
      </p:sp>
      <p:sp>
        <p:nvSpPr>
          <p:cNvPr id="14" name="Shape 12"/>
          <p:cNvSpPr/>
          <p:nvPr/>
        </p:nvSpPr>
        <p:spPr>
          <a:xfrm>
            <a:off x="822960" y="5648580"/>
            <a:ext cx="91440" cy="91440"/>
          </a:xfrm>
          <a:prstGeom prst="ellipse">
            <a:avLst/>
          </a:prstGeom>
          <a:solidFill>
            <a:srgbClr val="2B5187"/>
          </a:solidFill>
          <a:ln/>
        </p:spPr>
        <p:txBody>
          <a:bodyPr/>
          <a:lstStyle/>
          <a:p>
            <a:endParaRPr lang="en-US"/>
          </a:p>
        </p:txBody>
      </p:sp>
      <p:sp>
        <p:nvSpPr>
          <p:cNvPr id="15" name="Text 13"/>
          <p:cNvSpPr/>
          <p:nvPr/>
        </p:nvSpPr>
        <p:spPr>
          <a:xfrm>
            <a:off x="1133856" y="5580000"/>
            <a:ext cx="6200000" cy="760000"/>
          </a:xfrm>
          <a:prstGeom prst="rect">
            <a:avLst/>
          </a:prstGeom>
          <a:noFill/>
          <a:ln/>
        </p:spPr>
        <p:txBody>
          <a:bodyPr wrap="square" lIns="0" tIns="0" rIns="0" bIns="0" rtlCol="0" anchor="t"/>
          <a:lstStyle/>
          <a:p>
            <a:pPr marL="0" indent="0">
              <a:lnSpc>
                <a:spcPct val="103000"/>
              </a:lnSpc>
              <a:buNone/>
            </a:pPr>
            <a:r>
              <a:rPr lang="en-US" sz="2000" dirty="0">
                <a:solidFill>
                  <a:srgbClr val="33373F"/>
                </a:solidFill>
                <a:latin typeface="Arial" pitchFamily="34" charset="0"/>
                <a:ea typeface="Arial" pitchFamily="34" charset="-122"/>
                <a:cs typeface="Arial" pitchFamily="34" charset="-120"/>
              </a:rPr>
              <a:t>Finish all notebook tasks and questions</a:t>
            </a:r>
            <a:endParaRPr lang="en-US" sz="1400" dirty="0"/>
          </a:p>
        </p:txBody>
      </p:sp>
      <p:sp>
        <p:nvSpPr>
          <p:cNvPr id="16" name="Shape 14"/>
          <p:cNvSpPr/>
          <p:nvPr/>
        </p:nvSpPr>
        <p:spPr>
          <a:xfrm>
            <a:off x="7635240" y="1691640"/>
            <a:ext cx="3730752" cy="3291840"/>
          </a:xfrm>
          <a:prstGeom prst="roundRect">
            <a:avLst>
              <a:gd name="adj" fmla="val 1944"/>
            </a:avLst>
          </a:prstGeom>
          <a:solidFill>
            <a:srgbClr val="F7F8FA"/>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17" name="Text 15"/>
          <p:cNvSpPr/>
          <p:nvPr/>
        </p:nvSpPr>
        <p:spPr>
          <a:xfrm>
            <a:off x="7927848" y="1920240"/>
            <a:ext cx="3182112" cy="274320"/>
          </a:xfrm>
          <a:prstGeom prst="rect">
            <a:avLst/>
          </a:prstGeom>
          <a:noFill/>
          <a:ln/>
        </p:spPr>
        <p:txBody>
          <a:bodyPr wrap="square" lIns="0" tIns="0" rIns="0" bIns="0" rtlCol="0" anchor="ctr"/>
          <a:lstStyle/>
          <a:p>
            <a:pPr marL="0" indent="0">
              <a:buNone/>
            </a:pPr>
            <a:r>
              <a:rPr lang="en-US" sz="1050" b="1" kern="0" spc="140" dirty="0">
                <a:solidFill>
                  <a:srgbClr val="2B5187"/>
                </a:solidFill>
                <a:latin typeface="Arial" pitchFamily="34" charset="0"/>
                <a:ea typeface="Arial" pitchFamily="34" charset="-122"/>
                <a:cs typeface="Arial" pitchFamily="34" charset="-120"/>
              </a:rPr>
              <a:t>MODULE MILESTONE</a:t>
            </a:r>
            <a:endParaRPr lang="en-US" sz="1050" dirty="0"/>
          </a:p>
        </p:txBody>
      </p:sp>
      <p:sp>
        <p:nvSpPr>
          <p:cNvPr id="18" name="Text 16"/>
          <p:cNvSpPr/>
          <p:nvPr/>
        </p:nvSpPr>
        <p:spPr>
          <a:xfrm>
            <a:off x="7927848" y="2240280"/>
            <a:ext cx="3145536" cy="914400"/>
          </a:xfrm>
          <a:prstGeom prst="rect">
            <a:avLst/>
          </a:prstGeom>
          <a:noFill/>
          <a:ln/>
        </p:spPr>
        <p:txBody>
          <a:bodyPr wrap="square" lIns="0" tIns="0" rIns="0" bIns="0" rtlCol="0" anchor="ctr"/>
          <a:lstStyle/>
          <a:p>
            <a:pPr marL="0" indent="0">
              <a:lnSpc>
                <a:spcPct val="112000"/>
              </a:lnSpc>
              <a:buNone/>
            </a:pPr>
            <a:r>
              <a:rPr lang="en-US" sz="1400" dirty="0">
                <a:solidFill>
                  <a:srgbClr val="33373F"/>
                </a:solidFill>
                <a:latin typeface="Arial" pitchFamily="34" charset="0"/>
                <a:ea typeface="Arial" pitchFamily="34" charset="-122"/>
                <a:cs typeface="Arial" pitchFamily="34" charset="-120"/>
              </a:rPr>
              <a:t>Document your onboarding experience as written feedback on the module — you're also its first evaluator.</a:t>
            </a:r>
            <a:endParaRPr lang="en-US" sz="1300" dirty="0"/>
          </a:p>
        </p:txBody>
      </p:sp>
      <p:sp>
        <p:nvSpPr>
          <p:cNvPr id="19" name="Shape 17"/>
          <p:cNvSpPr/>
          <p:nvPr/>
        </p:nvSpPr>
        <p:spPr>
          <a:xfrm>
            <a:off x="7927848" y="3246120"/>
            <a:ext cx="3145536" cy="0"/>
          </a:xfrm>
          <a:prstGeom prst="line">
            <a:avLst/>
          </a:prstGeom>
          <a:noFill/>
          <a:ln w="12700">
            <a:solidFill>
              <a:srgbClr val="E5E7EB"/>
            </a:solidFill>
            <a:prstDash val="solid"/>
          </a:ln>
        </p:spPr>
        <p:txBody>
          <a:bodyPr/>
          <a:lstStyle/>
          <a:p>
            <a:endParaRPr lang="en-US"/>
          </a:p>
        </p:txBody>
      </p:sp>
      <p:sp>
        <p:nvSpPr>
          <p:cNvPr id="20" name="Text 18"/>
          <p:cNvSpPr/>
          <p:nvPr/>
        </p:nvSpPr>
        <p:spPr>
          <a:xfrm>
            <a:off x="7927848" y="3429000"/>
            <a:ext cx="3182112" cy="274320"/>
          </a:xfrm>
          <a:prstGeom prst="rect">
            <a:avLst/>
          </a:prstGeom>
          <a:noFill/>
          <a:ln/>
        </p:spPr>
        <p:txBody>
          <a:bodyPr wrap="square" lIns="0" tIns="0" rIns="0" bIns="0" rtlCol="0" anchor="ctr"/>
          <a:lstStyle/>
          <a:p>
            <a:pPr marL="0" indent="0">
              <a:buNone/>
            </a:pPr>
            <a:r>
              <a:rPr lang="en-US" sz="1050" b="1" kern="0" spc="140" dirty="0">
                <a:solidFill>
                  <a:srgbClr val="6B7280"/>
                </a:solidFill>
                <a:latin typeface="Arial" pitchFamily="34" charset="0"/>
                <a:ea typeface="Arial" pitchFamily="34" charset="-122"/>
                <a:cs typeface="Arial" pitchFamily="34" charset="-120"/>
              </a:rPr>
              <a:t>REPOSITORY</a:t>
            </a:r>
            <a:endParaRPr lang="en-US" sz="1050" dirty="0"/>
          </a:p>
        </p:txBody>
      </p:sp>
      <p:sp>
        <p:nvSpPr>
          <p:cNvPr id="21" name="Text 19"/>
          <p:cNvSpPr/>
          <p:nvPr/>
        </p:nvSpPr>
        <p:spPr>
          <a:xfrm>
            <a:off x="7927848" y="3730752"/>
            <a:ext cx="3145536" cy="640080"/>
          </a:xfrm>
          <a:prstGeom prst="rect">
            <a:avLst/>
          </a:prstGeom>
          <a:noFill/>
          <a:ln/>
        </p:spPr>
        <p:txBody>
          <a:bodyPr wrap="square" lIns="0" tIns="0" rIns="0" bIns="0" rtlCol="0" anchor="ctr"/>
          <a:lstStyle/>
          <a:p>
            <a:pPr marL="0" indent="0">
              <a:lnSpc>
                <a:spcPct val="110000"/>
              </a:lnSpc>
              <a:buNone/>
            </a:pPr>
            <a:r>
              <a:rPr lang="en-US" sz="1500" dirty="0">
                <a:solidFill>
                  <a:srgbClr val="15171C"/>
                </a:solidFill>
                <a:latin typeface="Consolas" pitchFamily="34" charset="0"/>
                <a:ea typeface="Consolas" pitchFamily="34" charset="-122"/>
                <a:cs typeface="Consolas" pitchFamily="34" charset="-120"/>
              </a:rPr>
              <a:t>github.com/CAIDA/</a:t>
            </a:r>
            <a:endParaRPr lang="en-US" sz="1250" dirty="0"/>
          </a:p>
          <a:p>
            <a:pPr marL="0" indent="0">
              <a:lnSpc>
                <a:spcPct val="110000"/>
              </a:lnSpc>
              <a:buNone/>
            </a:pPr>
            <a:r>
              <a:rPr lang="en-US" sz="1500" dirty="0">
                <a:solidFill>
                  <a:srgbClr val="15171C"/>
                </a:solidFill>
                <a:latin typeface="Consolas" pitchFamily="34" charset="0"/>
                <a:ea typeface="Consolas" pitchFamily="34" charset="-122"/>
                <a:cs typeface="Consolas" pitchFamily="34" charset="-120"/>
              </a:rPr>
              <a:t>nids-asn-introduction</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8074152" y="384048"/>
            <a:ext cx="3291840" cy="274320"/>
          </a:xfrm>
          <a:prstGeom prst="rect">
            <a:avLst/>
          </a:prstGeom>
          <a:noFill/>
          <a:ln/>
        </p:spPr>
        <p:txBody>
          <a:bodyPr wrap="square" lIns="0" tIns="0" rIns="0" bIns="0" rtlCol="0" anchor="ctr"/>
          <a:lstStyle/>
          <a:p>
            <a:pPr marL="0" indent="0" algn="r">
              <a:buNone/>
            </a:pPr>
            <a:r>
              <a:rPr lang="en-US" sz="1000" b="1" kern="0" spc="120" dirty="0">
                <a:solidFill>
                  <a:srgbClr val="15171C"/>
                </a:solidFill>
                <a:latin typeface="Arial" pitchFamily="34" charset="0"/>
                <a:ea typeface="Arial" pitchFamily="34" charset="-122"/>
                <a:cs typeface="Arial" pitchFamily="34" charset="-120"/>
              </a:rPr>
              <a:t>WEEK 1</a:t>
            </a:r>
            <a:r>
              <a:rPr lang="en-US" sz="1000" kern="0" spc="120" dirty="0">
                <a:solidFill>
                  <a:srgbClr val="6B7280"/>
                </a:solidFill>
                <a:latin typeface="Arial" pitchFamily="34" charset="0"/>
                <a:ea typeface="Arial" pitchFamily="34" charset="-122"/>
                <a:cs typeface="Arial" pitchFamily="34" charset="-120"/>
              </a:rPr>
              <a:t>  ·  BUILDING BLOCK </a:t>
            </a:r>
            <a:r>
              <a:rPr lang="en-US" sz="1000" b="1" kern="0" spc="120" dirty="0">
                <a:solidFill>
                  <a:srgbClr val="2B5187"/>
                </a:solidFill>
                <a:latin typeface="Arial" pitchFamily="34" charset="0"/>
                <a:ea typeface="Arial" pitchFamily="34" charset="-122"/>
                <a:cs typeface="Arial" pitchFamily="34" charset="-120"/>
              </a:rPr>
              <a:t>1</a:t>
            </a:r>
            <a:r>
              <a:rPr lang="en-US" sz="1000" kern="0" spc="120" dirty="0">
                <a:solidFill>
                  <a:srgbClr val="6B7280"/>
                </a:solidFill>
                <a:latin typeface="Arial" pitchFamily="34" charset="0"/>
                <a:ea typeface="Arial" pitchFamily="34" charset="-122"/>
                <a:cs typeface="Arial" pitchFamily="34" charset="-120"/>
              </a:rPr>
              <a:t> / 10</a:t>
            </a:r>
            <a:endParaRPr lang="en-US" sz="1000" dirty="0"/>
          </a:p>
        </p:txBody>
      </p:sp>
      <p:sp>
        <p:nvSpPr>
          <p:cNvPr id="3" name="Text 1"/>
          <p:cNvSpPr/>
          <p:nvPr/>
        </p:nvSpPr>
        <p:spPr>
          <a:xfrm>
            <a:off x="822960" y="640080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Arial" pitchFamily="34" charset="0"/>
                <a:ea typeface="Arial" pitchFamily="34" charset="-122"/>
                <a:cs typeface="Arial" pitchFamily="34" charset="-120"/>
              </a:rPr>
              <a:t>ESCALATE Training Program · Summer 2026</a:t>
            </a:r>
            <a:endParaRPr lang="en-US" sz="900" dirty="0"/>
          </a:p>
        </p:txBody>
      </p:sp>
      <p:sp>
        <p:nvSpPr>
          <p:cNvPr id="5" name="Text 3"/>
          <p:cNvSpPr/>
          <p:nvPr/>
        </p:nvSpPr>
        <p:spPr>
          <a:xfrm>
            <a:off x="822960" y="548640"/>
            <a:ext cx="5486400" cy="274320"/>
          </a:xfrm>
          <a:prstGeom prst="rect">
            <a:avLst/>
          </a:prstGeom>
          <a:noFill/>
          <a:ln/>
        </p:spPr>
        <p:txBody>
          <a:bodyPr wrap="square" lIns="0" tIns="0" rIns="0" bIns="0" rtlCol="0" anchor="t"/>
          <a:lstStyle/>
          <a:p>
            <a:pPr marL="0" indent="0">
              <a:buNone/>
            </a:pPr>
            <a:r>
              <a:rPr lang="en-US" sz="1100" b="1" kern="0" spc="220" dirty="0">
                <a:solidFill>
                  <a:srgbClr val="2B5187"/>
                </a:solidFill>
                <a:latin typeface="Arial" pitchFamily="34" charset="0"/>
                <a:ea typeface="Arial" pitchFamily="34" charset="-122"/>
                <a:cs typeface="Arial" pitchFamily="34" charset="-120"/>
              </a:rPr>
              <a:t>WHAT YOU'LL WORK WITH</a:t>
            </a:r>
            <a:endParaRPr lang="en-US" sz="1100" dirty="0"/>
          </a:p>
        </p:txBody>
      </p:sp>
      <p:sp>
        <p:nvSpPr>
          <p:cNvPr id="6" name="Text 4"/>
          <p:cNvSpPr/>
          <p:nvPr/>
        </p:nvSpPr>
        <p:spPr>
          <a:xfrm>
            <a:off x="822960" y="868680"/>
            <a:ext cx="10607040" cy="1188720"/>
          </a:xfrm>
          <a:prstGeom prst="rect">
            <a:avLst/>
          </a:prstGeom>
          <a:noFill/>
          <a:ln/>
        </p:spPr>
        <p:txBody>
          <a:bodyPr wrap="square" lIns="0" tIns="0" rIns="0" bIns="0" rtlCol="0" anchor="t"/>
          <a:lstStyle/>
          <a:p>
            <a:pPr marL="0" indent="0">
              <a:lnSpc>
                <a:spcPct val="98000"/>
              </a:lnSpc>
              <a:buNone/>
            </a:pPr>
            <a:r>
              <a:rPr lang="en-US" sz="2900" b="1" dirty="0">
                <a:solidFill>
                  <a:srgbClr val="15171C"/>
                </a:solidFill>
                <a:latin typeface="Arial" pitchFamily="34" charset="0"/>
                <a:ea typeface="Arial" pitchFamily="34" charset="-122"/>
                <a:cs typeface="Arial" pitchFamily="34" charset="-120"/>
              </a:rPr>
              <a:t>The two datasets in this module</a:t>
            </a:r>
            <a:endParaRPr lang="en-US" sz="2900" dirty="0"/>
          </a:p>
        </p:txBody>
      </p:sp>
      <p:sp>
        <p:nvSpPr>
          <p:cNvPr id="7" name="Shape 5"/>
          <p:cNvSpPr/>
          <p:nvPr/>
        </p:nvSpPr>
        <p:spPr>
          <a:xfrm>
            <a:off x="822960" y="2000000"/>
            <a:ext cx="5029200" cy="2950000"/>
          </a:xfrm>
          <a:prstGeom prst="roundRect">
            <a:avLst>
              <a:gd name="adj" fmla="val 3500"/>
            </a:avLst>
          </a:prstGeom>
          <a:solidFill>
            <a:srgbClr val="FFFFFF"/>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8" name="Text 6"/>
          <p:cNvSpPr/>
          <p:nvPr/>
        </p:nvSpPr>
        <p:spPr>
          <a:xfrm>
            <a:off x="1115568" y="2200000"/>
            <a:ext cx="4480560" cy="365760"/>
          </a:xfrm>
          <a:prstGeom prst="rect">
            <a:avLst/>
          </a:prstGeom>
          <a:noFill/>
          <a:ln/>
        </p:spPr>
        <p:txBody>
          <a:bodyPr wrap="square" lIns="0" tIns="0" rIns="0" bIns="0" rtlCol="0" anchor="ctr"/>
          <a:lstStyle/>
          <a:p>
            <a:pPr marL="0" indent="0">
              <a:buNone/>
            </a:pPr>
            <a:r>
              <a:rPr lang="en-US" sz="2000" b="1" dirty="0">
                <a:solidFill>
                  <a:srgbClr val="2B5187"/>
                </a:solidFill>
                <a:latin typeface="Arial" pitchFamily="34" charset="0"/>
                <a:ea typeface="Arial" pitchFamily="34" charset="-122"/>
                <a:cs typeface="Arial" pitchFamily="34" charset="-120"/>
              </a:rPr>
              <a:t>AS-to-Organizations</a:t>
            </a:r>
            <a:endParaRPr lang="en-US" sz="1600" dirty="0"/>
          </a:p>
        </p:txBody>
      </p:sp>
      <p:sp>
        <p:nvSpPr>
          <p:cNvPr id="9" name="Text 7"/>
          <p:cNvSpPr/>
          <p:nvPr/>
        </p:nvSpPr>
        <p:spPr>
          <a:xfrm>
            <a:off x="1115568" y="2780000"/>
            <a:ext cx="4443984" cy="1450000"/>
          </a:xfrm>
          <a:prstGeom prst="rect">
            <a:avLst/>
          </a:prstGeom>
          <a:noFill/>
          <a:ln/>
        </p:spPr>
        <p:txBody>
          <a:bodyPr wrap="square" lIns="0" tIns="0" rIns="0" bIns="0" rtlCol="0" anchor="ctr"/>
          <a:lstStyle/>
          <a:p>
            <a:pPr marL="0" indent="0">
              <a:lnSpc>
                <a:spcPct val="110000"/>
              </a:lnSpc>
              <a:buNone/>
            </a:pPr>
            <a:r>
              <a:rPr lang="en-US" sz="2000" dirty="0">
                <a:solidFill>
                  <a:srgbClr val="33373F"/>
                </a:solidFill>
                <a:latin typeface="Arial" pitchFamily="34" charset="0"/>
                <a:ea typeface="Arial" pitchFamily="34" charset="-122"/>
                <a:cs typeface="Arial" pitchFamily="34" charset="-120"/>
              </a:rPr>
              <a:t>Maps ASNs to the organizations that hold them — org name, country, source registry, and member ASNs — inferred from WHOIS.</a:t>
            </a:r>
            <a:endParaRPr lang="en-US" sz="1300" dirty="0"/>
          </a:p>
        </p:txBody>
      </p:sp>
      <p:sp>
        <p:nvSpPr>
          <p:cNvPr id="10" name="Text 8"/>
          <p:cNvSpPr/>
          <p:nvPr/>
        </p:nvSpPr>
        <p:spPr>
          <a:xfrm>
            <a:off x="1115568" y="4350000"/>
            <a:ext cx="4443984" cy="320040"/>
          </a:xfrm>
          <a:prstGeom prst="rect">
            <a:avLst/>
          </a:prstGeom>
          <a:noFill/>
          <a:ln/>
        </p:spPr>
        <p:txBody>
          <a:bodyPr wrap="square" lIns="0" tIns="0" rIns="0" bIns="0" rtlCol="0" anchor="ctr"/>
          <a:lstStyle/>
          <a:p>
            <a:pPr marL="0" indent="0">
              <a:buNone/>
            </a:pPr>
            <a:r>
              <a:rPr lang="en-US" sz="2000" dirty="0">
                <a:solidFill>
                  <a:srgbClr val="6B7280"/>
                </a:solidFill>
                <a:latin typeface="Arial" pitchFamily="34" charset="0"/>
                <a:ea typeface="Arial" pitchFamily="34" charset="-122"/>
                <a:cs typeface="Arial" pitchFamily="34" charset="-120"/>
              </a:rPr>
              <a:t>stored as  </a:t>
            </a:r>
            <a:r>
              <a:rPr lang="en-US" sz="2000" dirty="0">
                <a:solidFill>
                  <a:srgbClr val="15171C"/>
                </a:solidFill>
                <a:latin typeface="Arial" pitchFamily="34" charset="0"/>
                <a:ea typeface="Arial" pitchFamily="34" charset="-122"/>
                <a:cs typeface="Arial" pitchFamily="34" charset="-120"/>
              </a:rPr>
              <a:t>as2org.jsonl</a:t>
            </a:r>
            <a:endParaRPr lang="en-US" sz="1200" dirty="0"/>
          </a:p>
        </p:txBody>
      </p:sp>
      <p:sp>
        <p:nvSpPr>
          <p:cNvPr id="11" name="Shape 9"/>
          <p:cNvSpPr/>
          <p:nvPr/>
        </p:nvSpPr>
        <p:spPr>
          <a:xfrm>
            <a:off x="6309360" y="2000000"/>
            <a:ext cx="5029200" cy="2950000"/>
          </a:xfrm>
          <a:prstGeom prst="roundRect">
            <a:avLst>
              <a:gd name="adj" fmla="val 3500"/>
            </a:avLst>
          </a:prstGeom>
          <a:solidFill>
            <a:srgbClr val="FFFFFF"/>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12" name="Text 10"/>
          <p:cNvSpPr/>
          <p:nvPr/>
        </p:nvSpPr>
        <p:spPr>
          <a:xfrm>
            <a:off x="6601968" y="2200000"/>
            <a:ext cx="4480560" cy="365760"/>
          </a:xfrm>
          <a:prstGeom prst="rect">
            <a:avLst/>
          </a:prstGeom>
          <a:noFill/>
          <a:ln/>
        </p:spPr>
        <p:txBody>
          <a:bodyPr wrap="square" lIns="0" tIns="0" rIns="0" bIns="0" rtlCol="0" anchor="ctr"/>
          <a:lstStyle/>
          <a:p>
            <a:pPr marL="0" indent="0">
              <a:buNone/>
            </a:pPr>
            <a:r>
              <a:rPr lang="en-US" sz="2000" b="1" dirty="0">
                <a:solidFill>
                  <a:srgbClr val="2B5187"/>
                </a:solidFill>
                <a:latin typeface="Arial" pitchFamily="34" charset="0"/>
                <a:ea typeface="Arial" pitchFamily="34" charset="-122"/>
                <a:cs typeface="Arial" pitchFamily="34" charset="-120"/>
              </a:rPr>
              <a:t>AS Customer Cone (Serial-1)</a:t>
            </a:r>
            <a:endParaRPr lang="en-US" sz="1600" dirty="0"/>
          </a:p>
        </p:txBody>
      </p:sp>
      <p:sp>
        <p:nvSpPr>
          <p:cNvPr id="13" name="Text 11"/>
          <p:cNvSpPr/>
          <p:nvPr/>
        </p:nvSpPr>
        <p:spPr>
          <a:xfrm>
            <a:off x="6601968" y="2780000"/>
            <a:ext cx="4443984" cy="1450000"/>
          </a:xfrm>
          <a:prstGeom prst="rect">
            <a:avLst/>
          </a:prstGeom>
          <a:noFill/>
          <a:ln/>
        </p:spPr>
        <p:txBody>
          <a:bodyPr wrap="square" lIns="0" tIns="0" rIns="0" bIns="0" rtlCol="0" anchor="ctr"/>
          <a:lstStyle/>
          <a:p>
            <a:pPr marL="0" indent="0">
              <a:lnSpc>
                <a:spcPct val="110000"/>
              </a:lnSpc>
              <a:buNone/>
            </a:pPr>
            <a:r>
              <a:rPr lang="en-US" sz="2000" dirty="0">
                <a:solidFill>
                  <a:srgbClr val="33373F"/>
                </a:solidFill>
                <a:latin typeface="Arial" pitchFamily="34" charset="0"/>
                <a:ea typeface="Arial" pitchFamily="34" charset="-122"/>
                <a:cs typeface="Arial" pitchFamily="34" charset="-120"/>
              </a:rPr>
              <a:t>For each AS, the list of ASNs in its customer cone, derived from observed BGP paths. Cone size is the count of those ASNs.</a:t>
            </a:r>
            <a:endParaRPr lang="en-US" sz="1300" dirty="0"/>
          </a:p>
        </p:txBody>
      </p:sp>
      <p:sp>
        <p:nvSpPr>
          <p:cNvPr id="14" name="Text 12"/>
          <p:cNvSpPr/>
          <p:nvPr/>
        </p:nvSpPr>
        <p:spPr>
          <a:xfrm>
            <a:off x="6601968" y="4350000"/>
            <a:ext cx="4443984" cy="320040"/>
          </a:xfrm>
          <a:prstGeom prst="rect">
            <a:avLst/>
          </a:prstGeom>
          <a:noFill/>
          <a:ln/>
        </p:spPr>
        <p:txBody>
          <a:bodyPr wrap="square" lIns="0" tIns="0" rIns="0" bIns="0" rtlCol="0" anchor="ctr"/>
          <a:lstStyle/>
          <a:p>
            <a:pPr marL="0" indent="0">
              <a:buNone/>
            </a:pPr>
            <a:r>
              <a:rPr lang="en-US" sz="2000" dirty="0">
                <a:solidFill>
                  <a:srgbClr val="6B7280"/>
                </a:solidFill>
                <a:latin typeface="Arial" pitchFamily="34" charset="0"/>
                <a:ea typeface="Arial" pitchFamily="34" charset="-122"/>
                <a:cs typeface="Arial" pitchFamily="34" charset="-120"/>
              </a:rPr>
              <a:t>file  </a:t>
            </a:r>
            <a:r>
              <a:rPr lang="en-US" sz="2000" dirty="0">
                <a:solidFill>
                  <a:srgbClr val="15171C"/>
                </a:solidFill>
                <a:latin typeface="Arial" pitchFamily="34" charset="0"/>
                <a:ea typeface="Arial" pitchFamily="34" charset="-122"/>
                <a:cs typeface="Arial" pitchFamily="34" charset="-120"/>
              </a:rPr>
              <a:t>20260501.ppdc-ases.txt.bz2</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8074152" y="384048"/>
            <a:ext cx="3291840" cy="274320"/>
          </a:xfrm>
          <a:prstGeom prst="rect">
            <a:avLst/>
          </a:prstGeom>
          <a:noFill/>
          <a:ln/>
        </p:spPr>
        <p:txBody>
          <a:bodyPr wrap="square" lIns="0" tIns="0" rIns="0" bIns="0" rtlCol="0" anchor="ctr"/>
          <a:lstStyle/>
          <a:p>
            <a:pPr marL="0" indent="0" algn="r">
              <a:buNone/>
            </a:pPr>
            <a:r>
              <a:rPr lang="en-US" sz="1000" b="1" kern="0" spc="120" dirty="0">
                <a:solidFill>
                  <a:srgbClr val="15171C"/>
                </a:solidFill>
                <a:latin typeface="Arial" pitchFamily="34" charset="0"/>
                <a:ea typeface="Arial" pitchFamily="34" charset="-122"/>
                <a:cs typeface="Arial" pitchFamily="34" charset="-120"/>
              </a:rPr>
              <a:t>WEEK 1</a:t>
            </a:r>
            <a:r>
              <a:rPr lang="en-US" sz="1000" kern="0" spc="120" dirty="0">
                <a:solidFill>
                  <a:srgbClr val="6B7280"/>
                </a:solidFill>
                <a:latin typeface="Arial" pitchFamily="34" charset="0"/>
                <a:ea typeface="Arial" pitchFamily="34" charset="-122"/>
                <a:cs typeface="Arial" pitchFamily="34" charset="-120"/>
              </a:rPr>
              <a:t>  ·  BUILDING BLOCK </a:t>
            </a:r>
            <a:r>
              <a:rPr lang="en-US" sz="1000" b="1" kern="0" spc="120" dirty="0">
                <a:solidFill>
                  <a:srgbClr val="2B5187"/>
                </a:solidFill>
                <a:latin typeface="Arial" pitchFamily="34" charset="0"/>
                <a:ea typeface="Arial" pitchFamily="34" charset="-122"/>
                <a:cs typeface="Arial" pitchFamily="34" charset="-120"/>
              </a:rPr>
              <a:t>1</a:t>
            </a:r>
            <a:r>
              <a:rPr lang="en-US" sz="1000" kern="0" spc="120" dirty="0">
                <a:solidFill>
                  <a:srgbClr val="6B7280"/>
                </a:solidFill>
                <a:latin typeface="Arial" pitchFamily="34" charset="0"/>
                <a:ea typeface="Arial" pitchFamily="34" charset="-122"/>
                <a:cs typeface="Arial" pitchFamily="34" charset="-120"/>
              </a:rPr>
              <a:t> / 10</a:t>
            </a:r>
            <a:endParaRPr lang="en-US" sz="1000" dirty="0"/>
          </a:p>
        </p:txBody>
      </p:sp>
      <p:sp>
        <p:nvSpPr>
          <p:cNvPr id="3" name="Text 1"/>
          <p:cNvSpPr/>
          <p:nvPr/>
        </p:nvSpPr>
        <p:spPr>
          <a:xfrm>
            <a:off x="822960" y="640080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Arial" pitchFamily="34" charset="0"/>
                <a:ea typeface="Arial" pitchFamily="34" charset="-122"/>
                <a:cs typeface="Arial" pitchFamily="34" charset="-120"/>
              </a:rPr>
              <a:t>ESCALATE Training Program · Summer 2026</a:t>
            </a:r>
            <a:endParaRPr lang="en-US" sz="900" dirty="0"/>
          </a:p>
        </p:txBody>
      </p:sp>
      <p:sp>
        <p:nvSpPr>
          <p:cNvPr id="5" name="Text 3"/>
          <p:cNvSpPr/>
          <p:nvPr/>
        </p:nvSpPr>
        <p:spPr>
          <a:xfrm>
            <a:off x="822960" y="548640"/>
            <a:ext cx="5486400" cy="274320"/>
          </a:xfrm>
          <a:prstGeom prst="rect">
            <a:avLst/>
          </a:prstGeom>
          <a:noFill/>
          <a:ln/>
        </p:spPr>
        <p:txBody>
          <a:bodyPr wrap="square" lIns="0" tIns="0" rIns="0" bIns="0" rtlCol="0" anchor="t"/>
          <a:lstStyle/>
          <a:p>
            <a:pPr marL="0" indent="0">
              <a:buNone/>
            </a:pPr>
            <a:r>
              <a:rPr lang="en-US" sz="1100" b="1" kern="0" spc="220" dirty="0">
                <a:solidFill>
                  <a:srgbClr val="2B5187"/>
                </a:solidFill>
                <a:latin typeface="Arial" pitchFamily="34" charset="0"/>
                <a:ea typeface="Arial" pitchFamily="34" charset="-122"/>
                <a:cs typeface="Arial" pitchFamily="34" charset="-120"/>
              </a:rPr>
              <a:t>WHAT YOU'LL WORK WITH</a:t>
            </a:r>
            <a:endParaRPr lang="en-US" sz="1100" dirty="0"/>
          </a:p>
        </p:txBody>
      </p:sp>
      <p:sp>
        <p:nvSpPr>
          <p:cNvPr id="6" name="Text 4"/>
          <p:cNvSpPr/>
          <p:nvPr/>
        </p:nvSpPr>
        <p:spPr>
          <a:xfrm>
            <a:off x="822960" y="868680"/>
            <a:ext cx="10607040" cy="1188720"/>
          </a:xfrm>
          <a:prstGeom prst="rect">
            <a:avLst/>
          </a:prstGeom>
          <a:noFill/>
          <a:ln/>
        </p:spPr>
        <p:txBody>
          <a:bodyPr wrap="square" lIns="0" tIns="0" rIns="0" bIns="0" rtlCol="0" anchor="t"/>
          <a:lstStyle/>
          <a:p>
            <a:pPr marL="0" indent="0">
              <a:lnSpc>
                <a:spcPct val="98000"/>
              </a:lnSpc>
              <a:buNone/>
            </a:pPr>
            <a:r>
              <a:rPr lang="en-US" sz="2900" b="1" dirty="0">
                <a:solidFill>
                  <a:srgbClr val="15171C"/>
                </a:solidFill>
                <a:latin typeface="Arial" pitchFamily="34" charset="0"/>
                <a:ea typeface="Arial" pitchFamily="34" charset="-122"/>
                <a:cs typeface="Arial" pitchFamily="34" charset="-120"/>
              </a:rPr>
              <a:t>The two datasets in this module (cont.)</a:t>
            </a:r>
            <a:endParaRPr lang="en-US" sz="2900" dirty="0"/>
          </a:p>
        </p:txBody>
      </p:sp>
      <p:sp>
        <p:nvSpPr>
          <p:cNvPr id="15" name="Shape 13"/>
          <p:cNvSpPr/>
          <p:nvPr/>
        </p:nvSpPr>
        <p:spPr>
          <a:xfrm>
            <a:off x="822960" y="2050000"/>
            <a:ext cx="10546080" cy="3100000"/>
          </a:xfrm>
          <a:prstGeom prst="roundRect">
            <a:avLst>
              <a:gd name="adj" fmla="val 4516"/>
            </a:avLst>
          </a:prstGeom>
          <a:solidFill>
            <a:srgbClr val="F7F8FA"/>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16" name="Text 14"/>
          <p:cNvSpPr/>
          <p:nvPr/>
        </p:nvSpPr>
        <p:spPr>
          <a:xfrm>
            <a:off x="1115568" y="2300000"/>
            <a:ext cx="9994392" cy="320040"/>
          </a:xfrm>
          <a:prstGeom prst="rect">
            <a:avLst/>
          </a:prstGeom>
          <a:noFill/>
          <a:ln/>
        </p:spPr>
        <p:txBody>
          <a:bodyPr wrap="square" lIns="0" tIns="0" rIns="0" bIns="0" rtlCol="0" anchor="ctr"/>
          <a:lstStyle/>
          <a:p>
            <a:pPr marL="0" indent="0">
              <a:buNone/>
            </a:pPr>
            <a:r>
              <a:rPr lang="en-US" sz="2000" b="1" dirty="0">
                <a:solidFill>
                  <a:srgbClr val="15171C"/>
                </a:solidFill>
                <a:latin typeface="Arial" pitchFamily="34" charset="0"/>
                <a:ea typeface="Arial" pitchFamily="34" charset="-122"/>
                <a:cs typeface="Arial" pitchFamily="34" charset="-120"/>
              </a:rPr>
              <a:t>ppdc-ases format — first token is the AS, the rest are its cone (size = tokens − 1):</a:t>
            </a:r>
            <a:endParaRPr lang="en-US" sz="1200" dirty="0"/>
          </a:p>
        </p:txBody>
      </p:sp>
      <p:sp>
        <p:nvSpPr>
          <p:cNvPr id="17" name="Text 15"/>
          <p:cNvSpPr/>
          <p:nvPr/>
        </p:nvSpPr>
        <p:spPr>
          <a:xfrm>
            <a:off x="1115568" y="2850000"/>
            <a:ext cx="9957816" cy="822960"/>
          </a:xfrm>
          <a:prstGeom prst="rect">
            <a:avLst/>
          </a:prstGeom>
          <a:noFill/>
          <a:ln/>
        </p:spPr>
        <p:txBody>
          <a:bodyPr wrap="square" lIns="0" tIns="0" rIns="0" bIns="0" rtlCol="0" anchor="ctr"/>
          <a:lstStyle/>
          <a:p>
            <a:pPr marL="0" indent="0">
              <a:lnSpc>
                <a:spcPct val="112000"/>
              </a:lnSpc>
              <a:buNone/>
            </a:pPr>
            <a:r>
              <a:rPr lang="en-US" sz="1500" dirty="0">
                <a:solidFill>
                  <a:srgbClr val="33373F"/>
                </a:solidFill>
                <a:latin typeface="Consolas" pitchFamily="34" charset="0"/>
                <a:ea typeface="Consolas" pitchFamily="34" charset="-122"/>
                <a:cs typeface="Consolas" pitchFamily="34" charset="-120"/>
              </a:rPr>
              <a:t># 23's cone size is 3: {23, 4, 1}</a:t>
            </a:r>
            <a:endParaRPr lang="en-US" sz="1250" dirty="0"/>
          </a:p>
          <a:p>
            <a:pPr marL="0" indent="0">
              <a:lnSpc>
                <a:spcPct val="112000"/>
              </a:lnSpc>
              <a:buNone/>
            </a:pPr>
            <a:r>
              <a:rPr lang="en-US" sz="1500" dirty="0">
                <a:solidFill>
                  <a:srgbClr val="33373F"/>
                </a:solidFill>
                <a:latin typeface="Consolas" pitchFamily="34" charset="0"/>
                <a:ea typeface="Consolas" pitchFamily="34" charset="-122"/>
                <a:cs typeface="Consolas" pitchFamily="34" charset="-120"/>
              </a:rPr>
              <a:t>23 23 4 1</a:t>
            </a:r>
            <a:endParaRPr lang="en-US" sz="1250" dirty="0"/>
          </a:p>
          <a:p>
            <a:pPr marL="0" indent="0">
              <a:lnSpc>
                <a:spcPct val="112000"/>
              </a:lnSpc>
              <a:buNone/>
            </a:pPr>
            <a:r>
              <a:rPr lang="en-US" sz="1500" dirty="0">
                <a:solidFill>
                  <a:srgbClr val="33373F"/>
                </a:solidFill>
                <a:latin typeface="Consolas" pitchFamily="34" charset="0"/>
                <a:ea typeface="Consolas" pitchFamily="34" charset="-122"/>
                <a:cs typeface="Consolas" pitchFamily="34" charset="-120"/>
              </a:rPr>
              <a:t># 1's cone size is 1: just itself</a:t>
            </a:r>
            <a:endParaRPr lang="en-US" sz="1250" dirty="0"/>
          </a:p>
          <a:p>
            <a:pPr marL="0" indent="0">
              <a:lnSpc>
                <a:spcPct val="112000"/>
              </a:lnSpc>
              <a:buNone/>
            </a:pPr>
            <a:r>
              <a:rPr lang="en-US" sz="1500" dirty="0">
                <a:solidFill>
                  <a:srgbClr val="33373F"/>
                </a:solidFill>
                <a:latin typeface="Consolas" pitchFamily="34" charset="0"/>
                <a:ea typeface="Consolas" pitchFamily="34" charset="-122"/>
                <a:cs typeface="Consolas" pitchFamily="34" charset="-120"/>
              </a:rPr>
              <a:t>1 1</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8074152" y="384048"/>
            <a:ext cx="3291840" cy="274320"/>
          </a:xfrm>
          <a:prstGeom prst="rect">
            <a:avLst/>
          </a:prstGeom>
          <a:noFill/>
          <a:ln/>
        </p:spPr>
        <p:txBody>
          <a:bodyPr wrap="square" lIns="0" tIns="0" rIns="0" bIns="0" rtlCol="0" anchor="ctr"/>
          <a:lstStyle/>
          <a:p>
            <a:pPr marL="0" indent="0" algn="r">
              <a:buNone/>
            </a:pPr>
            <a:r>
              <a:rPr lang="en-US" sz="1000" b="1" kern="0" spc="120" dirty="0">
                <a:solidFill>
                  <a:srgbClr val="15171C"/>
                </a:solidFill>
                <a:latin typeface="Arial" pitchFamily="34" charset="0"/>
                <a:ea typeface="Arial" pitchFamily="34" charset="-122"/>
                <a:cs typeface="Arial" pitchFamily="34" charset="-120"/>
              </a:rPr>
              <a:t>WEEK 1</a:t>
            </a:r>
            <a:r>
              <a:rPr lang="en-US" sz="1000" kern="0" spc="120" dirty="0">
                <a:solidFill>
                  <a:srgbClr val="6B7280"/>
                </a:solidFill>
                <a:latin typeface="Arial" pitchFamily="34" charset="0"/>
                <a:ea typeface="Arial" pitchFamily="34" charset="-122"/>
                <a:cs typeface="Arial" pitchFamily="34" charset="-120"/>
              </a:rPr>
              <a:t>  ·  BUILDING BLOCK </a:t>
            </a:r>
            <a:r>
              <a:rPr lang="en-US" sz="1000" b="1" kern="0" spc="120" dirty="0">
                <a:solidFill>
                  <a:srgbClr val="2B5187"/>
                </a:solidFill>
                <a:latin typeface="Arial" pitchFamily="34" charset="0"/>
                <a:ea typeface="Arial" pitchFamily="34" charset="-122"/>
                <a:cs typeface="Arial" pitchFamily="34" charset="-120"/>
              </a:rPr>
              <a:t>1</a:t>
            </a:r>
            <a:r>
              <a:rPr lang="en-US" sz="1000" kern="0" spc="120" dirty="0">
                <a:solidFill>
                  <a:srgbClr val="6B7280"/>
                </a:solidFill>
                <a:latin typeface="Arial" pitchFamily="34" charset="0"/>
                <a:ea typeface="Arial" pitchFamily="34" charset="-122"/>
                <a:cs typeface="Arial" pitchFamily="34" charset="-120"/>
              </a:rPr>
              <a:t> / 10</a:t>
            </a:r>
            <a:endParaRPr lang="en-US" sz="1000" dirty="0"/>
          </a:p>
        </p:txBody>
      </p:sp>
      <p:sp>
        <p:nvSpPr>
          <p:cNvPr id="3" name="Text 1"/>
          <p:cNvSpPr/>
          <p:nvPr/>
        </p:nvSpPr>
        <p:spPr>
          <a:xfrm>
            <a:off x="822960" y="640080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Arial" pitchFamily="34" charset="0"/>
                <a:ea typeface="Arial" pitchFamily="34" charset="-122"/>
                <a:cs typeface="Arial" pitchFamily="34" charset="-120"/>
              </a:rPr>
              <a:t>ESCALATE Training Program · Summer 2026</a:t>
            </a:r>
            <a:endParaRPr lang="en-US" sz="900" dirty="0"/>
          </a:p>
        </p:txBody>
      </p:sp>
      <p:sp>
        <p:nvSpPr>
          <p:cNvPr id="5" name="Text 3"/>
          <p:cNvSpPr/>
          <p:nvPr/>
        </p:nvSpPr>
        <p:spPr>
          <a:xfrm>
            <a:off x="822960" y="548640"/>
            <a:ext cx="5486400" cy="274320"/>
          </a:xfrm>
          <a:prstGeom prst="rect">
            <a:avLst/>
          </a:prstGeom>
          <a:noFill/>
          <a:ln/>
        </p:spPr>
        <p:txBody>
          <a:bodyPr wrap="square" lIns="0" tIns="0" rIns="0" bIns="0" rtlCol="0" anchor="t"/>
          <a:lstStyle/>
          <a:p>
            <a:pPr marL="0" indent="0">
              <a:buNone/>
            </a:pPr>
            <a:r>
              <a:rPr lang="en-US" sz="1100" b="1" kern="0" spc="220" dirty="0">
                <a:solidFill>
                  <a:srgbClr val="2B5187"/>
                </a:solidFill>
                <a:latin typeface="Arial" pitchFamily="34" charset="0"/>
                <a:ea typeface="Arial" pitchFamily="34" charset="-122"/>
                <a:cs typeface="Arial" pitchFamily="34" charset="-120"/>
              </a:rPr>
              <a:t>BEFORE NEXT WEEK</a:t>
            </a:r>
            <a:endParaRPr lang="en-US" sz="1100" dirty="0"/>
          </a:p>
        </p:txBody>
      </p:sp>
      <p:sp>
        <p:nvSpPr>
          <p:cNvPr id="6" name="Text 4"/>
          <p:cNvSpPr/>
          <p:nvPr/>
        </p:nvSpPr>
        <p:spPr>
          <a:xfrm>
            <a:off x="822960" y="868680"/>
            <a:ext cx="9144000" cy="1188720"/>
          </a:xfrm>
          <a:prstGeom prst="rect">
            <a:avLst/>
          </a:prstGeom>
          <a:noFill/>
          <a:ln/>
        </p:spPr>
        <p:txBody>
          <a:bodyPr wrap="square" lIns="0" tIns="0" rIns="0" bIns="0" rtlCol="0" anchor="t"/>
          <a:lstStyle/>
          <a:p>
            <a:pPr marL="0" indent="0">
              <a:lnSpc>
                <a:spcPct val="98000"/>
              </a:lnSpc>
              <a:buNone/>
            </a:pPr>
            <a:r>
              <a:rPr lang="en-US" sz="3000" b="1" dirty="0">
                <a:solidFill>
                  <a:srgbClr val="15171C"/>
                </a:solidFill>
                <a:latin typeface="Arial" pitchFamily="34" charset="0"/>
                <a:ea typeface="Arial" pitchFamily="34" charset="-122"/>
                <a:cs typeface="Arial" pitchFamily="34" charset="-120"/>
              </a:rPr>
              <a:t>This week, in five steps</a:t>
            </a:r>
            <a:endParaRPr lang="en-US" sz="3000" dirty="0"/>
          </a:p>
        </p:txBody>
      </p:sp>
      <p:sp>
        <p:nvSpPr>
          <p:cNvPr id="7" name="Shape 5"/>
          <p:cNvSpPr/>
          <p:nvPr/>
        </p:nvSpPr>
        <p:spPr>
          <a:xfrm>
            <a:off x="822960" y="1918580"/>
            <a:ext cx="91440" cy="91440"/>
          </a:xfrm>
          <a:prstGeom prst="ellipse">
            <a:avLst/>
          </a:prstGeom>
          <a:solidFill>
            <a:srgbClr val="2B5187"/>
          </a:solidFill>
          <a:ln/>
        </p:spPr>
        <p:txBody>
          <a:bodyPr/>
          <a:lstStyle/>
          <a:p>
            <a:endParaRPr lang="en-US"/>
          </a:p>
        </p:txBody>
      </p:sp>
      <p:sp>
        <p:nvSpPr>
          <p:cNvPr id="8" name="Text 6"/>
          <p:cNvSpPr/>
          <p:nvPr/>
        </p:nvSpPr>
        <p:spPr>
          <a:xfrm>
            <a:off x="1133856" y="1850000"/>
            <a:ext cx="6200000" cy="820000"/>
          </a:xfrm>
          <a:prstGeom prst="rect">
            <a:avLst/>
          </a:prstGeom>
          <a:noFill/>
          <a:ln/>
        </p:spPr>
        <p:txBody>
          <a:bodyPr wrap="square" lIns="0" tIns="0" rIns="0" bIns="0" rtlCol="0" anchor="t"/>
          <a:lstStyle/>
          <a:p>
            <a:pPr marL="0" indent="0">
              <a:lnSpc>
                <a:spcPct val="103000"/>
              </a:lnSpc>
              <a:buNone/>
            </a:pPr>
            <a:r>
              <a:rPr lang="en-US" sz="2000" b="1" dirty="0">
                <a:solidFill>
                  <a:srgbClr val="15171C"/>
                </a:solidFill>
                <a:latin typeface="Arial" pitchFamily="34" charset="0"/>
                <a:ea typeface="Arial" pitchFamily="34" charset="-122"/>
                <a:cs typeface="Arial" pitchFamily="34" charset="-120"/>
              </a:rPr>
              <a:t>Complete the NRP setup </a:t>
            </a:r>
            <a:r>
              <a:rPr lang="en-US" sz="2000" dirty="0">
                <a:solidFill>
                  <a:srgbClr val="33373F"/>
                </a:solidFill>
                <a:latin typeface="Arial" pitchFamily="34" charset="0"/>
                <a:ea typeface="Arial" pitchFamily="34" charset="-122"/>
                <a:cs typeface="Arial" pitchFamily="34" charset="-120"/>
              </a:rPr>
              <a:t>before the next plenary.</a:t>
            </a:r>
            <a:endParaRPr lang="en-US" sz="1400" dirty="0"/>
          </a:p>
        </p:txBody>
      </p:sp>
      <p:sp>
        <p:nvSpPr>
          <p:cNvPr id="9" name="Shape 7"/>
          <p:cNvSpPr/>
          <p:nvPr/>
        </p:nvSpPr>
        <p:spPr>
          <a:xfrm>
            <a:off x="822960" y="2818580"/>
            <a:ext cx="91440" cy="91440"/>
          </a:xfrm>
          <a:prstGeom prst="ellipse">
            <a:avLst/>
          </a:prstGeom>
          <a:solidFill>
            <a:srgbClr val="2B5187"/>
          </a:solidFill>
          <a:ln/>
        </p:spPr>
        <p:txBody>
          <a:bodyPr/>
          <a:lstStyle/>
          <a:p>
            <a:endParaRPr lang="en-US"/>
          </a:p>
        </p:txBody>
      </p:sp>
      <p:sp>
        <p:nvSpPr>
          <p:cNvPr id="10" name="Text 8"/>
          <p:cNvSpPr/>
          <p:nvPr/>
        </p:nvSpPr>
        <p:spPr>
          <a:xfrm>
            <a:off x="1133856" y="2750000"/>
            <a:ext cx="6200000" cy="820000"/>
          </a:xfrm>
          <a:prstGeom prst="rect">
            <a:avLst/>
          </a:prstGeom>
          <a:noFill/>
          <a:ln/>
        </p:spPr>
        <p:txBody>
          <a:bodyPr wrap="square" lIns="0" tIns="0" rIns="0" bIns="0" rtlCol="0" anchor="t"/>
          <a:lstStyle/>
          <a:p>
            <a:pPr marL="0" indent="0">
              <a:lnSpc>
                <a:spcPct val="103000"/>
              </a:lnSpc>
              <a:buNone/>
            </a:pPr>
            <a:r>
              <a:rPr lang="en-US" sz="2000" b="1" dirty="0">
                <a:solidFill>
                  <a:srgbClr val="15171C"/>
                </a:solidFill>
                <a:latin typeface="Arial" pitchFamily="34" charset="0"/>
                <a:ea typeface="Arial" pitchFamily="34" charset="-122"/>
                <a:cs typeface="Arial" pitchFamily="34" charset="-120"/>
              </a:rPr>
              <a:t>Sign in on </a:t>
            </a:r>
            <a:r>
              <a:rPr lang="en-US" sz="2000" b="1" dirty="0" err="1">
                <a:solidFill>
                  <a:srgbClr val="15171C"/>
                </a:solidFill>
                <a:latin typeface="Arial" pitchFamily="34" charset="0"/>
                <a:ea typeface="Arial" pitchFamily="34" charset="-122"/>
                <a:cs typeface="Arial" pitchFamily="34" charset="-120"/>
              </a:rPr>
              <a:t>Github</a:t>
            </a:r>
            <a:r>
              <a:rPr lang="en-US" sz="2000" b="1" dirty="0">
                <a:solidFill>
                  <a:srgbClr val="15171C"/>
                </a:solidFill>
                <a:latin typeface="Arial" pitchFamily="34" charset="0"/>
                <a:ea typeface="Arial" pitchFamily="34" charset="-122"/>
                <a:cs typeface="Arial" pitchFamily="34" charset="-120"/>
              </a:rPr>
              <a:t> </a:t>
            </a:r>
            <a:r>
              <a:rPr lang="en-US" sz="2000" dirty="0">
                <a:solidFill>
                  <a:srgbClr val="33373F"/>
                </a:solidFill>
                <a:latin typeface="Arial" pitchFamily="34" charset="0"/>
                <a:ea typeface="Arial" pitchFamily="34" charset="-122"/>
                <a:cs typeface="Arial" pitchFamily="34" charset="-120"/>
              </a:rPr>
              <a:t>and get added to the ETP </a:t>
            </a:r>
            <a:r>
              <a:rPr lang="en-US" sz="2000" dirty="0" err="1">
                <a:solidFill>
                  <a:srgbClr val="33373F"/>
                </a:solidFill>
                <a:latin typeface="Arial" pitchFamily="34" charset="0"/>
                <a:ea typeface="Arial" pitchFamily="34" charset="-122"/>
                <a:cs typeface="Arial" pitchFamily="34" charset="-120"/>
              </a:rPr>
              <a:t>Github</a:t>
            </a:r>
            <a:r>
              <a:rPr lang="en-US" sz="2000" dirty="0">
                <a:solidFill>
                  <a:srgbClr val="33373F"/>
                </a:solidFill>
                <a:latin typeface="Arial" pitchFamily="34" charset="0"/>
                <a:ea typeface="Arial" pitchFamily="34" charset="-122"/>
                <a:cs typeface="Arial" pitchFamily="34" charset="-120"/>
              </a:rPr>
              <a:t> team.</a:t>
            </a:r>
            <a:endParaRPr lang="en-US" sz="1400" dirty="0"/>
          </a:p>
        </p:txBody>
      </p:sp>
      <p:sp>
        <p:nvSpPr>
          <p:cNvPr id="11" name="Shape 9"/>
          <p:cNvSpPr/>
          <p:nvPr/>
        </p:nvSpPr>
        <p:spPr>
          <a:xfrm>
            <a:off x="822960" y="3718580"/>
            <a:ext cx="91440" cy="91440"/>
          </a:xfrm>
          <a:prstGeom prst="ellipse">
            <a:avLst/>
          </a:prstGeom>
          <a:solidFill>
            <a:srgbClr val="2B5187"/>
          </a:solidFill>
          <a:ln/>
        </p:spPr>
        <p:txBody>
          <a:bodyPr/>
          <a:lstStyle/>
          <a:p>
            <a:endParaRPr lang="en-US"/>
          </a:p>
        </p:txBody>
      </p:sp>
      <p:sp>
        <p:nvSpPr>
          <p:cNvPr id="12" name="Text 10"/>
          <p:cNvSpPr/>
          <p:nvPr/>
        </p:nvSpPr>
        <p:spPr>
          <a:xfrm>
            <a:off x="1133856" y="3650000"/>
            <a:ext cx="6200000" cy="820000"/>
          </a:xfrm>
          <a:prstGeom prst="rect">
            <a:avLst/>
          </a:prstGeom>
          <a:noFill/>
          <a:ln/>
        </p:spPr>
        <p:txBody>
          <a:bodyPr wrap="square" lIns="0" tIns="0" rIns="0" bIns="0" rtlCol="0" anchor="t"/>
          <a:lstStyle/>
          <a:p>
            <a:pPr marL="0" indent="0">
              <a:lnSpc>
                <a:spcPct val="103000"/>
              </a:lnSpc>
              <a:buNone/>
            </a:pPr>
            <a:r>
              <a:rPr lang="en-US" sz="2000" b="1" dirty="0">
                <a:solidFill>
                  <a:srgbClr val="15171C"/>
                </a:solidFill>
                <a:latin typeface="Arial" pitchFamily="34" charset="0"/>
                <a:ea typeface="Arial" pitchFamily="34" charset="-122"/>
                <a:cs typeface="Arial" pitchFamily="34" charset="-120"/>
              </a:rPr>
              <a:t>Attend the plenary </a:t>
            </a:r>
            <a:r>
              <a:rPr lang="en-US" sz="2000" dirty="0">
                <a:solidFill>
                  <a:srgbClr val="33373F"/>
                </a:solidFill>
                <a:latin typeface="Arial" pitchFamily="34" charset="0"/>
                <a:ea typeface="Arial" pitchFamily="34" charset="-122"/>
                <a:cs typeface="Arial" pitchFamily="34" charset="-120"/>
              </a:rPr>
              <a:t>Tue Jun 16, 12:00 PT — or catch up: it's not recorded, but materials are posted.</a:t>
            </a:r>
            <a:endParaRPr lang="en-US" sz="1400" dirty="0"/>
          </a:p>
        </p:txBody>
      </p:sp>
      <p:sp>
        <p:nvSpPr>
          <p:cNvPr id="13" name="Shape 11"/>
          <p:cNvSpPr/>
          <p:nvPr/>
        </p:nvSpPr>
        <p:spPr>
          <a:xfrm>
            <a:off x="822960" y="4618580"/>
            <a:ext cx="91440" cy="91440"/>
          </a:xfrm>
          <a:prstGeom prst="ellipse">
            <a:avLst/>
          </a:prstGeom>
          <a:solidFill>
            <a:srgbClr val="2B5187"/>
          </a:solidFill>
          <a:ln/>
        </p:spPr>
        <p:txBody>
          <a:bodyPr/>
          <a:lstStyle/>
          <a:p>
            <a:endParaRPr lang="en-US"/>
          </a:p>
        </p:txBody>
      </p:sp>
      <p:sp>
        <p:nvSpPr>
          <p:cNvPr id="14" name="Text 12"/>
          <p:cNvSpPr/>
          <p:nvPr/>
        </p:nvSpPr>
        <p:spPr>
          <a:xfrm>
            <a:off x="1133856" y="4550000"/>
            <a:ext cx="6200000" cy="820000"/>
          </a:xfrm>
          <a:prstGeom prst="rect">
            <a:avLst/>
          </a:prstGeom>
          <a:noFill/>
          <a:ln/>
        </p:spPr>
        <p:txBody>
          <a:bodyPr wrap="square" lIns="0" tIns="0" rIns="0" bIns="0" rtlCol="0" anchor="t"/>
          <a:lstStyle/>
          <a:p>
            <a:pPr marL="0" indent="0">
              <a:lnSpc>
                <a:spcPct val="103000"/>
              </a:lnSpc>
              <a:buNone/>
            </a:pPr>
            <a:r>
              <a:rPr lang="en-US" sz="2000" b="1" dirty="0">
                <a:solidFill>
                  <a:srgbClr val="15171C"/>
                </a:solidFill>
                <a:latin typeface="Arial" pitchFamily="34" charset="0"/>
                <a:ea typeface="Arial" pitchFamily="34" charset="-122"/>
                <a:cs typeface="Arial" pitchFamily="34" charset="-120"/>
              </a:rPr>
              <a:t>Use the hands-on hour </a:t>
            </a:r>
            <a:r>
              <a:rPr lang="en-US" sz="2000" dirty="0">
                <a:solidFill>
                  <a:srgbClr val="33373F"/>
                </a:solidFill>
                <a:latin typeface="Arial" pitchFamily="34" charset="0"/>
                <a:ea typeface="Arial" pitchFamily="34" charset="-122"/>
                <a:cs typeface="Arial" pitchFamily="34" charset="-120"/>
              </a:rPr>
              <a:t>and mentors for help with the infrastructure.</a:t>
            </a:r>
            <a:endParaRPr lang="en-US" sz="1400" dirty="0"/>
          </a:p>
        </p:txBody>
      </p:sp>
      <p:sp>
        <p:nvSpPr>
          <p:cNvPr id="15" name="Shape 13"/>
          <p:cNvSpPr/>
          <p:nvPr/>
        </p:nvSpPr>
        <p:spPr>
          <a:xfrm>
            <a:off x="822960" y="5518580"/>
            <a:ext cx="91440" cy="91440"/>
          </a:xfrm>
          <a:prstGeom prst="ellipse">
            <a:avLst/>
          </a:prstGeom>
          <a:solidFill>
            <a:srgbClr val="2B5187"/>
          </a:solidFill>
          <a:ln/>
        </p:spPr>
        <p:txBody>
          <a:bodyPr/>
          <a:lstStyle/>
          <a:p>
            <a:endParaRPr lang="en-US"/>
          </a:p>
        </p:txBody>
      </p:sp>
      <p:sp>
        <p:nvSpPr>
          <p:cNvPr id="16" name="Text 14"/>
          <p:cNvSpPr/>
          <p:nvPr/>
        </p:nvSpPr>
        <p:spPr>
          <a:xfrm>
            <a:off x="1133856" y="5450000"/>
            <a:ext cx="6200000" cy="820000"/>
          </a:xfrm>
          <a:prstGeom prst="rect">
            <a:avLst/>
          </a:prstGeom>
          <a:noFill/>
          <a:ln/>
        </p:spPr>
        <p:txBody>
          <a:bodyPr wrap="square" lIns="0" tIns="0" rIns="0" bIns="0" rtlCol="0" anchor="t"/>
          <a:lstStyle/>
          <a:p>
            <a:pPr marL="0" indent="0">
              <a:lnSpc>
                <a:spcPct val="103000"/>
              </a:lnSpc>
              <a:buNone/>
            </a:pPr>
            <a:r>
              <a:rPr lang="en-US" sz="2000" b="1" dirty="0">
                <a:solidFill>
                  <a:srgbClr val="15171C"/>
                </a:solidFill>
                <a:latin typeface="Arial" pitchFamily="34" charset="0"/>
                <a:ea typeface="Arial" pitchFamily="34" charset="-122"/>
                <a:cs typeface="Arial" pitchFamily="34" charset="-120"/>
              </a:rPr>
              <a:t>Finish Assignment 1 </a:t>
            </a:r>
            <a:r>
              <a:rPr lang="en-US" sz="2000" dirty="0">
                <a:solidFill>
                  <a:srgbClr val="33373F"/>
                </a:solidFill>
                <a:latin typeface="Arial" pitchFamily="34" charset="0"/>
                <a:ea typeface="Arial" pitchFamily="34" charset="-122"/>
                <a:cs typeface="Arial" pitchFamily="34" charset="-120"/>
              </a:rPr>
              <a:t>(nids-asn-introduction) by end of week.</a:t>
            </a:r>
            <a:endParaRPr lang="en-US" sz="1400" dirty="0"/>
          </a:p>
        </p:txBody>
      </p:sp>
      <p:sp>
        <p:nvSpPr>
          <p:cNvPr id="17" name="Shape 15"/>
          <p:cNvSpPr/>
          <p:nvPr/>
        </p:nvSpPr>
        <p:spPr>
          <a:xfrm>
            <a:off x="7635240" y="1874520"/>
            <a:ext cx="3730752" cy="2331720"/>
          </a:xfrm>
          <a:prstGeom prst="roundRect">
            <a:avLst>
              <a:gd name="adj" fmla="val 2745"/>
            </a:avLst>
          </a:prstGeom>
          <a:solidFill>
            <a:srgbClr val="F7F8FA"/>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18" name="Text 16"/>
          <p:cNvSpPr/>
          <p:nvPr/>
        </p:nvSpPr>
        <p:spPr>
          <a:xfrm>
            <a:off x="7927848" y="2103120"/>
            <a:ext cx="3182112" cy="274320"/>
          </a:xfrm>
          <a:prstGeom prst="rect">
            <a:avLst/>
          </a:prstGeom>
          <a:noFill/>
          <a:ln/>
        </p:spPr>
        <p:txBody>
          <a:bodyPr wrap="square" lIns="0" tIns="0" rIns="0" bIns="0" rtlCol="0" anchor="ctr"/>
          <a:lstStyle/>
          <a:p>
            <a:pPr marL="0" indent="0">
              <a:buNone/>
            </a:pPr>
            <a:r>
              <a:rPr lang="en-US" sz="1050" b="1" kern="0" spc="140" dirty="0">
                <a:solidFill>
                  <a:srgbClr val="2B5187"/>
                </a:solidFill>
                <a:latin typeface="Arial" pitchFamily="34" charset="0"/>
                <a:ea typeface="Arial" pitchFamily="34" charset="-122"/>
                <a:cs typeface="Arial" pitchFamily="34" charset="-120"/>
              </a:rPr>
              <a:t>OPTIONAL BACKGROUND</a:t>
            </a:r>
            <a:endParaRPr lang="en-US" sz="1050" dirty="0"/>
          </a:p>
        </p:txBody>
      </p:sp>
      <p:sp>
        <p:nvSpPr>
          <p:cNvPr id="19" name="Text 17"/>
          <p:cNvSpPr/>
          <p:nvPr/>
        </p:nvSpPr>
        <p:spPr>
          <a:xfrm>
            <a:off x="7927848" y="2423160"/>
            <a:ext cx="3145536" cy="1645920"/>
          </a:xfrm>
          <a:prstGeom prst="rect">
            <a:avLst/>
          </a:prstGeom>
          <a:noFill/>
          <a:ln/>
        </p:spPr>
        <p:txBody>
          <a:bodyPr wrap="square" lIns="0" tIns="0" rIns="0" bIns="0" rtlCol="0" anchor="ctr"/>
          <a:lstStyle/>
          <a:p>
            <a:pPr marL="0" indent="0">
              <a:lnSpc>
                <a:spcPct val="112000"/>
              </a:lnSpc>
              <a:buNone/>
            </a:pPr>
            <a:r>
              <a:rPr lang="en-US" sz="1400" dirty="0">
                <a:solidFill>
                  <a:srgbClr val="33373F"/>
                </a:solidFill>
                <a:latin typeface="Arial" pitchFamily="34" charset="0"/>
                <a:ea typeface="Arial" pitchFamily="34" charset="-122"/>
                <a:cs typeface="Arial" pitchFamily="34" charset="-120"/>
              </a:rPr>
              <a:t>Fontugne et al., </a:t>
            </a:r>
            <a:r>
              <a:rPr lang="en-US" sz="1400" i="1" dirty="0">
                <a:solidFill>
                  <a:srgbClr val="15171C"/>
                </a:solidFill>
                <a:latin typeface="Arial" pitchFamily="34" charset="0"/>
                <a:ea typeface="Arial" pitchFamily="34" charset="-122"/>
                <a:cs typeface="Arial" pitchFamily="34" charset="-120"/>
              </a:rPr>
              <a:t>“The (Thin) Bridges of AS Connectivity” </a:t>
            </a:r>
            <a:r>
              <a:rPr lang="en-US" sz="1400" dirty="0">
                <a:solidFill>
                  <a:srgbClr val="33373F"/>
                </a:solidFill>
                <a:latin typeface="Arial" pitchFamily="34" charset="0"/>
                <a:ea typeface="Arial" pitchFamily="34" charset="-122"/>
                <a:cs typeface="Arial" pitchFamily="34" charset="-120"/>
              </a:rPr>
              <a:t>(PAM 2018) — the AS-hegemony idea behind the dependency lens. Context, not a graded summary; it returns in Week 9.</a:t>
            </a:r>
            <a:endParaRPr lang="en-US" sz="1250" dirty="0"/>
          </a:p>
        </p:txBody>
      </p:sp>
      <p:sp>
        <p:nvSpPr>
          <p:cNvPr id="20" name="Shape 18"/>
          <p:cNvSpPr/>
          <p:nvPr/>
        </p:nvSpPr>
        <p:spPr>
          <a:xfrm>
            <a:off x="7635240" y="4389120"/>
            <a:ext cx="3730752" cy="914400"/>
          </a:xfrm>
          <a:prstGeom prst="roundRect">
            <a:avLst>
              <a:gd name="adj" fmla="val 7000"/>
            </a:avLst>
          </a:prstGeom>
          <a:solidFill>
            <a:srgbClr val="FFFFFF"/>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21" name="Text 19"/>
          <p:cNvSpPr/>
          <p:nvPr/>
        </p:nvSpPr>
        <p:spPr>
          <a:xfrm>
            <a:off x="7927848" y="4617720"/>
            <a:ext cx="3145536" cy="548640"/>
          </a:xfrm>
          <a:prstGeom prst="rect">
            <a:avLst/>
          </a:prstGeom>
          <a:noFill/>
          <a:ln/>
        </p:spPr>
        <p:txBody>
          <a:bodyPr wrap="square" lIns="0" tIns="0" rIns="0" bIns="0" rtlCol="0" anchor="ctr"/>
          <a:lstStyle/>
          <a:p>
            <a:pPr marL="0" indent="0">
              <a:lnSpc>
                <a:spcPct val="110000"/>
              </a:lnSpc>
              <a:buNone/>
            </a:pPr>
            <a:r>
              <a:rPr lang="en-US" sz="1500" b="1" dirty="0">
                <a:solidFill>
                  <a:srgbClr val="15171C"/>
                </a:solidFill>
                <a:latin typeface="Arial" pitchFamily="34" charset="0"/>
                <a:ea typeface="Arial" pitchFamily="34" charset="-122"/>
                <a:cs typeface="Arial" pitchFamily="34" charset="-120"/>
              </a:rPr>
              <a:t>Questions  </a:t>
            </a:r>
            <a:r>
              <a:rPr lang="en-US" sz="1500" dirty="0">
                <a:solidFill>
                  <a:srgbClr val="33373F"/>
                </a:solidFill>
                <a:latin typeface="Arial" pitchFamily="34" charset="0"/>
                <a:ea typeface="Arial" pitchFamily="34" charset="-122"/>
                <a:cs typeface="Arial" pitchFamily="34" charset="-120"/>
              </a:rPr>
              <a:t>Mattermost (fastest) · </a:t>
            </a:r>
            <a:r>
              <a:rPr lang="en-US" sz="1500" dirty="0">
                <a:solidFill>
                  <a:srgbClr val="2B5187"/>
                </a:solidFill>
                <a:latin typeface="Arial" pitchFamily="34" charset="0"/>
                <a:ea typeface="Arial" pitchFamily="34" charset="-122"/>
                <a:cs typeface="Arial" pitchFamily="34" charset="-120"/>
              </a:rPr>
              <a:t>training-program-info@caida.org</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822960" y="1828800"/>
            <a:ext cx="5486400" cy="274320"/>
          </a:xfrm>
          <a:prstGeom prst="rect">
            <a:avLst/>
          </a:prstGeom>
          <a:noFill/>
          <a:ln/>
        </p:spPr>
        <p:txBody>
          <a:bodyPr wrap="square" lIns="0" tIns="0" rIns="0" bIns="0" rtlCol="0" anchor="t"/>
          <a:lstStyle/>
          <a:p>
            <a:pPr marL="0" indent="0">
              <a:buNone/>
            </a:pPr>
            <a:r>
              <a:rPr lang="en-US" sz="1100" b="1" kern="0" spc="220" dirty="0">
                <a:solidFill>
                  <a:srgbClr val="2B5187"/>
                </a:solidFill>
                <a:latin typeface="Arial" pitchFamily="34" charset="0"/>
                <a:ea typeface="Arial" pitchFamily="34" charset="-122"/>
                <a:cs typeface="Arial" pitchFamily="34" charset="-120"/>
              </a:rPr>
              <a:t>APPENDIX · FOR SELF-STUDY</a:t>
            </a:r>
            <a:endParaRPr lang="en-US" sz="1100" dirty="0"/>
          </a:p>
        </p:txBody>
      </p:sp>
      <p:sp>
        <p:nvSpPr>
          <p:cNvPr id="3" name="Text 1"/>
          <p:cNvSpPr/>
          <p:nvPr/>
        </p:nvSpPr>
        <p:spPr>
          <a:xfrm>
            <a:off x="777240" y="2148840"/>
            <a:ext cx="2743200" cy="1554480"/>
          </a:xfrm>
          <a:prstGeom prst="rect">
            <a:avLst/>
          </a:prstGeom>
          <a:noFill/>
          <a:ln/>
        </p:spPr>
        <p:txBody>
          <a:bodyPr wrap="square" lIns="0" tIns="0" rIns="0" bIns="0" rtlCol="0" anchor="ctr"/>
          <a:lstStyle/>
          <a:p>
            <a:pPr marL="0" indent="0">
              <a:buNone/>
            </a:pPr>
            <a:r>
              <a:rPr lang="en-US" sz="9600" b="1" dirty="0">
                <a:solidFill>
                  <a:srgbClr val="2B5187"/>
                </a:solidFill>
                <a:latin typeface="Arial" pitchFamily="34" charset="0"/>
                <a:ea typeface="Arial" pitchFamily="34" charset="-122"/>
                <a:cs typeface="Arial" pitchFamily="34" charset="-120"/>
              </a:rPr>
              <a:t>A</a:t>
            </a:r>
            <a:endParaRPr lang="en-US" sz="9600" dirty="0"/>
          </a:p>
        </p:txBody>
      </p:sp>
      <p:sp>
        <p:nvSpPr>
          <p:cNvPr id="4" name="Text 2"/>
          <p:cNvSpPr/>
          <p:nvPr/>
        </p:nvSpPr>
        <p:spPr>
          <a:xfrm>
            <a:off x="822960" y="3886200"/>
            <a:ext cx="7498080" cy="1188720"/>
          </a:xfrm>
          <a:prstGeom prst="rect">
            <a:avLst/>
          </a:prstGeom>
          <a:noFill/>
          <a:ln/>
        </p:spPr>
        <p:txBody>
          <a:bodyPr wrap="square" lIns="0" tIns="0" rIns="0" bIns="0" rtlCol="0" anchor="t"/>
          <a:lstStyle/>
          <a:p>
            <a:pPr marL="0" indent="0">
              <a:lnSpc>
                <a:spcPct val="98000"/>
              </a:lnSpc>
              <a:buNone/>
            </a:pPr>
            <a:r>
              <a:rPr lang="en-US" sz="3000" b="1" dirty="0">
                <a:solidFill>
                  <a:srgbClr val="15171C"/>
                </a:solidFill>
                <a:latin typeface="Arial" pitchFamily="34" charset="0"/>
                <a:ea typeface="Arial" pitchFamily="34" charset="-122"/>
                <a:cs typeface="Arial" pitchFamily="34" charset="-120"/>
              </a:rPr>
              <a:t>How the plumbing works,</a:t>
            </a:r>
            <a:endParaRPr lang="en-US" sz="3000" dirty="0"/>
          </a:p>
          <a:p>
            <a:pPr marL="0" indent="0">
              <a:lnSpc>
                <a:spcPct val="98000"/>
              </a:lnSpc>
              <a:buNone/>
            </a:pPr>
            <a:r>
              <a:rPr lang="en-US" sz="3000" b="1" dirty="0">
                <a:solidFill>
                  <a:srgbClr val="15171C"/>
                </a:solidFill>
                <a:latin typeface="Arial" pitchFamily="34" charset="0"/>
                <a:ea typeface="Arial" pitchFamily="34" charset="-122"/>
                <a:cs typeface="Arial" pitchFamily="34" charset="-120"/>
              </a:rPr>
              <a:t>a bird's-eye view</a:t>
            </a:r>
            <a:endParaRPr lang="en-US" sz="3000" dirty="0"/>
          </a:p>
        </p:txBody>
      </p:sp>
      <p:sp>
        <p:nvSpPr>
          <p:cNvPr id="5" name="Text 3"/>
          <p:cNvSpPr/>
          <p:nvPr/>
        </p:nvSpPr>
        <p:spPr>
          <a:xfrm>
            <a:off x="822960" y="5074920"/>
            <a:ext cx="9601200" cy="457200"/>
          </a:xfrm>
          <a:prstGeom prst="rect">
            <a:avLst/>
          </a:prstGeom>
          <a:noFill/>
          <a:ln/>
        </p:spPr>
        <p:txBody>
          <a:bodyPr wrap="square" lIns="0" tIns="0" rIns="0" bIns="0" rtlCol="0" anchor="ctr"/>
          <a:lstStyle/>
          <a:p>
            <a:pPr marL="0" indent="0">
              <a:buNone/>
            </a:pPr>
            <a:r>
              <a:rPr lang="en-US" sz="1350" i="1" dirty="0">
                <a:solidFill>
                  <a:srgbClr val="6B7280"/>
                </a:solidFill>
                <a:latin typeface="Arial" pitchFamily="34" charset="0"/>
                <a:ea typeface="Arial" pitchFamily="34" charset="-122"/>
                <a:cs typeface="Arial" pitchFamily="34" charset="-120"/>
              </a:rPr>
              <a:t>addressing · routing · naming · authentication — four quick slides, not covered live; here so the deck stands on its own</a:t>
            </a:r>
            <a:endParaRPr lang="en-US" sz="13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822960" y="640080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Arial" pitchFamily="34" charset="0"/>
                <a:ea typeface="Arial" pitchFamily="34" charset="-122"/>
                <a:cs typeface="Arial" pitchFamily="34" charset="-120"/>
              </a:rPr>
              <a:t>ESCALATE Training Program · Summer 2026</a:t>
            </a:r>
            <a:endParaRPr lang="en-US" sz="900" dirty="0"/>
          </a:p>
        </p:txBody>
      </p:sp>
      <p:sp>
        <p:nvSpPr>
          <p:cNvPr id="4" name="Text 2"/>
          <p:cNvSpPr/>
          <p:nvPr/>
        </p:nvSpPr>
        <p:spPr>
          <a:xfrm>
            <a:off x="822960" y="548640"/>
            <a:ext cx="5486400" cy="274320"/>
          </a:xfrm>
          <a:prstGeom prst="rect">
            <a:avLst/>
          </a:prstGeom>
          <a:noFill/>
          <a:ln/>
        </p:spPr>
        <p:txBody>
          <a:bodyPr wrap="square" lIns="0" tIns="0" rIns="0" bIns="0" rtlCol="0" anchor="t"/>
          <a:lstStyle/>
          <a:p>
            <a:pPr marL="0" indent="0">
              <a:buNone/>
            </a:pPr>
            <a:r>
              <a:rPr lang="en-US" sz="1100" b="1" kern="0" spc="220" dirty="0">
                <a:solidFill>
                  <a:srgbClr val="6B7280"/>
                </a:solidFill>
                <a:latin typeface="Arial" pitchFamily="34" charset="0"/>
                <a:ea typeface="Arial" pitchFamily="34" charset="-122"/>
                <a:cs typeface="Arial" pitchFamily="34" charset="-120"/>
              </a:rPr>
              <a:t>APPENDIX · ADDRESSING</a:t>
            </a:r>
            <a:endParaRPr lang="en-US" sz="1100" dirty="0"/>
          </a:p>
        </p:txBody>
      </p:sp>
      <p:sp>
        <p:nvSpPr>
          <p:cNvPr id="5" name="Text 3"/>
          <p:cNvSpPr/>
          <p:nvPr/>
        </p:nvSpPr>
        <p:spPr>
          <a:xfrm>
            <a:off x="822960" y="868680"/>
            <a:ext cx="10607040" cy="1188720"/>
          </a:xfrm>
          <a:prstGeom prst="rect">
            <a:avLst/>
          </a:prstGeom>
          <a:noFill/>
          <a:ln/>
        </p:spPr>
        <p:txBody>
          <a:bodyPr wrap="square" lIns="0" tIns="0" rIns="0" bIns="0" rtlCol="0" anchor="t"/>
          <a:lstStyle/>
          <a:p>
            <a:pPr marL="0" indent="0">
              <a:lnSpc>
                <a:spcPct val="98000"/>
              </a:lnSpc>
              <a:buNone/>
            </a:pPr>
            <a:r>
              <a:rPr lang="en-US" sz="2800" b="1" dirty="0">
                <a:solidFill>
                  <a:srgbClr val="15171C"/>
                </a:solidFill>
                <a:latin typeface="Arial" pitchFamily="34" charset="0"/>
                <a:ea typeface="Arial" pitchFamily="34" charset="-122"/>
                <a:cs typeface="Arial" pitchFamily="34" charset="-120"/>
              </a:rPr>
              <a:t>Addressing, a bird's-eye view</a:t>
            </a:r>
            <a:endParaRPr lang="en-US" sz="2800" dirty="0"/>
          </a:p>
        </p:txBody>
      </p:sp>
      <p:sp>
        <p:nvSpPr>
          <p:cNvPr id="6" name="Shape 4"/>
          <p:cNvSpPr/>
          <p:nvPr/>
        </p:nvSpPr>
        <p:spPr>
          <a:xfrm>
            <a:off x="822960" y="2118580"/>
            <a:ext cx="91440" cy="91440"/>
          </a:xfrm>
          <a:prstGeom prst="ellipse">
            <a:avLst/>
          </a:prstGeom>
          <a:solidFill>
            <a:srgbClr val="2B5187"/>
          </a:solidFill>
          <a:ln/>
        </p:spPr>
        <p:txBody>
          <a:bodyPr/>
          <a:lstStyle/>
          <a:p>
            <a:endParaRPr lang="en-US"/>
          </a:p>
        </p:txBody>
      </p:sp>
      <p:sp>
        <p:nvSpPr>
          <p:cNvPr id="7" name="Text 5"/>
          <p:cNvSpPr/>
          <p:nvPr/>
        </p:nvSpPr>
        <p:spPr>
          <a:xfrm>
            <a:off x="1133856" y="2050000"/>
            <a:ext cx="10150000" cy="1040000"/>
          </a:xfrm>
          <a:prstGeom prst="rect">
            <a:avLst/>
          </a:prstGeom>
          <a:noFill/>
          <a:ln/>
        </p:spPr>
        <p:txBody>
          <a:bodyPr wrap="square" lIns="0" tIns="0" rIns="0" bIns="0" rtlCol="0" anchor="t"/>
          <a:lstStyle/>
          <a:p>
            <a:pPr marL="0" indent="0">
              <a:lnSpc>
                <a:spcPct val="103000"/>
              </a:lnSpc>
              <a:buNone/>
            </a:pPr>
            <a:r>
              <a:rPr lang="en-US" sz="2000" dirty="0">
                <a:solidFill>
                  <a:srgbClr val="33373F"/>
                </a:solidFill>
                <a:latin typeface="Arial" pitchFamily="34" charset="0"/>
                <a:ea typeface="Arial" pitchFamily="34" charset="-122"/>
                <a:cs typeface="Arial" pitchFamily="34" charset="-120"/>
              </a:rPr>
              <a:t>An IP address </a:t>
            </a:r>
            <a:r>
              <a:rPr lang="en-US" sz="2000" b="1" dirty="0">
                <a:solidFill>
                  <a:srgbClr val="15171C"/>
                </a:solidFill>
                <a:latin typeface="Arial" pitchFamily="34" charset="0"/>
                <a:ea typeface="Arial" pitchFamily="34" charset="-122"/>
                <a:cs typeface="Arial" pitchFamily="34" charset="-120"/>
              </a:rPr>
              <a:t>identifies and locates a network interface</a:t>
            </a:r>
            <a:r>
              <a:rPr lang="en-US" sz="2000" dirty="0">
                <a:solidFill>
                  <a:srgbClr val="33373F"/>
                </a:solidFill>
                <a:latin typeface="Arial" pitchFamily="34" charset="0"/>
                <a:ea typeface="Arial" pitchFamily="34" charset="-122"/>
                <a:cs typeface="Arial" pitchFamily="34" charset="-120"/>
              </a:rPr>
              <a:t> — but it isn't a stable identity: it's reassigned, shared via NAT/CGNAT, and moves with the device. Announced as prefixes (CIDR, e.g. /24).</a:t>
            </a:r>
            <a:endParaRPr lang="en-US" sz="1400" dirty="0"/>
          </a:p>
        </p:txBody>
      </p:sp>
      <p:sp>
        <p:nvSpPr>
          <p:cNvPr id="8" name="Shape 6"/>
          <p:cNvSpPr/>
          <p:nvPr/>
        </p:nvSpPr>
        <p:spPr>
          <a:xfrm>
            <a:off x="822960" y="3568580"/>
            <a:ext cx="91440" cy="91440"/>
          </a:xfrm>
          <a:prstGeom prst="ellipse">
            <a:avLst/>
          </a:prstGeom>
          <a:solidFill>
            <a:srgbClr val="2B5187"/>
          </a:solidFill>
          <a:ln/>
        </p:spPr>
        <p:txBody>
          <a:bodyPr/>
          <a:lstStyle/>
          <a:p>
            <a:endParaRPr lang="en-US"/>
          </a:p>
        </p:txBody>
      </p:sp>
      <p:sp>
        <p:nvSpPr>
          <p:cNvPr id="9" name="Text 7"/>
          <p:cNvSpPr/>
          <p:nvPr/>
        </p:nvSpPr>
        <p:spPr>
          <a:xfrm>
            <a:off x="1133856" y="3500000"/>
            <a:ext cx="10150000" cy="1040000"/>
          </a:xfrm>
          <a:prstGeom prst="rect">
            <a:avLst/>
          </a:prstGeom>
          <a:noFill/>
          <a:ln/>
        </p:spPr>
        <p:txBody>
          <a:bodyPr wrap="square" lIns="0" tIns="0" rIns="0" bIns="0" rtlCol="0" anchor="t"/>
          <a:lstStyle/>
          <a:p>
            <a:pPr marL="0" indent="0">
              <a:lnSpc>
                <a:spcPct val="103000"/>
              </a:lnSpc>
              <a:buNone/>
            </a:pPr>
            <a:r>
              <a:rPr lang="en-US" sz="2000" b="1" dirty="0">
                <a:solidFill>
                  <a:srgbClr val="15171C"/>
                </a:solidFill>
                <a:latin typeface="Arial" pitchFamily="34" charset="0"/>
                <a:ea typeface="Arial" pitchFamily="34" charset="-122"/>
                <a:cs typeface="Arial" pitchFamily="34" charset="-120"/>
              </a:rPr>
              <a:t>IPv4 </a:t>
            </a:r>
            <a:r>
              <a:rPr lang="en-US" sz="2000" dirty="0">
                <a:solidFill>
                  <a:srgbClr val="33373F"/>
                </a:solidFill>
                <a:latin typeface="Arial" pitchFamily="34" charset="0"/>
                <a:ea typeface="Arial" pitchFamily="34" charset="-122"/>
                <a:cs typeface="Arial" pitchFamily="34" charset="-120"/>
              </a:rPr>
              <a:t>is 32-bit (~4.3B addresses) and long exhausted — stretched by NAT / CGNAT and address transfer markets.</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822960" y="640080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Arial" pitchFamily="34" charset="0"/>
                <a:ea typeface="Arial" pitchFamily="34" charset="-122"/>
                <a:cs typeface="Arial" pitchFamily="34" charset="-120"/>
              </a:rPr>
              <a:t>ESCALATE Training Program · Summer 2026</a:t>
            </a:r>
            <a:endParaRPr lang="en-US" sz="900" dirty="0"/>
          </a:p>
        </p:txBody>
      </p:sp>
      <p:sp>
        <p:nvSpPr>
          <p:cNvPr id="4" name="Text 2"/>
          <p:cNvSpPr/>
          <p:nvPr/>
        </p:nvSpPr>
        <p:spPr>
          <a:xfrm>
            <a:off x="822960" y="548640"/>
            <a:ext cx="5486400" cy="274320"/>
          </a:xfrm>
          <a:prstGeom prst="rect">
            <a:avLst/>
          </a:prstGeom>
          <a:noFill/>
          <a:ln/>
        </p:spPr>
        <p:txBody>
          <a:bodyPr wrap="square" lIns="0" tIns="0" rIns="0" bIns="0" rtlCol="0" anchor="t"/>
          <a:lstStyle/>
          <a:p>
            <a:pPr marL="0" indent="0">
              <a:buNone/>
            </a:pPr>
            <a:r>
              <a:rPr lang="en-US" sz="1100" b="1" kern="0" spc="220" dirty="0">
                <a:solidFill>
                  <a:srgbClr val="6B7280"/>
                </a:solidFill>
                <a:latin typeface="Arial" pitchFamily="34" charset="0"/>
                <a:ea typeface="Arial" pitchFamily="34" charset="-122"/>
                <a:cs typeface="Arial" pitchFamily="34" charset="-120"/>
              </a:rPr>
              <a:t>APPENDIX · ADDRESSING</a:t>
            </a:r>
            <a:endParaRPr lang="en-US" sz="1100" dirty="0"/>
          </a:p>
        </p:txBody>
      </p:sp>
      <p:sp>
        <p:nvSpPr>
          <p:cNvPr id="5" name="Text 3"/>
          <p:cNvSpPr/>
          <p:nvPr/>
        </p:nvSpPr>
        <p:spPr>
          <a:xfrm>
            <a:off x="822960" y="868680"/>
            <a:ext cx="10607040" cy="1188720"/>
          </a:xfrm>
          <a:prstGeom prst="rect">
            <a:avLst/>
          </a:prstGeom>
          <a:noFill/>
          <a:ln/>
        </p:spPr>
        <p:txBody>
          <a:bodyPr wrap="square" lIns="0" tIns="0" rIns="0" bIns="0" rtlCol="0" anchor="t"/>
          <a:lstStyle/>
          <a:p>
            <a:pPr marL="0" indent="0">
              <a:lnSpc>
                <a:spcPct val="98000"/>
              </a:lnSpc>
              <a:buNone/>
            </a:pPr>
            <a:r>
              <a:rPr lang="en-US" sz="2800" b="1" dirty="0">
                <a:solidFill>
                  <a:srgbClr val="15171C"/>
                </a:solidFill>
                <a:latin typeface="Arial" pitchFamily="34" charset="0"/>
                <a:ea typeface="Arial" pitchFamily="34" charset="-122"/>
                <a:cs typeface="Arial" pitchFamily="34" charset="-120"/>
              </a:rPr>
              <a:t>Addressing, a bird's-eye view (cont.)</a:t>
            </a:r>
            <a:endParaRPr lang="en-US" sz="2800" dirty="0"/>
          </a:p>
        </p:txBody>
      </p:sp>
      <p:sp>
        <p:nvSpPr>
          <p:cNvPr id="10" name="Shape 8"/>
          <p:cNvSpPr/>
          <p:nvPr/>
        </p:nvSpPr>
        <p:spPr>
          <a:xfrm>
            <a:off x="822960" y="2118580"/>
            <a:ext cx="91440" cy="91440"/>
          </a:xfrm>
          <a:prstGeom prst="ellipse">
            <a:avLst/>
          </a:prstGeom>
          <a:solidFill>
            <a:srgbClr val="2B5187"/>
          </a:solidFill>
          <a:ln/>
        </p:spPr>
        <p:txBody>
          <a:bodyPr/>
          <a:lstStyle/>
          <a:p>
            <a:endParaRPr lang="en-US"/>
          </a:p>
        </p:txBody>
      </p:sp>
      <p:sp>
        <p:nvSpPr>
          <p:cNvPr id="11" name="Text 9"/>
          <p:cNvSpPr/>
          <p:nvPr/>
        </p:nvSpPr>
        <p:spPr>
          <a:xfrm>
            <a:off x="1133856" y="2050000"/>
            <a:ext cx="6500000" cy="1040000"/>
          </a:xfrm>
          <a:prstGeom prst="rect">
            <a:avLst/>
          </a:prstGeom>
          <a:noFill/>
          <a:ln/>
        </p:spPr>
        <p:txBody>
          <a:bodyPr wrap="square" lIns="0" tIns="0" rIns="0" bIns="0" rtlCol="0" anchor="t"/>
          <a:lstStyle/>
          <a:p>
            <a:pPr marL="0" indent="0">
              <a:lnSpc>
                <a:spcPct val="103000"/>
              </a:lnSpc>
              <a:buNone/>
            </a:pPr>
            <a:r>
              <a:rPr lang="en-US" sz="2000" b="1" dirty="0">
                <a:solidFill>
                  <a:srgbClr val="15171C"/>
                </a:solidFill>
                <a:latin typeface="Arial" pitchFamily="34" charset="0"/>
                <a:ea typeface="Arial" pitchFamily="34" charset="-122"/>
                <a:cs typeface="Arial" pitchFamily="34" charset="-120"/>
              </a:rPr>
              <a:t>IPv6 </a:t>
            </a:r>
            <a:r>
              <a:rPr lang="en-US" sz="2000" dirty="0">
                <a:solidFill>
                  <a:srgbClr val="33373F"/>
                </a:solidFill>
                <a:latin typeface="Arial" pitchFamily="34" charset="0"/>
                <a:ea typeface="Arial" pitchFamily="34" charset="-122"/>
                <a:cs typeface="Arial" pitchFamily="34" charset="-120"/>
              </a:rPr>
              <a:t>is 128-bit and effectively unlimited, but adoption is uneven by region — which shapes what measurement can see.</a:t>
            </a:r>
            <a:endParaRPr lang="en-US" sz="1400" dirty="0"/>
          </a:p>
        </p:txBody>
      </p:sp>
      <p:sp>
        <p:nvSpPr>
          <p:cNvPr id="12" name="Shape 10"/>
          <p:cNvSpPr/>
          <p:nvPr/>
        </p:nvSpPr>
        <p:spPr>
          <a:xfrm>
            <a:off x="822960" y="3668580"/>
            <a:ext cx="91440" cy="91440"/>
          </a:xfrm>
          <a:prstGeom prst="ellipse">
            <a:avLst/>
          </a:prstGeom>
          <a:solidFill>
            <a:srgbClr val="2B5187"/>
          </a:solidFill>
          <a:ln/>
        </p:spPr>
        <p:txBody>
          <a:bodyPr/>
          <a:lstStyle/>
          <a:p>
            <a:endParaRPr lang="en-US"/>
          </a:p>
        </p:txBody>
      </p:sp>
      <p:sp>
        <p:nvSpPr>
          <p:cNvPr id="13" name="Text 11"/>
          <p:cNvSpPr/>
          <p:nvPr/>
        </p:nvSpPr>
        <p:spPr>
          <a:xfrm>
            <a:off x="1133856" y="3600000"/>
            <a:ext cx="6500000" cy="1040000"/>
          </a:xfrm>
          <a:prstGeom prst="rect">
            <a:avLst/>
          </a:prstGeom>
          <a:noFill/>
          <a:ln/>
        </p:spPr>
        <p:txBody>
          <a:bodyPr wrap="square" lIns="0" tIns="0" rIns="0" bIns="0" rtlCol="0" anchor="t"/>
          <a:lstStyle/>
          <a:p>
            <a:pPr marL="0" indent="0">
              <a:lnSpc>
                <a:spcPct val="103000"/>
              </a:lnSpc>
              <a:buNone/>
            </a:pPr>
            <a:r>
              <a:rPr lang="en-US" sz="2000" dirty="0">
                <a:solidFill>
                  <a:srgbClr val="33373F"/>
                </a:solidFill>
                <a:latin typeface="Arial" pitchFamily="34" charset="0"/>
                <a:ea typeface="Arial" pitchFamily="34" charset="-122"/>
                <a:cs typeface="Arial" pitchFamily="34" charset="-120"/>
              </a:rPr>
              <a:t>The allocation chain is hierarchical; </a:t>
            </a:r>
            <a:r>
              <a:rPr lang="en-US" sz="2000" b="1" dirty="0">
                <a:solidFill>
                  <a:srgbClr val="15171C"/>
                </a:solidFill>
                <a:latin typeface="Arial" pitchFamily="34" charset="0"/>
                <a:ea typeface="Arial" pitchFamily="34" charset="-122"/>
                <a:cs typeface="Arial" pitchFamily="34" charset="-120"/>
              </a:rPr>
              <a:t>WHOIS / IRR </a:t>
            </a:r>
            <a:r>
              <a:rPr lang="en-US" sz="2000" dirty="0">
                <a:solidFill>
                  <a:srgbClr val="33373F"/>
                </a:solidFill>
                <a:latin typeface="Arial" pitchFamily="34" charset="0"/>
                <a:ea typeface="Arial" pitchFamily="34" charset="-122"/>
                <a:cs typeface="Arial" pitchFamily="34" charset="-120"/>
              </a:rPr>
              <a:t>records say who holds what — the basis for AS-to-Org inference.</a:t>
            </a:r>
            <a:endParaRPr lang="en-US" sz="1400" dirty="0"/>
          </a:p>
        </p:txBody>
      </p:sp>
      <p:sp>
        <p:nvSpPr>
          <p:cNvPr id="14" name="Shape 12"/>
          <p:cNvSpPr/>
          <p:nvPr/>
        </p:nvSpPr>
        <p:spPr>
          <a:xfrm>
            <a:off x="8092440" y="1920240"/>
            <a:ext cx="3246120" cy="658368"/>
          </a:xfrm>
          <a:prstGeom prst="roundRect">
            <a:avLst>
              <a:gd name="adj" fmla="val 9722"/>
            </a:avLst>
          </a:prstGeom>
          <a:solidFill>
            <a:srgbClr val="FFFFFF"/>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15" name="Text 13"/>
          <p:cNvSpPr/>
          <p:nvPr/>
        </p:nvSpPr>
        <p:spPr>
          <a:xfrm>
            <a:off x="8092440" y="1920240"/>
            <a:ext cx="3246120" cy="658368"/>
          </a:xfrm>
          <a:prstGeom prst="rect">
            <a:avLst/>
          </a:prstGeom>
          <a:noFill/>
          <a:ln/>
        </p:spPr>
        <p:txBody>
          <a:bodyPr wrap="square" lIns="0" tIns="0" rIns="0" bIns="0" rtlCol="0" anchor="ctr"/>
          <a:lstStyle/>
          <a:p>
            <a:pPr marL="0" indent="0" algn="ctr">
              <a:buNone/>
            </a:pPr>
            <a:r>
              <a:rPr lang="en-US" sz="2000" b="1" dirty="0">
                <a:solidFill>
                  <a:srgbClr val="33373F"/>
                </a:solidFill>
                <a:latin typeface="Arial" pitchFamily="34" charset="0"/>
                <a:ea typeface="Arial" pitchFamily="34" charset="-122"/>
                <a:cs typeface="Arial" pitchFamily="34" charset="-120"/>
              </a:rPr>
              <a:t>IANA</a:t>
            </a:r>
            <a:endParaRPr lang="en-US" sz="1350" dirty="0"/>
          </a:p>
        </p:txBody>
      </p:sp>
      <p:sp>
        <p:nvSpPr>
          <p:cNvPr id="16" name="Shape 14"/>
          <p:cNvSpPr/>
          <p:nvPr/>
        </p:nvSpPr>
        <p:spPr>
          <a:xfrm>
            <a:off x="9614916" y="2615184"/>
            <a:ext cx="201168" cy="292608"/>
          </a:xfrm>
          <a:prstGeom prst="downArrow">
            <a:avLst/>
          </a:prstGeom>
          <a:solidFill>
            <a:srgbClr val="2B5187"/>
          </a:solidFill>
          <a:ln/>
        </p:spPr>
        <p:txBody>
          <a:bodyPr/>
          <a:lstStyle/>
          <a:p>
            <a:endParaRPr lang="en-US"/>
          </a:p>
        </p:txBody>
      </p:sp>
      <p:sp>
        <p:nvSpPr>
          <p:cNvPr id="17" name="Shape 15"/>
          <p:cNvSpPr/>
          <p:nvPr/>
        </p:nvSpPr>
        <p:spPr>
          <a:xfrm>
            <a:off x="8092440" y="2962656"/>
            <a:ext cx="3246120" cy="658368"/>
          </a:xfrm>
          <a:prstGeom prst="roundRect">
            <a:avLst>
              <a:gd name="adj" fmla="val 9722"/>
            </a:avLst>
          </a:prstGeom>
          <a:solidFill>
            <a:srgbClr val="FFFFFF"/>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18" name="Text 16"/>
          <p:cNvSpPr/>
          <p:nvPr/>
        </p:nvSpPr>
        <p:spPr>
          <a:xfrm>
            <a:off x="8092440" y="2962656"/>
            <a:ext cx="3246120" cy="658368"/>
          </a:xfrm>
          <a:prstGeom prst="rect">
            <a:avLst/>
          </a:prstGeom>
          <a:noFill/>
          <a:ln/>
        </p:spPr>
        <p:txBody>
          <a:bodyPr wrap="square" lIns="0" tIns="0" rIns="0" bIns="0" rtlCol="0" anchor="ctr"/>
          <a:lstStyle/>
          <a:p>
            <a:pPr marL="0" indent="0" algn="ctr">
              <a:buNone/>
            </a:pPr>
            <a:r>
              <a:rPr lang="en-US" sz="2000" b="1" dirty="0">
                <a:solidFill>
                  <a:srgbClr val="33373F"/>
                </a:solidFill>
                <a:latin typeface="Arial" pitchFamily="34" charset="0"/>
                <a:ea typeface="Arial" pitchFamily="34" charset="-122"/>
                <a:cs typeface="Arial" pitchFamily="34" charset="-120"/>
              </a:rPr>
              <a:t>5 RIRs</a:t>
            </a:r>
            <a:endParaRPr lang="en-US" sz="1350" dirty="0"/>
          </a:p>
        </p:txBody>
      </p:sp>
      <p:sp>
        <p:nvSpPr>
          <p:cNvPr id="19" name="Shape 17"/>
          <p:cNvSpPr/>
          <p:nvPr/>
        </p:nvSpPr>
        <p:spPr>
          <a:xfrm>
            <a:off x="9614916" y="3657600"/>
            <a:ext cx="201168" cy="292608"/>
          </a:xfrm>
          <a:prstGeom prst="downArrow">
            <a:avLst/>
          </a:prstGeom>
          <a:solidFill>
            <a:srgbClr val="2B5187"/>
          </a:solidFill>
          <a:ln/>
        </p:spPr>
        <p:txBody>
          <a:bodyPr/>
          <a:lstStyle/>
          <a:p>
            <a:endParaRPr lang="en-US"/>
          </a:p>
        </p:txBody>
      </p:sp>
      <p:sp>
        <p:nvSpPr>
          <p:cNvPr id="20" name="Shape 18"/>
          <p:cNvSpPr/>
          <p:nvPr/>
        </p:nvSpPr>
        <p:spPr>
          <a:xfrm>
            <a:off x="8092440" y="4005072"/>
            <a:ext cx="3246120" cy="658368"/>
          </a:xfrm>
          <a:prstGeom prst="roundRect">
            <a:avLst>
              <a:gd name="adj" fmla="val 9722"/>
            </a:avLst>
          </a:prstGeom>
          <a:solidFill>
            <a:srgbClr val="FFFFFF"/>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21" name="Text 19"/>
          <p:cNvSpPr/>
          <p:nvPr/>
        </p:nvSpPr>
        <p:spPr>
          <a:xfrm>
            <a:off x="8092440" y="4005072"/>
            <a:ext cx="3246120" cy="658368"/>
          </a:xfrm>
          <a:prstGeom prst="rect">
            <a:avLst/>
          </a:prstGeom>
          <a:noFill/>
          <a:ln/>
        </p:spPr>
        <p:txBody>
          <a:bodyPr wrap="square" lIns="0" tIns="0" rIns="0" bIns="0" rtlCol="0" anchor="ctr"/>
          <a:lstStyle/>
          <a:p>
            <a:pPr marL="0" indent="0" algn="ctr">
              <a:buNone/>
            </a:pPr>
            <a:r>
              <a:rPr lang="en-US" sz="2000" b="1" dirty="0">
                <a:solidFill>
                  <a:srgbClr val="33373F"/>
                </a:solidFill>
                <a:latin typeface="Arial" pitchFamily="34" charset="0"/>
                <a:ea typeface="Arial" pitchFamily="34" charset="-122"/>
                <a:cs typeface="Arial" pitchFamily="34" charset="-120"/>
              </a:rPr>
              <a:t>Operators (LIRs)</a:t>
            </a:r>
            <a:endParaRPr lang="en-US" sz="1350" dirty="0"/>
          </a:p>
        </p:txBody>
      </p:sp>
      <p:sp>
        <p:nvSpPr>
          <p:cNvPr id="22" name="Shape 20"/>
          <p:cNvSpPr/>
          <p:nvPr/>
        </p:nvSpPr>
        <p:spPr>
          <a:xfrm>
            <a:off x="9614916" y="4700016"/>
            <a:ext cx="201168" cy="292608"/>
          </a:xfrm>
          <a:prstGeom prst="downArrow">
            <a:avLst/>
          </a:prstGeom>
          <a:solidFill>
            <a:srgbClr val="2B5187"/>
          </a:solidFill>
          <a:ln/>
        </p:spPr>
        <p:txBody>
          <a:bodyPr/>
          <a:lstStyle/>
          <a:p>
            <a:endParaRPr lang="en-US"/>
          </a:p>
        </p:txBody>
      </p:sp>
      <p:sp>
        <p:nvSpPr>
          <p:cNvPr id="23" name="Shape 21"/>
          <p:cNvSpPr/>
          <p:nvPr/>
        </p:nvSpPr>
        <p:spPr>
          <a:xfrm>
            <a:off x="8092440" y="5047488"/>
            <a:ext cx="3246120" cy="658368"/>
          </a:xfrm>
          <a:prstGeom prst="roundRect">
            <a:avLst>
              <a:gd name="adj" fmla="val 9722"/>
            </a:avLst>
          </a:prstGeom>
          <a:solidFill>
            <a:srgbClr val="E9EFF7"/>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24" name="Text 22"/>
          <p:cNvSpPr/>
          <p:nvPr/>
        </p:nvSpPr>
        <p:spPr>
          <a:xfrm>
            <a:off x="8092440" y="5047488"/>
            <a:ext cx="3246120" cy="658368"/>
          </a:xfrm>
          <a:prstGeom prst="rect">
            <a:avLst/>
          </a:prstGeom>
          <a:noFill/>
          <a:ln/>
        </p:spPr>
        <p:txBody>
          <a:bodyPr wrap="square" lIns="0" tIns="0" rIns="0" bIns="0" rtlCol="0" anchor="ctr"/>
          <a:lstStyle/>
          <a:p>
            <a:pPr marL="0" indent="0" algn="ctr">
              <a:buNone/>
            </a:pPr>
            <a:r>
              <a:rPr lang="en-US" sz="2000" b="1" dirty="0">
                <a:solidFill>
                  <a:srgbClr val="2B5187"/>
                </a:solidFill>
                <a:latin typeface="Arial" pitchFamily="34" charset="0"/>
                <a:ea typeface="Arial" pitchFamily="34" charset="-122"/>
                <a:cs typeface="Arial" pitchFamily="34" charset="-120"/>
              </a:rPr>
              <a:t>Announced prefixes</a:t>
            </a:r>
            <a:endParaRPr lang="en-US"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822960" y="640080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Arial" pitchFamily="34" charset="0"/>
                <a:ea typeface="Arial" pitchFamily="34" charset="-122"/>
                <a:cs typeface="Arial" pitchFamily="34" charset="-120"/>
              </a:rPr>
              <a:t>ESCALATE Training Program · Summer 2026</a:t>
            </a:r>
            <a:endParaRPr lang="en-US" sz="900" dirty="0"/>
          </a:p>
        </p:txBody>
      </p:sp>
      <p:sp>
        <p:nvSpPr>
          <p:cNvPr id="4" name="Text 2"/>
          <p:cNvSpPr/>
          <p:nvPr/>
        </p:nvSpPr>
        <p:spPr>
          <a:xfrm>
            <a:off x="822960" y="548640"/>
            <a:ext cx="5486400" cy="274320"/>
          </a:xfrm>
          <a:prstGeom prst="rect">
            <a:avLst/>
          </a:prstGeom>
          <a:noFill/>
          <a:ln/>
        </p:spPr>
        <p:txBody>
          <a:bodyPr wrap="square" lIns="0" tIns="0" rIns="0" bIns="0" rtlCol="0" anchor="t"/>
          <a:lstStyle/>
          <a:p>
            <a:pPr marL="0" indent="0">
              <a:buNone/>
            </a:pPr>
            <a:r>
              <a:rPr lang="en-US" sz="1100" b="1" kern="0" spc="220" dirty="0">
                <a:solidFill>
                  <a:srgbClr val="6B7280"/>
                </a:solidFill>
                <a:latin typeface="Arial" pitchFamily="34" charset="0"/>
                <a:ea typeface="Arial" pitchFamily="34" charset="-122"/>
                <a:cs typeface="Arial" pitchFamily="34" charset="-120"/>
              </a:rPr>
              <a:t>APPENDIX · ROUTING</a:t>
            </a:r>
            <a:endParaRPr lang="en-US" sz="1100" dirty="0"/>
          </a:p>
        </p:txBody>
      </p:sp>
      <p:sp>
        <p:nvSpPr>
          <p:cNvPr id="5" name="Text 3"/>
          <p:cNvSpPr/>
          <p:nvPr/>
        </p:nvSpPr>
        <p:spPr>
          <a:xfrm>
            <a:off x="822960" y="868680"/>
            <a:ext cx="10607040" cy="1188720"/>
          </a:xfrm>
          <a:prstGeom prst="rect">
            <a:avLst/>
          </a:prstGeom>
          <a:noFill/>
          <a:ln/>
        </p:spPr>
        <p:txBody>
          <a:bodyPr wrap="square" lIns="0" tIns="0" rIns="0" bIns="0" rtlCol="0" anchor="t"/>
          <a:lstStyle/>
          <a:p>
            <a:pPr marL="0" indent="0">
              <a:lnSpc>
                <a:spcPct val="98000"/>
              </a:lnSpc>
              <a:buNone/>
            </a:pPr>
            <a:r>
              <a:rPr lang="en-US" sz="2800" b="1" dirty="0">
                <a:solidFill>
                  <a:srgbClr val="15171C"/>
                </a:solidFill>
                <a:latin typeface="Arial" pitchFamily="34" charset="0"/>
                <a:ea typeface="Arial" pitchFamily="34" charset="-122"/>
                <a:cs typeface="Arial" pitchFamily="34" charset="-120"/>
              </a:rPr>
              <a:t>Routing, a bird's-eye view</a:t>
            </a:r>
            <a:endParaRPr lang="en-US" sz="2800" dirty="0"/>
          </a:p>
        </p:txBody>
      </p:sp>
      <p:sp>
        <p:nvSpPr>
          <p:cNvPr id="6" name="Shape 4"/>
          <p:cNvSpPr/>
          <p:nvPr/>
        </p:nvSpPr>
        <p:spPr>
          <a:xfrm>
            <a:off x="822960" y="1968580"/>
            <a:ext cx="91440" cy="91440"/>
          </a:xfrm>
          <a:prstGeom prst="ellipse">
            <a:avLst/>
          </a:prstGeom>
          <a:solidFill>
            <a:srgbClr val="2B5187"/>
          </a:solidFill>
          <a:ln/>
        </p:spPr>
        <p:txBody>
          <a:bodyPr/>
          <a:lstStyle/>
          <a:p>
            <a:endParaRPr lang="en-US"/>
          </a:p>
        </p:txBody>
      </p:sp>
      <p:sp>
        <p:nvSpPr>
          <p:cNvPr id="7" name="Text 5"/>
          <p:cNvSpPr/>
          <p:nvPr/>
        </p:nvSpPr>
        <p:spPr>
          <a:xfrm>
            <a:off x="1133856" y="1900000"/>
            <a:ext cx="10150000" cy="1040000"/>
          </a:xfrm>
          <a:prstGeom prst="rect">
            <a:avLst/>
          </a:prstGeom>
          <a:noFill/>
          <a:ln/>
        </p:spPr>
        <p:txBody>
          <a:bodyPr wrap="square" lIns="0" tIns="0" rIns="0" bIns="0" rtlCol="0" anchor="t"/>
          <a:lstStyle/>
          <a:p>
            <a:pPr marL="0" indent="0">
              <a:lnSpc>
                <a:spcPct val="103000"/>
              </a:lnSpc>
              <a:buNone/>
            </a:pPr>
            <a:r>
              <a:rPr lang="en-US" sz="2000" b="1" dirty="0">
                <a:solidFill>
                  <a:srgbClr val="15171C"/>
                </a:solidFill>
                <a:latin typeface="Arial" pitchFamily="34" charset="0"/>
                <a:ea typeface="Arial" pitchFamily="34" charset="-122"/>
                <a:cs typeface="Arial" pitchFamily="34" charset="-120"/>
              </a:rPr>
              <a:t>BGP </a:t>
            </a:r>
            <a:r>
              <a:rPr lang="en-US" sz="2000" dirty="0">
                <a:solidFill>
                  <a:srgbClr val="33373F"/>
                </a:solidFill>
                <a:latin typeface="Arial" pitchFamily="34" charset="0"/>
                <a:ea typeface="Arial" pitchFamily="34" charset="-122"/>
                <a:cs typeface="Arial" pitchFamily="34" charset="-120"/>
              </a:rPr>
              <a:t>is the inter-domain routing protocol: each AS announces its prefixes and the AS-path to reach them.</a:t>
            </a:r>
            <a:endParaRPr lang="en-US" sz="1350" dirty="0"/>
          </a:p>
        </p:txBody>
      </p:sp>
      <p:sp>
        <p:nvSpPr>
          <p:cNvPr id="8" name="Shape 6"/>
          <p:cNvSpPr/>
          <p:nvPr/>
        </p:nvSpPr>
        <p:spPr>
          <a:xfrm>
            <a:off x="822960" y="3348580"/>
            <a:ext cx="91440" cy="91440"/>
          </a:xfrm>
          <a:prstGeom prst="ellipse">
            <a:avLst/>
          </a:prstGeom>
          <a:solidFill>
            <a:srgbClr val="2B5187"/>
          </a:solidFill>
          <a:ln/>
        </p:spPr>
        <p:txBody>
          <a:bodyPr/>
          <a:lstStyle/>
          <a:p>
            <a:endParaRPr lang="en-US"/>
          </a:p>
        </p:txBody>
      </p:sp>
      <p:sp>
        <p:nvSpPr>
          <p:cNvPr id="9" name="Text 7"/>
          <p:cNvSpPr/>
          <p:nvPr/>
        </p:nvSpPr>
        <p:spPr>
          <a:xfrm>
            <a:off x="1133856" y="3280000"/>
            <a:ext cx="10150000" cy="1040000"/>
          </a:xfrm>
          <a:prstGeom prst="rect">
            <a:avLst/>
          </a:prstGeom>
          <a:noFill/>
          <a:ln/>
        </p:spPr>
        <p:txBody>
          <a:bodyPr wrap="square" lIns="0" tIns="0" rIns="0" bIns="0" rtlCol="0" anchor="t"/>
          <a:lstStyle/>
          <a:p>
            <a:pPr marL="0" indent="0">
              <a:lnSpc>
                <a:spcPct val="103000"/>
              </a:lnSpc>
              <a:buNone/>
            </a:pPr>
            <a:r>
              <a:rPr lang="en-US" sz="2000" b="1" dirty="0">
                <a:solidFill>
                  <a:srgbClr val="15171C"/>
                </a:solidFill>
                <a:latin typeface="Arial" pitchFamily="34" charset="0"/>
                <a:ea typeface="Arial" pitchFamily="34" charset="-122"/>
                <a:cs typeface="Arial" pitchFamily="34" charset="-120"/>
              </a:rPr>
              <a:t>Path-vector: </a:t>
            </a:r>
            <a:r>
              <a:rPr lang="en-US" sz="2000" dirty="0">
                <a:solidFill>
                  <a:srgbClr val="33373F"/>
                </a:solidFill>
                <a:latin typeface="Arial" pitchFamily="34" charset="0"/>
                <a:ea typeface="Arial" pitchFamily="34" charset="-122"/>
                <a:cs typeface="Arial" pitchFamily="34" charset="-120"/>
              </a:rPr>
              <a:t>announcements carry the full AS-path; an AS rejects any path already containing its own number (loop prevention).</a:t>
            </a:r>
            <a:endParaRPr lang="en-US" sz="1350" dirty="0"/>
          </a:p>
        </p:txBody>
      </p:sp>
      <p:sp>
        <p:nvSpPr>
          <p:cNvPr id="10" name="Shape 8"/>
          <p:cNvSpPr/>
          <p:nvPr/>
        </p:nvSpPr>
        <p:spPr>
          <a:xfrm>
            <a:off x="822960" y="4728580"/>
            <a:ext cx="91440" cy="91440"/>
          </a:xfrm>
          <a:prstGeom prst="ellipse">
            <a:avLst/>
          </a:prstGeom>
          <a:solidFill>
            <a:srgbClr val="2B5187"/>
          </a:solidFill>
          <a:ln/>
        </p:spPr>
        <p:txBody>
          <a:bodyPr/>
          <a:lstStyle/>
          <a:p>
            <a:endParaRPr lang="en-US"/>
          </a:p>
        </p:txBody>
      </p:sp>
      <p:sp>
        <p:nvSpPr>
          <p:cNvPr id="11" name="Text 9"/>
          <p:cNvSpPr/>
          <p:nvPr/>
        </p:nvSpPr>
        <p:spPr>
          <a:xfrm>
            <a:off x="1133856" y="4660000"/>
            <a:ext cx="10150000" cy="1040000"/>
          </a:xfrm>
          <a:prstGeom prst="rect">
            <a:avLst/>
          </a:prstGeom>
          <a:noFill/>
          <a:ln/>
        </p:spPr>
        <p:txBody>
          <a:bodyPr wrap="square" lIns="0" tIns="0" rIns="0" bIns="0" rtlCol="0" anchor="t"/>
          <a:lstStyle/>
          <a:p>
            <a:pPr marL="0" indent="0">
              <a:lnSpc>
                <a:spcPct val="103000"/>
              </a:lnSpc>
              <a:buNone/>
            </a:pPr>
            <a:r>
              <a:rPr lang="en-US" sz="2000" dirty="0">
                <a:solidFill>
                  <a:srgbClr val="33373F"/>
                </a:solidFill>
                <a:latin typeface="Arial" pitchFamily="34" charset="0"/>
                <a:ea typeface="Arial" pitchFamily="34" charset="-122"/>
                <a:cs typeface="Arial" pitchFamily="34" charset="-120"/>
              </a:rPr>
              <a:t>Best-path selection is </a:t>
            </a:r>
            <a:r>
              <a:rPr lang="en-US" sz="2000" b="1" dirty="0">
                <a:solidFill>
                  <a:srgbClr val="15171C"/>
                </a:solidFill>
                <a:latin typeface="Arial" pitchFamily="34" charset="0"/>
                <a:ea typeface="Arial" pitchFamily="34" charset="-122"/>
                <a:cs typeface="Arial" pitchFamily="34" charset="-120"/>
              </a:rPr>
              <a:t>policy-first</a:t>
            </a:r>
            <a:r>
              <a:rPr lang="en-US" sz="2000" dirty="0">
                <a:solidFill>
                  <a:srgbClr val="33373F"/>
                </a:solidFill>
                <a:latin typeface="Arial" pitchFamily="34" charset="0"/>
                <a:ea typeface="Arial" pitchFamily="34" charset="-122"/>
                <a:cs typeface="Arial" pitchFamily="34" charset="-120"/>
              </a:rPr>
              <a:t> — local preference (business relationship) outranks AS-path length. Routes are not shortest-path.</a:t>
            </a:r>
            <a:endParaRPr lang="en-US" sz="13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822960" y="640080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Arial" pitchFamily="34" charset="0"/>
                <a:ea typeface="Arial" pitchFamily="34" charset="-122"/>
                <a:cs typeface="Arial" pitchFamily="34" charset="-120"/>
              </a:rPr>
              <a:t>ESCALATE Training Program · Summer 2026</a:t>
            </a:r>
            <a:endParaRPr lang="en-US" sz="900" dirty="0"/>
          </a:p>
        </p:txBody>
      </p:sp>
      <p:sp>
        <p:nvSpPr>
          <p:cNvPr id="4" name="Text 2"/>
          <p:cNvSpPr/>
          <p:nvPr/>
        </p:nvSpPr>
        <p:spPr>
          <a:xfrm>
            <a:off x="822960" y="548640"/>
            <a:ext cx="5486400" cy="274320"/>
          </a:xfrm>
          <a:prstGeom prst="rect">
            <a:avLst/>
          </a:prstGeom>
          <a:noFill/>
          <a:ln/>
        </p:spPr>
        <p:txBody>
          <a:bodyPr wrap="square" lIns="0" tIns="0" rIns="0" bIns="0" rtlCol="0" anchor="t"/>
          <a:lstStyle/>
          <a:p>
            <a:pPr marL="0" indent="0">
              <a:buNone/>
            </a:pPr>
            <a:r>
              <a:rPr lang="en-US" sz="1100" b="1" kern="0" spc="220" dirty="0">
                <a:solidFill>
                  <a:srgbClr val="6B7280"/>
                </a:solidFill>
                <a:latin typeface="Arial" pitchFamily="34" charset="0"/>
                <a:ea typeface="Arial" pitchFamily="34" charset="-122"/>
                <a:cs typeface="Arial" pitchFamily="34" charset="-120"/>
              </a:rPr>
              <a:t>APPENDIX · ROUTING</a:t>
            </a:r>
            <a:endParaRPr lang="en-US" sz="1100" dirty="0"/>
          </a:p>
        </p:txBody>
      </p:sp>
      <p:sp>
        <p:nvSpPr>
          <p:cNvPr id="5" name="Text 3"/>
          <p:cNvSpPr/>
          <p:nvPr/>
        </p:nvSpPr>
        <p:spPr>
          <a:xfrm>
            <a:off x="822960" y="868680"/>
            <a:ext cx="10607040" cy="1188720"/>
          </a:xfrm>
          <a:prstGeom prst="rect">
            <a:avLst/>
          </a:prstGeom>
          <a:noFill/>
          <a:ln/>
        </p:spPr>
        <p:txBody>
          <a:bodyPr wrap="square" lIns="0" tIns="0" rIns="0" bIns="0" rtlCol="0" anchor="t"/>
          <a:lstStyle/>
          <a:p>
            <a:pPr marL="0" indent="0">
              <a:lnSpc>
                <a:spcPct val="98000"/>
              </a:lnSpc>
              <a:buNone/>
            </a:pPr>
            <a:r>
              <a:rPr lang="en-US" sz="2800" b="1" dirty="0">
                <a:solidFill>
                  <a:srgbClr val="15171C"/>
                </a:solidFill>
                <a:latin typeface="Arial" pitchFamily="34" charset="0"/>
                <a:ea typeface="Arial" pitchFamily="34" charset="-122"/>
                <a:cs typeface="Arial" pitchFamily="34" charset="-120"/>
              </a:rPr>
              <a:t>Routing, a bird's-eye view (cont.)</a:t>
            </a:r>
            <a:endParaRPr lang="en-US" sz="2800" dirty="0"/>
          </a:p>
        </p:txBody>
      </p:sp>
      <p:sp>
        <p:nvSpPr>
          <p:cNvPr id="12" name="Shape 10"/>
          <p:cNvSpPr/>
          <p:nvPr/>
        </p:nvSpPr>
        <p:spPr>
          <a:xfrm>
            <a:off x="822960" y="2118580"/>
            <a:ext cx="91440" cy="91440"/>
          </a:xfrm>
          <a:prstGeom prst="ellipse">
            <a:avLst/>
          </a:prstGeom>
          <a:solidFill>
            <a:srgbClr val="2B5187"/>
          </a:solidFill>
          <a:ln/>
        </p:spPr>
        <p:txBody>
          <a:bodyPr/>
          <a:lstStyle/>
          <a:p>
            <a:endParaRPr lang="en-US"/>
          </a:p>
        </p:txBody>
      </p:sp>
      <p:sp>
        <p:nvSpPr>
          <p:cNvPr id="13" name="Text 11"/>
          <p:cNvSpPr/>
          <p:nvPr/>
        </p:nvSpPr>
        <p:spPr>
          <a:xfrm>
            <a:off x="1133856" y="2050000"/>
            <a:ext cx="6500000" cy="1040000"/>
          </a:xfrm>
          <a:prstGeom prst="rect">
            <a:avLst/>
          </a:prstGeom>
          <a:noFill/>
          <a:ln/>
        </p:spPr>
        <p:txBody>
          <a:bodyPr wrap="square" lIns="0" tIns="0" rIns="0" bIns="0" rtlCol="0" anchor="t"/>
          <a:lstStyle/>
          <a:p>
            <a:pPr marL="0" indent="0">
              <a:lnSpc>
                <a:spcPct val="103000"/>
              </a:lnSpc>
              <a:buNone/>
            </a:pPr>
            <a:r>
              <a:rPr lang="en-US" sz="2000" dirty="0">
                <a:solidFill>
                  <a:srgbClr val="33373F"/>
                </a:solidFill>
                <a:latin typeface="Arial" pitchFamily="34" charset="0"/>
                <a:ea typeface="Arial" pitchFamily="34" charset="-122"/>
                <a:cs typeface="Arial" pitchFamily="34" charset="-120"/>
              </a:rPr>
              <a:t>Relationships are </a:t>
            </a:r>
            <a:r>
              <a:rPr lang="en-US" sz="2000" b="1" dirty="0">
                <a:solidFill>
                  <a:srgbClr val="15171C"/>
                </a:solidFill>
                <a:latin typeface="Arial" pitchFamily="34" charset="0"/>
                <a:ea typeface="Arial" pitchFamily="34" charset="-122"/>
                <a:cs typeface="Arial" pitchFamily="34" charset="-120"/>
              </a:rPr>
              <a:t>“valley-free”</a:t>
            </a:r>
            <a:r>
              <a:rPr lang="en-US" sz="2000" dirty="0">
                <a:solidFill>
                  <a:srgbClr val="33373F"/>
                </a:solidFill>
                <a:latin typeface="Arial" pitchFamily="34" charset="0"/>
                <a:ea typeface="Arial" pitchFamily="34" charset="-122"/>
                <a:cs typeface="Arial" pitchFamily="34" charset="-120"/>
              </a:rPr>
              <a:t>: a path climbs customer→provider, crosses one peer link at the top, then descends provider→customer — never back uphill, so it peaks once with no “valley.”</a:t>
            </a:r>
            <a:endParaRPr lang="en-US" sz="1350" dirty="0"/>
          </a:p>
        </p:txBody>
      </p:sp>
      <p:sp>
        <p:nvSpPr>
          <p:cNvPr id="14" name="Shape 12"/>
          <p:cNvSpPr/>
          <p:nvPr/>
        </p:nvSpPr>
        <p:spPr>
          <a:xfrm>
            <a:off x="822960" y="3668580"/>
            <a:ext cx="91440" cy="91440"/>
          </a:xfrm>
          <a:prstGeom prst="ellipse">
            <a:avLst/>
          </a:prstGeom>
          <a:solidFill>
            <a:srgbClr val="2B5187"/>
          </a:solidFill>
          <a:ln/>
        </p:spPr>
        <p:txBody>
          <a:bodyPr/>
          <a:lstStyle/>
          <a:p>
            <a:endParaRPr lang="en-US"/>
          </a:p>
        </p:txBody>
      </p:sp>
      <p:sp>
        <p:nvSpPr>
          <p:cNvPr id="15" name="Text 13"/>
          <p:cNvSpPr/>
          <p:nvPr/>
        </p:nvSpPr>
        <p:spPr>
          <a:xfrm>
            <a:off x="1133856" y="3600000"/>
            <a:ext cx="6500000" cy="1040000"/>
          </a:xfrm>
          <a:prstGeom prst="rect">
            <a:avLst/>
          </a:prstGeom>
          <a:noFill/>
          <a:ln/>
        </p:spPr>
        <p:txBody>
          <a:bodyPr wrap="square" lIns="0" tIns="0" rIns="0" bIns="0" rtlCol="0" anchor="t"/>
          <a:lstStyle/>
          <a:p>
            <a:pPr marL="0" indent="0">
              <a:lnSpc>
                <a:spcPct val="103000"/>
              </a:lnSpc>
              <a:buNone/>
            </a:pPr>
            <a:r>
              <a:rPr lang="en-US" sz="2000" dirty="0">
                <a:solidFill>
                  <a:srgbClr val="33373F"/>
                </a:solidFill>
                <a:latin typeface="Arial" pitchFamily="34" charset="0"/>
                <a:ea typeface="Arial" pitchFamily="34" charset="-122"/>
                <a:cs typeface="Arial" pitchFamily="34" charset="-120"/>
              </a:rPr>
              <a:t>No built-in authentication </a:t>
            </a:r>
            <a:r>
              <a:rPr lang="en-US" sz="2000" b="1" dirty="0">
                <a:solidFill>
                  <a:srgbClr val="DB5B40"/>
                </a:solidFill>
                <a:latin typeface="Arial" pitchFamily="34" charset="0"/>
                <a:ea typeface="Arial" pitchFamily="34" charset="-122"/>
                <a:cs typeface="Arial" pitchFamily="34" charset="-120"/>
              </a:rPr>
              <a:t>→ hijacks &amp; route leaks</a:t>
            </a:r>
            <a:r>
              <a:rPr lang="en-US" sz="2000" dirty="0">
                <a:solidFill>
                  <a:srgbClr val="33373F"/>
                </a:solidFill>
                <a:latin typeface="Arial" pitchFamily="34" charset="0"/>
                <a:ea typeface="Arial" pitchFamily="34" charset="-122"/>
                <a:cs typeface="Arial" pitchFamily="34" charset="-120"/>
              </a:rPr>
              <a:t>; RPKI + ROV authorize the origin AS (partial defense).</a:t>
            </a:r>
            <a:endParaRPr lang="en-US" sz="1350" dirty="0"/>
          </a:p>
        </p:txBody>
      </p:sp>
      <p:sp>
        <p:nvSpPr>
          <p:cNvPr id="16" name="Shape 14"/>
          <p:cNvSpPr/>
          <p:nvPr/>
        </p:nvSpPr>
        <p:spPr>
          <a:xfrm>
            <a:off x="9921240" y="2606040"/>
            <a:ext cx="1371600" cy="914"/>
          </a:xfrm>
          <a:prstGeom prst="line">
            <a:avLst/>
          </a:prstGeom>
          <a:noFill/>
          <a:ln w="25400">
            <a:solidFill>
              <a:srgbClr val="B4C6E4"/>
            </a:solidFill>
            <a:prstDash val="solid"/>
          </a:ln>
        </p:spPr>
        <p:txBody>
          <a:bodyPr/>
          <a:lstStyle/>
          <a:p>
            <a:endParaRPr lang="en-US"/>
          </a:p>
        </p:txBody>
      </p:sp>
      <p:sp>
        <p:nvSpPr>
          <p:cNvPr id="17" name="Shape 15"/>
          <p:cNvSpPr/>
          <p:nvPr/>
        </p:nvSpPr>
        <p:spPr>
          <a:xfrm flipH="1">
            <a:off x="9189720" y="2606040"/>
            <a:ext cx="731520" cy="1737360"/>
          </a:xfrm>
          <a:prstGeom prst="line">
            <a:avLst/>
          </a:prstGeom>
          <a:noFill/>
          <a:ln w="25400">
            <a:solidFill>
              <a:srgbClr val="B4C6E4"/>
            </a:solidFill>
            <a:prstDash val="solid"/>
          </a:ln>
        </p:spPr>
        <p:txBody>
          <a:bodyPr/>
          <a:lstStyle/>
          <a:p>
            <a:endParaRPr lang="en-US"/>
          </a:p>
        </p:txBody>
      </p:sp>
      <p:sp>
        <p:nvSpPr>
          <p:cNvPr id="18" name="Shape 16"/>
          <p:cNvSpPr/>
          <p:nvPr/>
        </p:nvSpPr>
        <p:spPr>
          <a:xfrm>
            <a:off x="9921240" y="2606040"/>
            <a:ext cx="731520" cy="1737360"/>
          </a:xfrm>
          <a:prstGeom prst="line">
            <a:avLst/>
          </a:prstGeom>
          <a:noFill/>
          <a:ln w="25400">
            <a:solidFill>
              <a:srgbClr val="B4C6E4"/>
            </a:solidFill>
            <a:prstDash val="solid"/>
          </a:ln>
        </p:spPr>
        <p:txBody>
          <a:bodyPr/>
          <a:lstStyle/>
          <a:p>
            <a:endParaRPr lang="en-US"/>
          </a:p>
        </p:txBody>
      </p:sp>
      <p:sp>
        <p:nvSpPr>
          <p:cNvPr id="19" name="Shape 17"/>
          <p:cNvSpPr/>
          <p:nvPr/>
        </p:nvSpPr>
        <p:spPr>
          <a:xfrm>
            <a:off x="9738360" y="2423160"/>
            <a:ext cx="365760" cy="365760"/>
          </a:xfrm>
          <a:prstGeom prst="ellipse">
            <a:avLst/>
          </a:prstGeom>
          <a:solidFill>
            <a:srgbClr val="2B5187"/>
          </a:solidFill>
          <a:ln/>
        </p:spPr>
        <p:txBody>
          <a:bodyPr/>
          <a:lstStyle/>
          <a:p>
            <a:endParaRPr lang="en-US"/>
          </a:p>
        </p:txBody>
      </p:sp>
      <p:sp>
        <p:nvSpPr>
          <p:cNvPr id="20" name="Shape 18"/>
          <p:cNvSpPr/>
          <p:nvPr/>
        </p:nvSpPr>
        <p:spPr>
          <a:xfrm>
            <a:off x="11155680" y="2468880"/>
            <a:ext cx="274320" cy="274320"/>
          </a:xfrm>
          <a:prstGeom prst="ellipse">
            <a:avLst/>
          </a:prstGeom>
          <a:solidFill>
            <a:srgbClr val="C2C8D2"/>
          </a:solidFill>
          <a:ln/>
        </p:spPr>
        <p:txBody>
          <a:bodyPr/>
          <a:lstStyle/>
          <a:p>
            <a:endParaRPr lang="en-US"/>
          </a:p>
        </p:txBody>
      </p:sp>
      <p:sp>
        <p:nvSpPr>
          <p:cNvPr id="21" name="Shape 19"/>
          <p:cNvSpPr/>
          <p:nvPr/>
        </p:nvSpPr>
        <p:spPr>
          <a:xfrm>
            <a:off x="9061704" y="4215384"/>
            <a:ext cx="256032" cy="256032"/>
          </a:xfrm>
          <a:prstGeom prst="ellipse">
            <a:avLst/>
          </a:prstGeom>
          <a:solidFill>
            <a:srgbClr val="C2C8D2"/>
          </a:solidFill>
          <a:ln/>
        </p:spPr>
        <p:txBody>
          <a:bodyPr/>
          <a:lstStyle/>
          <a:p>
            <a:endParaRPr lang="en-US"/>
          </a:p>
        </p:txBody>
      </p:sp>
      <p:sp>
        <p:nvSpPr>
          <p:cNvPr id="22" name="Shape 20"/>
          <p:cNvSpPr/>
          <p:nvPr/>
        </p:nvSpPr>
        <p:spPr>
          <a:xfrm>
            <a:off x="10524744" y="4215384"/>
            <a:ext cx="256032" cy="256032"/>
          </a:xfrm>
          <a:prstGeom prst="ellipse">
            <a:avLst/>
          </a:prstGeom>
          <a:solidFill>
            <a:srgbClr val="C2C8D2"/>
          </a:solidFill>
          <a:ln/>
        </p:spPr>
        <p:txBody>
          <a:bodyPr/>
          <a:lstStyle/>
          <a:p>
            <a:endParaRPr lang="en-US"/>
          </a:p>
        </p:txBody>
      </p:sp>
      <p:sp>
        <p:nvSpPr>
          <p:cNvPr id="23" name="Text 21"/>
          <p:cNvSpPr/>
          <p:nvPr/>
        </p:nvSpPr>
        <p:spPr>
          <a:xfrm>
            <a:off x="9098280" y="2039112"/>
            <a:ext cx="1645920" cy="274320"/>
          </a:xfrm>
          <a:prstGeom prst="rect">
            <a:avLst/>
          </a:prstGeom>
          <a:noFill/>
          <a:ln/>
        </p:spPr>
        <p:txBody>
          <a:bodyPr wrap="square" lIns="0" tIns="0" rIns="0" bIns="0" rtlCol="0" anchor="ctr"/>
          <a:lstStyle/>
          <a:p>
            <a:pPr marL="0" indent="0" algn="ctr">
              <a:buNone/>
            </a:pPr>
            <a:r>
              <a:rPr lang="en-US" sz="1300" dirty="0">
                <a:solidFill>
                  <a:srgbClr val="6B7280"/>
                </a:solidFill>
                <a:latin typeface="Consolas" pitchFamily="34" charset="0"/>
                <a:ea typeface="Consolas" pitchFamily="34" charset="-122"/>
                <a:cs typeface="Consolas" pitchFamily="34" charset="-120"/>
              </a:rPr>
              <a:t>provider</a:t>
            </a:r>
            <a:endParaRPr lang="en-US" sz="950" dirty="0"/>
          </a:p>
        </p:txBody>
      </p:sp>
      <p:sp>
        <p:nvSpPr>
          <p:cNvPr id="24" name="Text 22"/>
          <p:cNvSpPr/>
          <p:nvPr/>
        </p:nvSpPr>
        <p:spPr>
          <a:xfrm>
            <a:off x="10652760" y="2057400"/>
            <a:ext cx="1280160" cy="274320"/>
          </a:xfrm>
          <a:prstGeom prst="rect">
            <a:avLst/>
          </a:prstGeom>
          <a:noFill/>
          <a:ln/>
        </p:spPr>
        <p:txBody>
          <a:bodyPr wrap="square" lIns="0" tIns="0" rIns="0" bIns="0" rtlCol="0" anchor="ctr"/>
          <a:lstStyle/>
          <a:p>
            <a:pPr marL="0" indent="0" algn="ctr">
              <a:buNone/>
            </a:pPr>
            <a:r>
              <a:rPr lang="en-US" sz="1300" dirty="0">
                <a:solidFill>
                  <a:srgbClr val="6B7280"/>
                </a:solidFill>
                <a:latin typeface="Consolas" pitchFamily="34" charset="0"/>
                <a:ea typeface="Consolas" pitchFamily="34" charset="-122"/>
                <a:cs typeface="Consolas" pitchFamily="34" charset="-120"/>
              </a:rPr>
              <a:t>peer</a:t>
            </a:r>
            <a:endParaRPr lang="en-US" sz="950" dirty="0"/>
          </a:p>
        </p:txBody>
      </p:sp>
      <p:sp>
        <p:nvSpPr>
          <p:cNvPr id="25" name="Text 23"/>
          <p:cNvSpPr/>
          <p:nvPr/>
        </p:nvSpPr>
        <p:spPr>
          <a:xfrm>
            <a:off x="9006840" y="4544568"/>
            <a:ext cx="1828800" cy="274320"/>
          </a:xfrm>
          <a:prstGeom prst="rect">
            <a:avLst/>
          </a:prstGeom>
          <a:noFill/>
          <a:ln/>
        </p:spPr>
        <p:txBody>
          <a:bodyPr wrap="square" lIns="0" tIns="0" rIns="0" bIns="0" rtlCol="0" anchor="ctr"/>
          <a:lstStyle/>
          <a:p>
            <a:pPr marL="0" indent="0" algn="ctr">
              <a:buNone/>
            </a:pPr>
            <a:r>
              <a:rPr lang="en-US" sz="1300" dirty="0">
                <a:solidFill>
                  <a:srgbClr val="6B7280"/>
                </a:solidFill>
                <a:latin typeface="Consolas" pitchFamily="34" charset="0"/>
                <a:ea typeface="Consolas" pitchFamily="34" charset="-122"/>
                <a:cs typeface="Consolas" pitchFamily="34" charset="-120"/>
              </a:rPr>
              <a:t>customers</a:t>
            </a:r>
            <a:endParaRPr lang="en-US" sz="950" dirty="0"/>
          </a:p>
        </p:txBody>
      </p:sp>
      <p:sp>
        <p:nvSpPr>
          <p:cNvPr id="26" name="Text 24"/>
          <p:cNvSpPr/>
          <p:nvPr/>
        </p:nvSpPr>
        <p:spPr>
          <a:xfrm>
            <a:off x="10195560" y="2221992"/>
            <a:ext cx="822960" cy="228600"/>
          </a:xfrm>
          <a:prstGeom prst="rect">
            <a:avLst/>
          </a:prstGeom>
          <a:noFill/>
          <a:ln/>
        </p:spPr>
        <p:txBody>
          <a:bodyPr wrap="square" lIns="0" tIns="0" rIns="0" bIns="0" rtlCol="0" anchor="ctr"/>
          <a:lstStyle/>
          <a:p>
            <a:pPr marL="0" indent="0" algn="ctr">
              <a:buNone/>
            </a:pPr>
            <a:r>
              <a:rPr lang="en-US" sz="1300" dirty="0">
                <a:solidFill>
                  <a:srgbClr val="2B5187"/>
                </a:solidFill>
                <a:latin typeface="Consolas" pitchFamily="34" charset="0"/>
                <a:ea typeface="Consolas" pitchFamily="34" charset="-122"/>
                <a:cs typeface="Consolas" pitchFamily="34" charset="-120"/>
              </a:rPr>
              <a:t>p2p</a:t>
            </a:r>
            <a:endParaRPr lang="en-US" sz="900" dirty="0"/>
          </a:p>
        </p:txBody>
      </p:sp>
      <p:sp>
        <p:nvSpPr>
          <p:cNvPr id="27" name="Text 25"/>
          <p:cNvSpPr/>
          <p:nvPr/>
        </p:nvSpPr>
        <p:spPr>
          <a:xfrm>
            <a:off x="8549640" y="3383280"/>
            <a:ext cx="822960" cy="228600"/>
          </a:xfrm>
          <a:prstGeom prst="rect">
            <a:avLst/>
          </a:prstGeom>
          <a:noFill/>
          <a:ln/>
        </p:spPr>
        <p:txBody>
          <a:bodyPr wrap="square" lIns="0" tIns="0" rIns="0" bIns="0" rtlCol="0" anchor="ctr"/>
          <a:lstStyle/>
          <a:p>
            <a:pPr marL="0" indent="0" algn="ctr">
              <a:buNone/>
            </a:pPr>
            <a:r>
              <a:rPr lang="en-US" sz="1300" dirty="0">
                <a:solidFill>
                  <a:srgbClr val="2B5187"/>
                </a:solidFill>
                <a:latin typeface="Consolas" pitchFamily="34" charset="0"/>
                <a:ea typeface="Consolas" pitchFamily="34" charset="-122"/>
                <a:cs typeface="Consolas" pitchFamily="34" charset="-120"/>
              </a:rPr>
              <a:t>p2c</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822960" y="640080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Arial" pitchFamily="34" charset="0"/>
                <a:ea typeface="Arial" pitchFamily="34" charset="-122"/>
                <a:cs typeface="Arial" pitchFamily="34" charset="-120"/>
              </a:rPr>
              <a:t>ESCALATE Training Program · Summer 2026</a:t>
            </a:r>
            <a:endParaRPr lang="en-US" sz="900" dirty="0"/>
          </a:p>
        </p:txBody>
      </p:sp>
      <p:sp>
        <p:nvSpPr>
          <p:cNvPr id="4" name="Text 2"/>
          <p:cNvSpPr/>
          <p:nvPr/>
        </p:nvSpPr>
        <p:spPr>
          <a:xfrm>
            <a:off x="822960" y="548640"/>
            <a:ext cx="5486400" cy="274320"/>
          </a:xfrm>
          <a:prstGeom prst="rect">
            <a:avLst/>
          </a:prstGeom>
          <a:noFill/>
          <a:ln/>
        </p:spPr>
        <p:txBody>
          <a:bodyPr wrap="square" lIns="0" tIns="0" rIns="0" bIns="0" rtlCol="0" anchor="t"/>
          <a:lstStyle/>
          <a:p>
            <a:pPr marL="0" indent="0">
              <a:buNone/>
            </a:pPr>
            <a:r>
              <a:rPr lang="en-US" sz="1100" b="1" kern="0" spc="220" dirty="0">
                <a:solidFill>
                  <a:srgbClr val="6B7280"/>
                </a:solidFill>
                <a:latin typeface="Arial" pitchFamily="34" charset="0"/>
                <a:ea typeface="Arial" pitchFamily="34" charset="-122"/>
                <a:cs typeface="Arial" pitchFamily="34" charset="-120"/>
              </a:rPr>
              <a:t>APPENDIX · NAMING</a:t>
            </a:r>
            <a:endParaRPr lang="en-US" sz="1100" dirty="0"/>
          </a:p>
        </p:txBody>
      </p:sp>
      <p:sp>
        <p:nvSpPr>
          <p:cNvPr id="5" name="Text 3"/>
          <p:cNvSpPr/>
          <p:nvPr/>
        </p:nvSpPr>
        <p:spPr>
          <a:xfrm>
            <a:off x="822960" y="868680"/>
            <a:ext cx="10607040" cy="1188720"/>
          </a:xfrm>
          <a:prstGeom prst="rect">
            <a:avLst/>
          </a:prstGeom>
          <a:noFill/>
          <a:ln/>
        </p:spPr>
        <p:txBody>
          <a:bodyPr wrap="square" lIns="0" tIns="0" rIns="0" bIns="0" rtlCol="0" anchor="t"/>
          <a:lstStyle/>
          <a:p>
            <a:pPr marL="0" indent="0">
              <a:lnSpc>
                <a:spcPct val="98000"/>
              </a:lnSpc>
              <a:buNone/>
            </a:pPr>
            <a:r>
              <a:rPr lang="en-US" sz="2800" b="1" dirty="0">
                <a:solidFill>
                  <a:srgbClr val="15171C"/>
                </a:solidFill>
                <a:latin typeface="Arial" pitchFamily="34" charset="0"/>
                <a:ea typeface="Arial" pitchFamily="34" charset="-122"/>
                <a:cs typeface="Arial" pitchFamily="34" charset="-120"/>
              </a:rPr>
              <a:t>Naming, a bird's-eye view</a:t>
            </a:r>
            <a:endParaRPr lang="en-US" sz="2800" dirty="0"/>
          </a:p>
        </p:txBody>
      </p:sp>
      <p:sp>
        <p:nvSpPr>
          <p:cNvPr id="6" name="Text 4"/>
          <p:cNvSpPr/>
          <p:nvPr/>
        </p:nvSpPr>
        <p:spPr>
          <a:xfrm>
            <a:off x="822960" y="1691640"/>
            <a:ext cx="10543032" cy="320040"/>
          </a:xfrm>
          <a:prstGeom prst="rect">
            <a:avLst/>
          </a:prstGeom>
          <a:noFill/>
          <a:ln/>
        </p:spPr>
        <p:txBody>
          <a:bodyPr wrap="square" lIns="0" tIns="0" rIns="0" bIns="0" rtlCol="0" anchor="ctr"/>
          <a:lstStyle/>
          <a:p>
            <a:pPr marL="0" indent="0">
              <a:buNone/>
            </a:pPr>
            <a:r>
              <a:rPr lang="en-US" sz="2000" b="1" dirty="0">
                <a:solidFill>
                  <a:srgbClr val="15171C"/>
                </a:solidFill>
                <a:latin typeface="Arial" pitchFamily="34" charset="0"/>
                <a:ea typeface="Arial" pitchFamily="34" charset="-122"/>
                <a:cs typeface="Arial" pitchFamily="34" charset="-120"/>
              </a:rPr>
              <a:t>Resolving a name to an address — a delegated, cached hierarchy</a:t>
            </a:r>
            <a:endParaRPr lang="en-US" sz="1500" dirty="0"/>
          </a:p>
        </p:txBody>
      </p:sp>
      <p:sp>
        <p:nvSpPr>
          <p:cNvPr id="7" name="Shape 5"/>
          <p:cNvSpPr/>
          <p:nvPr/>
        </p:nvSpPr>
        <p:spPr>
          <a:xfrm>
            <a:off x="822960" y="2194560"/>
            <a:ext cx="1889150" cy="777240"/>
          </a:xfrm>
          <a:prstGeom prst="roundRect">
            <a:avLst>
              <a:gd name="adj" fmla="val 8235"/>
            </a:avLst>
          </a:prstGeom>
          <a:solidFill>
            <a:srgbClr val="FFFFFF"/>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8" name="Text 6"/>
          <p:cNvSpPr/>
          <p:nvPr/>
        </p:nvSpPr>
        <p:spPr>
          <a:xfrm>
            <a:off x="914400" y="2304288"/>
            <a:ext cx="1706270" cy="557784"/>
          </a:xfrm>
          <a:prstGeom prst="rect">
            <a:avLst/>
          </a:prstGeom>
          <a:noFill/>
          <a:ln/>
        </p:spPr>
        <p:txBody>
          <a:bodyPr wrap="square" lIns="0" tIns="0" rIns="0" bIns="0" rtlCol="0" anchor="ctr"/>
          <a:lstStyle/>
          <a:p>
            <a:pPr marL="0" indent="0" algn="ctr">
              <a:lnSpc>
                <a:spcPct val="100000"/>
              </a:lnSpc>
              <a:buNone/>
            </a:pPr>
            <a:r>
              <a:rPr lang="en-US" sz="2000" b="1" dirty="0">
                <a:solidFill>
                  <a:srgbClr val="33373F"/>
                </a:solidFill>
                <a:latin typeface="Arial" pitchFamily="34" charset="0"/>
                <a:ea typeface="Arial" pitchFamily="34" charset="-122"/>
                <a:cs typeface="Arial" pitchFamily="34" charset="-120"/>
              </a:rPr>
              <a:t>Stub resolver</a:t>
            </a:r>
            <a:endParaRPr lang="en-US" sz="1150" dirty="0"/>
          </a:p>
        </p:txBody>
      </p:sp>
      <p:sp>
        <p:nvSpPr>
          <p:cNvPr id="9" name="Shape 7"/>
          <p:cNvSpPr/>
          <p:nvPr/>
        </p:nvSpPr>
        <p:spPr>
          <a:xfrm>
            <a:off x="2730398" y="2491740"/>
            <a:ext cx="237744" cy="182880"/>
          </a:xfrm>
          <a:prstGeom prst="rightArrow">
            <a:avLst/>
          </a:prstGeom>
          <a:solidFill>
            <a:srgbClr val="2B5187"/>
          </a:solidFill>
          <a:ln/>
        </p:spPr>
        <p:txBody>
          <a:bodyPr/>
          <a:lstStyle/>
          <a:p>
            <a:endParaRPr lang="en-US"/>
          </a:p>
        </p:txBody>
      </p:sp>
      <p:sp>
        <p:nvSpPr>
          <p:cNvPr id="10" name="Shape 8"/>
          <p:cNvSpPr/>
          <p:nvPr/>
        </p:nvSpPr>
        <p:spPr>
          <a:xfrm>
            <a:off x="2986430" y="2194560"/>
            <a:ext cx="1889150" cy="777240"/>
          </a:xfrm>
          <a:prstGeom prst="roundRect">
            <a:avLst>
              <a:gd name="adj" fmla="val 8235"/>
            </a:avLst>
          </a:prstGeom>
          <a:solidFill>
            <a:srgbClr val="FFFFFF"/>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11" name="Text 9"/>
          <p:cNvSpPr/>
          <p:nvPr/>
        </p:nvSpPr>
        <p:spPr>
          <a:xfrm>
            <a:off x="3077870" y="2304288"/>
            <a:ext cx="1706270" cy="557784"/>
          </a:xfrm>
          <a:prstGeom prst="rect">
            <a:avLst/>
          </a:prstGeom>
          <a:noFill/>
          <a:ln/>
        </p:spPr>
        <p:txBody>
          <a:bodyPr wrap="square" lIns="0" tIns="0" rIns="0" bIns="0" rtlCol="0" anchor="ctr"/>
          <a:lstStyle/>
          <a:p>
            <a:pPr marL="0" indent="0" algn="ctr">
              <a:lnSpc>
                <a:spcPct val="100000"/>
              </a:lnSpc>
              <a:buNone/>
            </a:pPr>
            <a:r>
              <a:rPr lang="en-US" sz="2000" b="1" dirty="0">
                <a:solidFill>
                  <a:srgbClr val="33373F"/>
                </a:solidFill>
                <a:latin typeface="Arial" pitchFamily="34" charset="0"/>
                <a:ea typeface="Arial" pitchFamily="34" charset="-122"/>
                <a:cs typeface="Arial" pitchFamily="34" charset="-120"/>
              </a:rPr>
              <a:t>Recursive resolver</a:t>
            </a:r>
            <a:endParaRPr lang="en-US" sz="1150" dirty="0"/>
          </a:p>
        </p:txBody>
      </p:sp>
      <p:sp>
        <p:nvSpPr>
          <p:cNvPr id="12" name="Shape 10"/>
          <p:cNvSpPr/>
          <p:nvPr/>
        </p:nvSpPr>
        <p:spPr>
          <a:xfrm>
            <a:off x="4893869" y="2491740"/>
            <a:ext cx="237744" cy="182880"/>
          </a:xfrm>
          <a:prstGeom prst="rightArrow">
            <a:avLst/>
          </a:prstGeom>
          <a:solidFill>
            <a:srgbClr val="2B5187"/>
          </a:solidFill>
          <a:ln/>
        </p:spPr>
        <p:txBody>
          <a:bodyPr/>
          <a:lstStyle/>
          <a:p>
            <a:endParaRPr lang="en-US"/>
          </a:p>
        </p:txBody>
      </p:sp>
      <p:sp>
        <p:nvSpPr>
          <p:cNvPr id="13" name="Shape 11"/>
          <p:cNvSpPr/>
          <p:nvPr/>
        </p:nvSpPr>
        <p:spPr>
          <a:xfrm>
            <a:off x="5149901" y="2194560"/>
            <a:ext cx="1889150" cy="777240"/>
          </a:xfrm>
          <a:prstGeom prst="roundRect">
            <a:avLst>
              <a:gd name="adj" fmla="val 8235"/>
            </a:avLst>
          </a:prstGeom>
          <a:solidFill>
            <a:srgbClr val="FFFFFF"/>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14" name="Text 12"/>
          <p:cNvSpPr/>
          <p:nvPr/>
        </p:nvSpPr>
        <p:spPr>
          <a:xfrm>
            <a:off x="5241341" y="2304288"/>
            <a:ext cx="1706270" cy="557784"/>
          </a:xfrm>
          <a:prstGeom prst="rect">
            <a:avLst/>
          </a:prstGeom>
          <a:noFill/>
          <a:ln/>
        </p:spPr>
        <p:txBody>
          <a:bodyPr wrap="square" lIns="0" tIns="0" rIns="0" bIns="0" rtlCol="0" anchor="ctr"/>
          <a:lstStyle/>
          <a:p>
            <a:pPr marL="0" indent="0" algn="ctr">
              <a:lnSpc>
                <a:spcPct val="100000"/>
              </a:lnSpc>
              <a:buNone/>
            </a:pPr>
            <a:r>
              <a:rPr lang="en-US" sz="2000" b="1" dirty="0">
                <a:solidFill>
                  <a:srgbClr val="33373F"/>
                </a:solidFill>
                <a:latin typeface="Arial" pitchFamily="34" charset="0"/>
                <a:ea typeface="Arial" pitchFamily="34" charset="-122"/>
                <a:cs typeface="Arial" pitchFamily="34" charset="-120"/>
              </a:rPr>
              <a:t>Root</a:t>
            </a:r>
            <a:endParaRPr lang="en-US" sz="1150" dirty="0"/>
          </a:p>
        </p:txBody>
      </p:sp>
      <p:sp>
        <p:nvSpPr>
          <p:cNvPr id="15" name="Shape 13"/>
          <p:cNvSpPr/>
          <p:nvPr/>
        </p:nvSpPr>
        <p:spPr>
          <a:xfrm>
            <a:off x="7057339" y="2491740"/>
            <a:ext cx="237744" cy="182880"/>
          </a:xfrm>
          <a:prstGeom prst="rightArrow">
            <a:avLst/>
          </a:prstGeom>
          <a:solidFill>
            <a:srgbClr val="2B5187"/>
          </a:solidFill>
          <a:ln/>
        </p:spPr>
        <p:txBody>
          <a:bodyPr/>
          <a:lstStyle/>
          <a:p>
            <a:endParaRPr lang="en-US"/>
          </a:p>
        </p:txBody>
      </p:sp>
      <p:sp>
        <p:nvSpPr>
          <p:cNvPr id="16" name="Shape 14"/>
          <p:cNvSpPr/>
          <p:nvPr/>
        </p:nvSpPr>
        <p:spPr>
          <a:xfrm>
            <a:off x="7313371" y="2194560"/>
            <a:ext cx="1889150" cy="777240"/>
          </a:xfrm>
          <a:prstGeom prst="roundRect">
            <a:avLst>
              <a:gd name="adj" fmla="val 8235"/>
            </a:avLst>
          </a:prstGeom>
          <a:solidFill>
            <a:srgbClr val="FFFFFF"/>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17" name="Text 15"/>
          <p:cNvSpPr/>
          <p:nvPr/>
        </p:nvSpPr>
        <p:spPr>
          <a:xfrm>
            <a:off x="7404811" y="2304288"/>
            <a:ext cx="1706270" cy="557784"/>
          </a:xfrm>
          <a:prstGeom prst="rect">
            <a:avLst/>
          </a:prstGeom>
          <a:noFill/>
          <a:ln/>
        </p:spPr>
        <p:txBody>
          <a:bodyPr wrap="square" lIns="0" tIns="0" rIns="0" bIns="0" rtlCol="0" anchor="ctr"/>
          <a:lstStyle/>
          <a:p>
            <a:pPr marL="0" indent="0" algn="ctr">
              <a:lnSpc>
                <a:spcPct val="100000"/>
              </a:lnSpc>
              <a:buNone/>
            </a:pPr>
            <a:r>
              <a:rPr lang="en-US" sz="2000" b="1" dirty="0">
                <a:solidFill>
                  <a:srgbClr val="33373F"/>
                </a:solidFill>
                <a:latin typeface="Arial" pitchFamily="34" charset="0"/>
                <a:ea typeface="Arial" pitchFamily="34" charset="-122"/>
                <a:cs typeface="Arial" pitchFamily="34" charset="-120"/>
              </a:rPr>
              <a:t>TLD (.com, .ae)</a:t>
            </a:r>
            <a:endParaRPr lang="en-US" sz="1150" dirty="0"/>
          </a:p>
        </p:txBody>
      </p:sp>
      <p:sp>
        <p:nvSpPr>
          <p:cNvPr id="18" name="Shape 16"/>
          <p:cNvSpPr/>
          <p:nvPr/>
        </p:nvSpPr>
        <p:spPr>
          <a:xfrm>
            <a:off x="9220810" y="2491740"/>
            <a:ext cx="237744" cy="182880"/>
          </a:xfrm>
          <a:prstGeom prst="rightArrow">
            <a:avLst/>
          </a:prstGeom>
          <a:solidFill>
            <a:srgbClr val="2B5187"/>
          </a:solidFill>
          <a:ln/>
        </p:spPr>
        <p:txBody>
          <a:bodyPr/>
          <a:lstStyle/>
          <a:p>
            <a:endParaRPr lang="en-US"/>
          </a:p>
        </p:txBody>
      </p:sp>
      <p:sp>
        <p:nvSpPr>
          <p:cNvPr id="19" name="Shape 17"/>
          <p:cNvSpPr/>
          <p:nvPr/>
        </p:nvSpPr>
        <p:spPr>
          <a:xfrm>
            <a:off x="9476842" y="2194560"/>
            <a:ext cx="1889150" cy="777240"/>
          </a:xfrm>
          <a:prstGeom prst="roundRect">
            <a:avLst>
              <a:gd name="adj" fmla="val 8235"/>
            </a:avLst>
          </a:prstGeom>
          <a:solidFill>
            <a:srgbClr val="FFFFFF"/>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20" name="Text 18"/>
          <p:cNvSpPr/>
          <p:nvPr/>
        </p:nvSpPr>
        <p:spPr>
          <a:xfrm>
            <a:off x="9568282" y="2304288"/>
            <a:ext cx="1706270" cy="557784"/>
          </a:xfrm>
          <a:prstGeom prst="rect">
            <a:avLst/>
          </a:prstGeom>
          <a:noFill/>
          <a:ln/>
        </p:spPr>
        <p:txBody>
          <a:bodyPr wrap="square" lIns="0" tIns="0" rIns="0" bIns="0" rtlCol="0" anchor="ctr"/>
          <a:lstStyle/>
          <a:p>
            <a:pPr marL="0" indent="0" algn="ctr">
              <a:lnSpc>
                <a:spcPct val="100000"/>
              </a:lnSpc>
              <a:buNone/>
            </a:pPr>
            <a:r>
              <a:rPr lang="en-US" sz="2000" b="1" dirty="0">
                <a:solidFill>
                  <a:srgbClr val="33373F"/>
                </a:solidFill>
                <a:latin typeface="Arial" pitchFamily="34" charset="0"/>
                <a:ea typeface="Arial" pitchFamily="34" charset="-122"/>
                <a:cs typeface="Arial" pitchFamily="34" charset="-120"/>
              </a:rPr>
              <a:t>Authoritative</a:t>
            </a:r>
            <a:endParaRPr lang="en-US" sz="1150" dirty="0"/>
          </a:p>
        </p:txBody>
      </p:sp>
      <p:sp>
        <p:nvSpPr>
          <p:cNvPr id="21" name="Shape 19"/>
          <p:cNvSpPr/>
          <p:nvPr/>
        </p:nvSpPr>
        <p:spPr>
          <a:xfrm>
            <a:off x="822960" y="3148580"/>
            <a:ext cx="91440" cy="91440"/>
          </a:xfrm>
          <a:prstGeom prst="ellipse">
            <a:avLst/>
          </a:prstGeom>
          <a:solidFill>
            <a:srgbClr val="2B5187"/>
          </a:solidFill>
          <a:ln/>
        </p:spPr>
        <p:txBody>
          <a:bodyPr/>
          <a:lstStyle/>
          <a:p>
            <a:endParaRPr lang="en-US"/>
          </a:p>
        </p:txBody>
      </p:sp>
      <p:sp>
        <p:nvSpPr>
          <p:cNvPr id="22" name="Text 20"/>
          <p:cNvSpPr/>
          <p:nvPr/>
        </p:nvSpPr>
        <p:spPr>
          <a:xfrm>
            <a:off x="1133856" y="3080000"/>
            <a:ext cx="10150000" cy="1040000"/>
          </a:xfrm>
          <a:prstGeom prst="rect">
            <a:avLst/>
          </a:prstGeom>
          <a:noFill/>
          <a:ln/>
        </p:spPr>
        <p:txBody>
          <a:bodyPr wrap="square" lIns="0" tIns="0" rIns="0" bIns="0" rtlCol="0" anchor="t"/>
          <a:lstStyle/>
          <a:p>
            <a:pPr marL="0" indent="0">
              <a:lnSpc>
                <a:spcPct val="103000"/>
              </a:lnSpc>
              <a:buNone/>
            </a:pPr>
            <a:r>
              <a:rPr lang="en-US" sz="2000" dirty="0">
                <a:solidFill>
                  <a:srgbClr val="33373F"/>
                </a:solidFill>
                <a:latin typeface="Arial" pitchFamily="34" charset="0"/>
                <a:ea typeface="Arial" pitchFamily="34" charset="-122"/>
                <a:cs typeface="Arial" pitchFamily="34" charset="-120"/>
              </a:rPr>
              <a:t>Your stub resolver asks a </a:t>
            </a:r>
            <a:r>
              <a:rPr lang="en-US" sz="2000" b="1" dirty="0">
                <a:solidFill>
                  <a:srgbClr val="15171C"/>
                </a:solidFill>
                <a:latin typeface="Arial" pitchFamily="34" charset="0"/>
                <a:ea typeface="Arial" pitchFamily="34" charset="-122"/>
                <a:cs typeface="Arial" pitchFamily="34" charset="-120"/>
              </a:rPr>
              <a:t>recursive resolver</a:t>
            </a:r>
            <a:r>
              <a:rPr lang="en-US" sz="2000" dirty="0">
                <a:solidFill>
                  <a:srgbClr val="33373F"/>
                </a:solidFill>
                <a:latin typeface="Arial" pitchFamily="34" charset="0"/>
                <a:ea typeface="Arial" pitchFamily="34" charset="-122"/>
                <a:cs typeface="Arial" pitchFamily="34" charset="-120"/>
              </a:rPr>
              <a:t>, which walks (if total cache miss) root → TLD → authoritative and caches each answer for its TTL. </a:t>
            </a:r>
            <a:endParaRPr lang="en-US" sz="1300" dirty="0"/>
          </a:p>
        </p:txBody>
      </p:sp>
      <p:sp>
        <p:nvSpPr>
          <p:cNvPr id="23" name="Shape 21"/>
          <p:cNvSpPr/>
          <p:nvPr/>
        </p:nvSpPr>
        <p:spPr>
          <a:xfrm>
            <a:off x="822960" y="4598580"/>
            <a:ext cx="91440" cy="91440"/>
          </a:xfrm>
          <a:prstGeom prst="ellipse">
            <a:avLst/>
          </a:prstGeom>
          <a:solidFill>
            <a:srgbClr val="2B5187"/>
          </a:solidFill>
          <a:ln/>
        </p:spPr>
        <p:txBody>
          <a:bodyPr/>
          <a:lstStyle/>
          <a:p>
            <a:endParaRPr lang="en-US"/>
          </a:p>
        </p:txBody>
      </p:sp>
      <p:sp>
        <p:nvSpPr>
          <p:cNvPr id="24" name="Text 22"/>
          <p:cNvSpPr/>
          <p:nvPr/>
        </p:nvSpPr>
        <p:spPr>
          <a:xfrm>
            <a:off x="1133856" y="4530000"/>
            <a:ext cx="10150000" cy="1040000"/>
          </a:xfrm>
          <a:prstGeom prst="rect">
            <a:avLst/>
          </a:prstGeom>
          <a:noFill/>
          <a:ln/>
        </p:spPr>
        <p:txBody>
          <a:bodyPr wrap="square" lIns="0" tIns="0" rIns="0" bIns="0" rtlCol="0" anchor="t"/>
          <a:lstStyle/>
          <a:p>
            <a:pPr marL="0" indent="0">
              <a:lnSpc>
                <a:spcPct val="103000"/>
              </a:lnSpc>
              <a:buNone/>
            </a:pPr>
            <a:r>
              <a:rPr lang="en-US" sz="2000" dirty="0">
                <a:solidFill>
                  <a:srgbClr val="33373F"/>
                </a:solidFill>
                <a:latin typeface="Arial" pitchFamily="34" charset="0"/>
                <a:ea typeface="Arial" pitchFamily="34" charset="-122"/>
                <a:cs typeface="Arial" pitchFamily="34" charset="-120"/>
              </a:rPr>
              <a:t>Record types carry different facts: </a:t>
            </a:r>
            <a:r>
              <a:rPr lang="en-US" sz="2000" b="1" dirty="0">
                <a:solidFill>
                  <a:srgbClr val="15171C"/>
                </a:solidFill>
                <a:latin typeface="Arial" pitchFamily="34" charset="0"/>
                <a:ea typeface="Arial" pitchFamily="34" charset="-122"/>
                <a:cs typeface="Arial" pitchFamily="34" charset="-120"/>
              </a:rPr>
              <a:t>A/AAAA</a:t>
            </a:r>
            <a:r>
              <a:rPr lang="en-US" sz="2000" dirty="0">
                <a:solidFill>
                  <a:srgbClr val="33373F"/>
                </a:solidFill>
                <a:latin typeface="Arial" pitchFamily="34" charset="0"/>
                <a:ea typeface="Arial" pitchFamily="34" charset="-122"/>
                <a:cs typeface="Arial" pitchFamily="34" charset="-120"/>
              </a:rPr>
              <a:t> (addresses), </a:t>
            </a:r>
            <a:r>
              <a:rPr lang="en-US" sz="2000" b="1" dirty="0">
                <a:solidFill>
                  <a:srgbClr val="15171C"/>
                </a:solidFill>
                <a:latin typeface="Arial" pitchFamily="34" charset="0"/>
                <a:ea typeface="Arial" pitchFamily="34" charset="-122"/>
                <a:cs typeface="Arial" pitchFamily="34" charset="-120"/>
              </a:rPr>
              <a:t>NS</a:t>
            </a:r>
            <a:r>
              <a:rPr lang="en-US" sz="2000" dirty="0">
                <a:solidFill>
                  <a:srgbClr val="33373F"/>
                </a:solidFill>
                <a:latin typeface="Arial" pitchFamily="34" charset="0"/>
                <a:ea typeface="Arial" pitchFamily="34" charset="-122"/>
                <a:cs typeface="Arial" pitchFamily="34" charset="-120"/>
              </a:rPr>
              <a:t> (delegation), </a:t>
            </a:r>
            <a:r>
              <a:rPr lang="en-US" sz="2000" b="1" dirty="0">
                <a:solidFill>
                  <a:srgbClr val="15171C"/>
                </a:solidFill>
                <a:latin typeface="Arial" pitchFamily="34" charset="0"/>
                <a:ea typeface="Arial" pitchFamily="34" charset="-122"/>
                <a:cs typeface="Arial" pitchFamily="34" charset="-120"/>
              </a:rPr>
              <a:t>MX</a:t>
            </a:r>
            <a:r>
              <a:rPr lang="en-US" sz="2000" dirty="0">
                <a:solidFill>
                  <a:srgbClr val="33373F"/>
                </a:solidFill>
                <a:latin typeface="Arial" pitchFamily="34" charset="0"/>
                <a:ea typeface="Arial" pitchFamily="34" charset="-122"/>
                <a:cs typeface="Arial" pitchFamily="34" charset="-120"/>
              </a:rPr>
              <a:t> (mail), </a:t>
            </a:r>
            <a:r>
              <a:rPr lang="en-US" sz="2000" b="1" dirty="0">
                <a:solidFill>
                  <a:srgbClr val="15171C"/>
                </a:solidFill>
                <a:latin typeface="Arial" pitchFamily="34" charset="0"/>
                <a:ea typeface="Arial" pitchFamily="34" charset="-122"/>
                <a:cs typeface="Arial" pitchFamily="34" charset="-120"/>
              </a:rPr>
              <a:t>CNAME</a:t>
            </a:r>
            <a:r>
              <a:rPr lang="en-US" sz="2000" dirty="0">
                <a:solidFill>
                  <a:srgbClr val="33373F"/>
                </a:solidFill>
                <a:latin typeface="Arial" pitchFamily="34" charset="0"/>
                <a:ea typeface="Arial" pitchFamily="34" charset="-122"/>
                <a:cs typeface="Arial" pitchFamily="34" charset="-120"/>
              </a:rPr>
              <a:t> (aliases).</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822960" y="640080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Arial" pitchFamily="34" charset="0"/>
                <a:ea typeface="Arial" pitchFamily="34" charset="-122"/>
                <a:cs typeface="Arial" pitchFamily="34" charset="-120"/>
              </a:rPr>
              <a:t>ESCALATE Training Program · Summer 2026</a:t>
            </a:r>
            <a:endParaRPr lang="en-US" sz="900" dirty="0"/>
          </a:p>
        </p:txBody>
      </p:sp>
      <p:sp>
        <p:nvSpPr>
          <p:cNvPr id="4" name="Text 2"/>
          <p:cNvSpPr/>
          <p:nvPr/>
        </p:nvSpPr>
        <p:spPr>
          <a:xfrm>
            <a:off x="822960" y="548640"/>
            <a:ext cx="5486400" cy="274320"/>
          </a:xfrm>
          <a:prstGeom prst="rect">
            <a:avLst/>
          </a:prstGeom>
          <a:noFill/>
          <a:ln/>
        </p:spPr>
        <p:txBody>
          <a:bodyPr wrap="square" lIns="0" tIns="0" rIns="0" bIns="0" rtlCol="0" anchor="t"/>
          <a:lstStyle/>
          <a:p>
            <a:pPr marL="0" indent="0">
              <a:buNone/>
            </a:pPr>
            <a:r>
              <a:rPr lang="en-US" sz="1100" b="1" kern="0" spc="220" dirty="0">
                <a:solidFill>
                  <a:srgbClr val="6B7280"/>
                </a:solidFill>
                <a:latin typeface="Arial" pitchFamily="34" charset="0"/>
                <a:ea typeface="Arial" pitchFamily="34" charset="-122"/>
                <a:cs typeface="Arial" pitchFamily="34" charset="-120"/>
              </a:rPr>
              <a:t>APPENDIX · NAMING</a:t>
            </a:r>
            <a:endParaRPr lang="en-US" sz="1100" dirty="0"/>
          </a:p>
        </p:txBody>
      </p:sp>
      <p:sp>
        <p:nvSpPr>
          <p:cNvPr id="5" name="Text 3"/>
          <p:cNvSpPr/>
          <p:nvPr/>
        </p:nvSpPr>
        <p:spPr>
          <a:xfrm>
            <a:off x="822960" y="868680"/>
            <a:ext cx="10607040" cy="1188720"/>
          </a:xfrm>
          <a:prstGeom prst="rect">
            <a:avLst/>
          </a:prstGeom>
          <a:noFill/>
          <a:ln/>
        </p:spPr>
        <p:txBody>
          <a:bodyPr wrap="square" lIns="0" tIns="0" rIns="0" bIns="0" rtlCol="0" anchor="t"/>
          <a:lstStyle/>
          <a:p>
            <a:pPr marL="0" indent="0">
              <a:lnSpc>
                <a:spcPct val="98000"/>
              </a:lnSpc>
              <a:buNone/>
            </a:pPr>
            <a:r>
              <a:rPr lang="en-US" sz="2800" b="1" dirty="0">
                <a:solidFill>
                  <a:srgbClr val="15171C"/>
                </a:solidFill>
                <a:latin typeface="Arial" pitchFamily="34" charset="0"/>
                <a:ea typeface="Arial" pitchFamily="34" charset="-122"/>
                <a:cs typeface="Arial" pitchFamily="34" charset="-120"/>
              </a:rPr>
              <a:t>Naming, a bird's-eye view (cont.)</a:t>
            </a:r>
            <a:endParaRPr lang="en-US" sz="2800" dirty="0"/>
          </a:p>
        </p:txBody>
      </p:sp>
      <p:sp>
        <p:nvSpPr>
          <p:cNvPr id="25" name="Shape 23"/>
          <p:cNvSpPr/>
          <p:nvPr/>
        </p:nvSpPr>
        <p:spPr>
          <a:xfrm>
            <a:off x="822960" y="2018580"/>
            <a:ext cx="91440" cy="91440"/>
          </a:xfrm>
          <a:prstGeom prst="ellipse">
            <a:avLst/>
          </a:prstGeom>
          <a:solidFill>
            <a:srgbClr val="2B5187"/>
          </a:solidFill>
          <a:ln/>
        </p:spPr>
        <p:txBody>
          <a:bodyPr/>
          <a:lstStyle/>
          <a:p>
            <a:endParaRPr lang="en-US"/>
          </a:p>
        </p:txBody>
      </p:sp>
      <p:sp>
        <p:nvSpPr>
          <p:cNvPr id="26" name="Text 24"/>
          <p:cNvSpPr/>
          <p:nvPr/>
        </p:nvSpPr>
        <p:spPr>
          <a:xfrm>
            <a:off x="1133856" y="1950000"/>
            <a:ext cx="10150000" cy="1040000"/>
          </a:xfrm>
          <a:prstGeom prst="rect">
            <a:avLst/>
          </a:prstGeom>
          <a:noFill/>
          <a:ln/>
        </p:spPr>
        <p:txBody>
          <a:bodyPr wrap="square" lIns="0" tIns="0" rIns="0" bIns="0" rtlCol="0" anchor="t"/>
          <a:lstStyle/>
          <a:p>
            <a:pPr marL="0" indent="0">
              <a:lnSpc>
                <a:spcPct val="103000"/>
              </a:lnSpc>
              <a:buNone/>
            </a:pPr>
            <a:r>
              <a:rPr lang="en-US" sz="2000" dirty="0">
                <a:solidFill>
                  <a:srgbClr val="33373F"/>
                </a:solidFill>
                <a:latin typeface="Arial" pitchFamily="34" charset="0"/>
                <a:ea typeface="Arial" pitchFamily="34" charset="-122"/>
                <a:cs typeface="Arial" pitchFamily="34" charset="-120"/>
              </a:rPr>
              <a:t>Caching makes DNS fast — but changes and outages propagate only as caches expire.</a:t>
            </a:r>
            <a:endParaRPr lang="en-US" sz="1300" dirty="0"/>
          </a:p>
        </p:txBody>
      </p:sp>
      <p:sp>
        <p:nvSpPr>
          <p:cNvPr id="27" name="Shape 25"/>
          <p:cNvSpPr/>
          <p:nvPr/>
        </p:nvSpPr>
        <p:spPr>
          <a:xfrm>
            <a:off x="822960" y="3468580"/>
            <a:ext cx="91440" cy="91440"/>
          </a:xfrm>
          <a:prstGeom prst="ellipse">
            <a:avLst/>
          </a:prstGeom>
          <a:solidFill>
            <a:srgbClr val="2B5187"/>
          </a:solidFill>
          <a:ln/>
        </p:spPr>
        <p:txBody>
          <a:bodyPr/>
          <a:lstStyle/>
          <a:p>
            <a:endParaRPr lang="en-US"/>
          </a:p>
        </p:txBody>
      </p:sp>
      <p:sp>
        <p:nvSpPr>
          <p:cNvPr id="28" name="Text 26"/>
          <p:cNvSpPr/>
          <p:nvPr/>
        </p:nvSpPr>
        <p:spPr>
          <a:xfrm>
            <a:off x="1133856" y="3400000"/>
            <a:ext cx="10150000" cy="1040000"/>
          </a:xfrm>
          <a:prstGeom prst="rect">
            <a:avLst/>
          </a:prstGeom>
          <a:noFill/>
          <a:ln/>
        </p:spPr>
        <p:txBody>
          <a:bodyPr wrap="square" lIns="0" tIns="0" rIns="0" bIns="0" rtlCol="0" anchor="t"/>
          <a:lstStyle/>
          <a:p>
            <a:pPr marL="0" indent="0">
              <a:lnSpc>
                <a:spcPct val="103000"/>
              </a:lnSpc>
              <a:buNone/>
            </a:pPr>
            <a:r>
              <a:rPr lang="en-US" sz="2000" b="1" dirty="0">
                <a:solidFill>
                  <a:srgbClr val="15171C"/>
                </a:solidFill>
                <a:latin typeface="Arial" pitchFamily="34" charset="0"/>
                <a:ea typeface="Arial" pitchFamily="34" charset="-122"/>
                <a:cs typeface="Arial" pitchFamily="34" charset="-120"/>
              </a:rPr>
              <a:t>DNSSEC </a:t>
            </a:r>
            <a:r>
              <a:rPr lang="en-US" sz="2000" dirty="0">
                <a:solidFill>
                  <a:srgbClr val="33373F"/>
                </a:solidFill>
                <a:latin typeface="Arial" pitchFamily="34" charset="0"/>
                <a:ea typeface="Arial" pitchFamily="34" charset="-122"/>
                <a:cs typeface="Arial" pitchFamily="34" charset="-120"/>
              </a:rPr>
              <a:t>signs records so resolvers can detect tampering such as </a:t>
            </a:r>
            <a:r>
              <a:rPr lang="en-US" sz="2000" b="1" dirty="0">
                <a:solidFill>
                  <a:srgbClr val="DB5B40"/>
                </a:solidFill>
                <a:latin typeface="Arial" pitchFamily="34" charset="0"/>
                <a:ea typeface="Arial" pitchFamily="34" charset="-122"/>
                <a:cs typeface="Arial" pitchFamily="34" charset="-120"/>
              </a:rPr>
              <a:t>cache poisoning</a:t>
            </a:r>
            <a:r>
              <a:rPr lang="en-US" sz="2000" dirty="0">
                <a:solidFill>
                  <a:srgbClr val="33373F"/>
                </a:solidFill>
                <a:latin typeface="Arial" pitchFamily="34" charset="0"/>
                <a:ea typeface="Arial" pitchFamily="34" charset="-122"/>
                <a:cs typeface="Arial" pitchFamily="34" charset="-120"/>
              </a:rPr>
              <a:t>; deployment remains partial.</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822960" y="640080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Arial" pitchFamily="34" charset="0"/>
                <a:ea typeface="Arial" pitchFamily="34" charset="-122"/>
                <a:cs typeface="Arial" pitchFamily="34" charset="-120"/>
              </a:rPr>
              <a:t>ESCALATE Training Program · Summer 2026</a:t>
            </a:r>
            <a:endParaRPr lang="en-US" sz="900" dirty="0"/>
          </a:p>
        </p:txBody>
      </p:sp>
      <p:sp>
        <p:nvSpPr>
          <p:cNvPr id="4" name="Text 2"/>
          <p:cNvSpPr/>
          <p:nvPr/>
        </p:nvSpPr>
        <p:spPr>
          <a:xfrm>
            <a:off x="822960" y="548640"/>
            <a:ext cx="5486400" cy="274320"/>
          </a:xfrm>
          <a:prstGeom prst="rect">
            <a:avLst/>
          </a:prstGeom>
          <a:noFill/>
          <a:ln/>
        </p:spPr>
        <p:txBody>
          <a:bodyPr wrap="square" lIns="0" tIns="0" rIns="0" bIns="0" rtlCol="0" anchor="t"/>
          <a:lstStyle/>
          <a:p>
            <a:pPr marL="0" indent="0">
              <a:buNone/>
            </a:pPr>
            <a:r>
              <a:rPr lang="en-US" sz="1100" b="1" kern="0" spc="220" dirty="0">
                <a:solidFill>
                  <a:srgbClr val="6B7280"/>
                </a:solidFill>
                <a:latin typeface="Arial" pitchFamily="34" charset="0"/>
                <a:ea typeface="Arial" pitchFamily="34" charset="-122"/>
                <a:cs typeface="Arial" pitchFamily="34" charset="-120"/>
              </a:rPr>
              <a:t>APPENDIX · AUTHENTICATION</a:t>
            </a:r>
            <a:endParaRPr lang="en-US" sz="1100" dirty="0"/>
          </a:p>
        </p:txBody>
      </p:sp>
      <p:sp>
        <p:nvSpPr>
          <p:cNvPr id="5" name="Text 3"/>
          <p:cNvSpPr/>
          <p:nvPr/>
        </p:nvSpPr>
        <p:spPr>
          <a:xfrm>
            <a:off x="822960" y="868680"/>
            <a:ext cx="10607040" cy="1188720"/>
          </a:xfrm>
          <a:prstGeom prst="rect">
            <a:avLst/>
          </a:prstGeom>
          <a:noFill/>
          <a:ln/>
        </p:spPr>
        <p:txBody>
          <a:bodyPr wrap="square" lIns="0" tIns="0" rIns="0" bIns="0" rtlCol="0" anchor="t"/>
          <a:lstStyle/>
          <a:p>
            <a:pPr marL="0" indent="0">
              <a:lnSpc>
                <a:spcPct val="98000"/>
              </a:lnSpc>
              <a:buNone/>
            </a:pPr>
            <a:r>
              <a:rPr lang="en-US" sz="2800" b="1" dirty="0">
                <a:solidFill>
                  <a:srgbClr val="15171C"/>
                </a:solidFill>
                <a:latin typeface="Arial" pitchFamily="34" charset="0"/>
                <a:ea typeface="Arial" pitchFamily="34" charset="-122"/>
                <a:cs typeface="Arial" pitchFamily="34" charset="-120"/>
              </a:rPr>
              <a:t>Authentication, a bird's-eye view</a:t>
            </a:r>
            <a:endParaRPr lang="en-US" sz="2800" dirty="0"/>
          </a:p>
        </p:txBody>
      </p:sp>
      <p:sp>
        <p:nvSpPr>
          <p:cNvPr id="6" name="Text 4"/>
          <p:cNvSpPr/>
          <p:nvPr/>
        </p:nvSpPr>
        <p:spPr>
          <a:xfrm>
            <a:off x="822960" y="1691640"/>
            <a:ext cx="10543032" cy="320040"/>
          </a:xfrm>
          <a:prstGeom prst="rect">
            <a:avLst/>
          </a:prstGeom>
          <a:noFill/>
          <a:ln/>
        </p:spPr>
        <p:txBody>
          <a:bodyPr wrap="square" lIns="0" tIns="0" rIns="0" bIns="0" rtlCol="0" anchor="ctr"/>
          <a:lstStyle/>
          <a:p>
            <a:pPr marL="0" indent="0">
              <a:buNone/>
            </a:pPr>
            <a:r>
              <a:rPr lang="en-US" sz="2000" b="1" dirty="0">
                <a:solidFill>
                  <a:srgbClr val="15171C"/>
                </a:solidFill>
                <a:latin typeface="Arial" pitchFamily="34" charset="0"/>
                <a:ea typeface="Arial" pitchFamily="34" charset="-122"/>
                <a:cs typeface="Arial" pitchFamily="34" charset="-120"/>
              </a:rPr>
              <a:t>Certificates: a chain that validates up to a root your device trusts</a:t>
            </a:r>
            <a:endParaRPr lang="en-US" sz="1500" dirty="0"/>
          </a:p>
        </p:txBody>
      </p:sp>
      <p:sp>
        <p:nvSpPr>
          <p:cNvPr id="7" name="Shape 5"/>
          <p:cNvSpPr/>
          <p:nvPr/>
        </p:nvSpPr>
        <p:spPr>
          <a:xfrm>
            <a:off x="822960" y="2194560"/>
            <a:ext cx="2416302" cy="777240"/>
          </a:xfrm>
          <a:prstGeom prst="roundRect">
            <a:avLst>
              <a:gd name="adj" fmla="val 8235"/>
            </a:avLst>
          </a:prstGeom>
          <a:solidFill>
            <a:srgbClr val="FFFFFF"/>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8" name="Text 6"/>
          <p:cNvSpPr/>
          <p:nvPr/>
        </p:nvSpPr>
        <p:spPr>
          <a:xfrm>
            <a:off x="932688" y="2304288"/>
            <a:ext cx="2196846" cy="557784"/>
          </a:xfrm>
          <a:prstGeom prst="rect">
            <a:avLst/>
          </a:prstGeom>
          <a:noFill/>
          <a:ln/>
        </p:spPr>
        <p:txBody>
          <a:bodyPr wrap="square" lIns="0" tIns="0" rIns="0" bIns="0" rtlCol="0" anchor="ctr"/>
          <a:lstStyle/>
          <a:p>
            <a:pPr marL="0" indent="0" algn="ctr">
              <a:lnSpc>
                <a:spcPct val="100000"/>
              </a:lnSpc>
              <a:buNone/>
            </a:pPr>
            <a:r>
              <a:rPr lang="en-US" sz="2000" b="1" dirty="0">
                <a:solidFill>
                  <a:srgbClr val="33373F"/>
                </a:solidFill>
                <a:latin typeface="Arial" pitchFamily="34" charset="0"/>
                <a:ea typeface="Arial" pitchFamily="34" charset="-122"/>
                <a:cs typeface="Arial" pitchFamily="34" charset="-120"/>
              </a:rPr>
              <a:t>Root CA</a:t>
            </a:r>
            <a:endParaRPr lang="en-US" sz="1200" dirty="0"/>
          </a:p>
        </p:txBody>
      </p:sp>
      <p:sp>
        <p:nvSpPr>
          <p:cNvPr id="9" name="Shape 7"/>
          <p:cNvSpPr/>
          <p:nvPr/>
        </p:nvSpPr>
        <p:spPr>
          <a:xfrm>
            <a:off x="3257550" y="2491740"/>
            <a:ext cx="256032" cy="182880"/>
          </a:xfrm>
          <a:prstGeom prst="rightArrow">
            <a:avLst/>
          </a:prstGeom>
          <a:solidFill>
            <a:srgbClr val="2B5187"/>
          </a:solidFill>
          <a:ln/>
        </p:spPr>
        <p:txBody>
          <a:bodyPr/>
          <a:lstStyle/>
          <a:p>
            <a:endParaRPr lang="en-US"/>
          </a:p>
        </p:txBody>
      </p:sp>
      <p:sp>
        <p:nvSpPr>
          <p:cNvPr id="10" name="Shape 8"/>
          <p:cNvSpPr/>
          <p:nvPr/>
        </p:nvSpPr>
        <p:spPr>
          <a:xfrm>
            <a:off x="3531870" y="2194560"/>
            <a:ext cx="2416302" cy="777240"/>
          </a:xfrm>
          <a:prstGeom prst="roundRect">
            <a:avLst>
              <a:gd name="adj" fmla="val 8235"/>
            </a:avLst>
          </a:prstGeom>
          <a:solidFill>
            <a:srgbClr val="FFFFFF"/>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11" name="Text 9"/>
          <p:cNvSpPr/>
          <p:nvPr/>
        </p:nvSpPr>
        <p:spPr>
          <a:xfrm>
            <a:off x="3641598" y="2304288"/>
            <a:ext cx="2196846" cy="557784"/>
          </a:xfrm>
          <a:prstGeom prst="rect">
            <a:avLst/>
          </a:prstGeom>
          <a:noFill/>
          <a:ln/>
        </p:spPr>
        <p:txBody>
          <a:bodyPr wrap="square" lIns="0" tIns="0" rIns="0" bIns="0" rtlCol="0" anchor="ctr"/>
          <a:lstStyle/>
          <a:p>
            <a:pPr marL="0" indent="0" algn="ctr">
              <a:lnSpc>
                <a:spcPct val="100000"/>
              </a:lnSpc>
              <a:buNone/>
            </a:pPr>
            <a:r>
              <a:rPr lang="en-US" sz="2000" b="1" dirty="0">
                <a:solidFill>
                  <a:srgbClr val="33373F"/>
                </a:solidFill>
                <a:latin typeface="Arial" pitchFamily="34" charset="0"/>
                <a:ea typeface="Arial" pitchFamily="34" charset="-122"/>
                <a:cs typeface="Arial" pitchFamily="34" charset="-120"/>
              </a:rPr>
              <a:t>Intermediate CA</a:t>
            </a:r>
            <a:endParaRPr lang="en-US" sz="1200" dirty="0"/>
          </a:p>
        </p:txBody>
      </p:sp>
      <p:sp>
        <p:nvSpPr>
          <p:cNvPr id="12" name="Shape 10"/>
          <p:cNvSpPr/>
          <p:nvPr/>
        </p:nvSpPr>
        <p:spPr>
          <a:xfrm>
            <a:off x="5966460" y="2491740"/>
            <a:ext cx="256032" cy="182880"/>
          </a:xfrm>
          <a:prstGeom prst="rightArrow">
            <a:avLst/>
          </a:prstGeom>
          <a:solidFill>
            <a:srgbClr val="2B5187"/>
          </a:solidFill>
          <a:ln/>
        </p:spPr>
        <p:txBody>
          <a:bodyPr/>
          <a:lstStyle/>
          <a:p>
            <a:endParaRPr lang="en-US"/>
          </a:p>
        </p:txBody>
      </p:sp>
      <p:sp>
        <p:nvSpPr>
          <p:cNvPr id="13" name="Shape 11"/>
          <p:cNvSpPr/>
          <p:nvPr/>
        </p:nvSpPr>
        <p:spPr>
          <a:xfrm>
            <a:off x="6240780" y="2194560"/>
            <a:ext cx="2416302" cy="777240"/>
          </a:xfrm>
          <a:prstGeom prst="roundRect">
            <a:avLst>
              <a:gd name="adj" fmla="val 8235"/>
            </a:avLst>
          </a:prstGeom>
          <a:solidFill>
            <a:srgbClr val="FFFFFF"/>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14" name="Text 12"/>
          <p:cNvSpPr/>
          <p:nvPr/>
        </p:nvSpPr>
        <p:spPr>
          <a:xfrm>
            <a:off x="6350508" y="2304288"/>
            <a:ext cx="2196846" cy="557784"/>
          </a:xfrm>
          <a:prstGeom prst="rect">
            <a:avLst/>
          </a:prstGeom>
          <a:noFill/>
          <a:ln/>
        </p:spPr>
        <p:txBody>
          <a:bodyPr wrap="square" lIns="0" tIns="0" rIns="0" bIns="0" rtlCol="0" anchor="ctr"/>
          <a:lstStyle/>
          <a:p>
            <a:pPr marL="0" indent="0" algn="ctr">
              <a:lnSpc>
                <a:spcPct val="100000"/>
              </a:lnSpc>
              <a:buNone/>
            </a:pPr>
            <a:r>
              <a:rPr lang="en-US" sz="2000" b="1" dirty="0">
                <a:solidFill>
                  <a:srgbClr val="33373F"/>
                </a:solidFill>
                <a:latin typeface="Arial" pitchFamily="34" charset="0"/>
                <a:ea typeface="Arial" pitchFamily="34" charset="-122"/>
                <a:cs typeface="Arial" pitchFamily="34" charset="-120"/>
              </a:rPr>
              <a:t>Site certificate</a:t>
            </a:r>
            <a:endParaRPr lang="en-US" sz="1200" dirty="0"/>
          </a:p>
        </p:txBody>
      </p:sp>
      <p:sp>
        <p:nvSpPr>
          <p:cNvPr id="15" name="Shape 13"/>
          <p:cNvSpPr/>
          <p:nvPr/>
        </p:nvSpPr>
        <p:spPr>
          <a:xfrm>
            <a:off x="8675370" y="2491740"/>
            <a:ext cx="256032" cy="182880"/>
          </a:xfrm>
          <a:prstGeom prst="rightArrow">
            <a:avLst/>
          </a:prstGeom>
          <a:solidFill>
            <a:srgbClr val="2B5187"/>
          </a:solidFill>
          <a:ln/>
        </p:spPr>
        <p:txBody>
          <a:bodyPr/>
          <a:lstStyle/>
          <a:p>
            <a:endParaRPr lang="en-US"/>
          </a:p>
        </p:txBody>
      </p:sp>
      <p:sp>
        <p:nvSpPr>
          <p:cNvPr id="16" name="Shape 14"/>
          <p:cNvSpPr/>
          <p:nvPr/>
        </p:nvSpPr>
        <p:spPr>
          <a:xfrm>
            <a:off x="8949690" y="2194560"/>
            <a:ext cx="2416302" cy="777240"/>
          </a:xfrm>
          <a:prstGeom prst="roundRect">
            <a:avLst>
              <a:gd name="adj" fmla="val 8235"/>
            </a:avLst>
          </a:prstGeom>
          <a:solidFill>
            <a:srgbClr val="E9EFF7"/>
          </a:solidFill>
          <a:ln w="12700">
            <a:solidFill>
              <a:srgbClr val="E5E7EB"/>
            </a:solidFill>
            <a:prstDash val="solid"/>
          </a:ln>
          <a:effectLst>
            <a:outerShdw blurRad="88900" dist="38100" dir="5400000" algn="bl" rotWithShape="0">
              <a:srgbClr val="000000">
                <a:alpha val="7000"/>
              </a:srgbClr>
            </a:outerShdw>
          </a:effectLst>
        </p:spPr>
        <p:txBody>
          <a:bodyPr/>
          <a:lstStyle/>
          <a:p>
            <a:endParaRPr lang="en-US"/>
          </a:p>
        </p:txBody>
      </p:sp>
      <p:sp>
        <p:nvSpPr>
          <p:cNvPr id="17" name="Text 15"/>
          <p:cNvSpPr/>
          <p:nvPr/>
        </p:nvSpPr>
        <p:spPr>
          <a:xfrm>
            <a:off x="9059418" y="2304288"/>
            <a:ext cx="2196846" cy="557784"/>
          </a:xfrm>
          <a:prstGeom prst="rect">
            <a:avLst/>
          </a:prstGeom>
          <a:noFill/>
          <a:ln/>
        </p:spPr>
        <p:txBody>
          <a:bodyPr wrap="square" lIns="0" tIns="0" rIns="0" bIns="0" rtlCol="0" anchor="ctr"/>
          <a:lstStyle/>
          <a:p>
            <a:pPr marL="0" indent="0" algn="ctr">
              <a:lnSpc>
                <a:spcPct val="100000"/>
              </a:lnSpc>
              <a:buNone/>
            </a:pPr>
            <a:r>
              <a:rPr lang="en-US" sz="2000" b="1" dirty="0">
                <a:solidFill>
                  <a:srgbClr val="2B5187"/>
                </a:solidFill>
                <a:latin typeface="Arial" pitchFamily="34" charset="0"/>
                <a:ea typeface="Arial" pitchFamily="34" charset="-122"/>
                <a:cs typeface="Arial" pitchFamily="34" charset="-120"/>
              </a:rPr>
              <a:t>Your browser trusts it</a:t>
            </a:r>
            <a:endParaRPr lang="en-US" sz="1200" dirty="0"/>
          </a:p>
        </p:txBody>
      </p:sp>
      <p:sp>
        <p:nvSpPr>
          <p:cNvPr id="18" name="Shape 16"/>
          <p:cNvSpPr/>
          <p:nvPr/>
        </p:nvSpPr>
        <p:spPr>
          <a:xfrm>
            <a:off x="822960" y="3148580"/>
            <a:ext cx="91440" cy="91440"/>
          </a:xfrm>
          <a:prstGeom prst="ellipse">
            <a:avLst/>
          </a:prstGeom>
          <a:solidFill>
            <a:srgbClr val="2B5187"/>
          </a:solidFill>
          <a:ln/>
        </p:spPr>
        <p:txBody>
          <a:bodyPr/>
          <a:lstStyle/>
          <a:p>
            <a:endParaRPr lang="en-US"/>
          </a:p>
        </p:txBody>
      </p:sp>
      <p:sp>
        <p:nvSpPr>
          <p:cNvPr id="19" name="Text 17"/>
          <p:cNvSpPr/>
          <p:nvPr/>
        </p:nvSpPr>
        <p:spPr>
          <a:xfrm>
            <a:off x="1133856" y="3080000"/>
            <a:ext cx="10150000" cy="1040000"/>
          </a:xfrm>
          <a:prstGeom prst="rect">
            <a:avLst/>
          </a:prstGeom>
          <a:noFill/>
          <a:ln/>
        </p:spPr>
        <p:txBody>
          <a:bodyPr wrap="square" lIns="0" tIns="0" rIns="0" bIns="0" rtlCol="0" anchor="t"/>
          <a:lstStyle/>
          <a:p>
            <a:pPr marL="0" indent="0">
              <a:lnSpc>
                <a:spcPct val="103000"/>
              </a:lnSpc>
              <a:buNone/>
            </a:pPr>
            <a:r>
              <a:rPr lang="en-US" sz="2000" dirty="0">
                <a:solidFill>
                  <a:srgbClr val="33373F"/>
                </a:solidFill>
                <a:latin typeface="Arial" pitchFamily="34" charset="0"/>
                <a:ea typeface="Arial" pitchFamily="34" charset="-122"/>
                <a:cs typeface="Arial" pitchFamily="34" charset="-120"/>
              </a:rPr>
              <a:t>TLS encrypts the connection; identity rests on an </a:t>
            </a:r>
            <a:r>
              <a:rPr lang="en-US" sz="2000" b="1" dirty="0">
                <a:solidFill>
                  <a:srgbClr val="15171C"/>
                </a:solidFill>
                <a:latin typeface="Arial" pitchFamily="34" charset="0"/>
                <a:ea typeface="Arial" pitchFamily="34" charset="-122"/>
                <a:cs typeface="Arial" pitchFamily="34" charset="-120"/>
              </a:rPr>
              <a:t>X.509 certificate chain</a:t>
            </a:r>
            <a:r>
              <a:rPr lang="en-US" sz="2000" dirty="0">
                <a:solidFill>
                  <a:srgbClr val="33373F"/>
                </a:solidFill>
                <a:latin typeface="Arial" pitchFamily="34" charset="0"/>
                <a:ea typeface="Arial" pitchFamily="34" charset="-122"/>
                <a:cs typeface="Arial" pitchFamily="34" charset="-120"/>
              </a:rPr>
              <a:t> that validates up to a CA in your device's trust store.</a:t>
            </a:r>
            <a:endParaRPr lang="en-US" sz="1300" dirty="0"/>
          </a:p>
        </p:txBody>
      </p:sp>
      <p:sp>
        <p:nvSpPr>
          <p:cNvPr id="20" name="Shape 18"/>
          <p:cNvSpPr/>
          <p:nvPr/>
        </p:nvSpPr>
        <p:spPr>
          <a:xfrm>
            <a:off x="822960" y="4598580"/>
            <a:ext cx="91440" cy="91440"/>
          </a:xfrm>
          <a:prstGeom prst="ellipse">
            <a:avLst/>
          </a:prstGeom>
          <a:solidFill>
            <a:srgbClr val="2B5187"/>
          </a:solidFill>
          <a:ln/>
        </p:spPr>
        <p:txBody>
          <a:bodyPr/>
          <a:lstStyle/>
          <a:p>
            <a:endParaRPr lang="en-US"/>
          </a:p>
        </p:txBody>
      </p:sp>
      <p:sp>
        <p:nvSpPr>
          <p:cNvPr id="21" name="Text 19"/>
          <p:cNvSpPr/>
          <p:nvPr/>
        </p:nvSpPr>
        <p:spPr>
          <a:xfrm>
            <a:off x="1133856" y="4530000"/>
            <a:ext cx="10150000" cy="1040000"/>
          </a:xfrm>
          <a:prstGeom prst="rect">
            <a:avLst/>
          </a:prstGeom>
          <a:noFill/>
          <a:ln/>
        </p:spPr>
        <p:txBody>
          <a:bodyPr wrap="square" lIns="0" tIns="0" rIns="0" bIns="0" rtlCol="0" anchor="t"/>
          <a:lstStyle/>
          <a:p>
            <a:pPr marL="0" indent="0">
              <a:lnSpc>
                <a:spcPct val="103000"/>
              </a:lnSpc>
              <a:buNone/>
            </a:pPr>
            <a:r>
              <a:rPr lang="en-US" sz="2000" dirty="0">
                <a:solidFill>
                  <a:srgbClr val="33373F"/>
                </a:solidFill>
                <a:latin typeface="Arial" pitchFamily="34" charset="0"/>
                <a:ea typeface="Arial" pitchFamily="34" charset="-122"/>
                <a:cs typeface="Arial" pitchFamily="34" charset="-120"/>
              </a:rPr>
              <a:t>The client checks the signatures, that the </a:t>
            </a:r>
            <a:r>
              <a:rPr lang="en-US" sz="2000" b="1" dirty="0">
                <a:solidFill>
                  <a:srgbClr val="15171C"/>
                </a:solidFill>
                <a:latin typeface="Arial" pitchFamily="34" charset="0"/>
                <a:ea typeface="Arial" pitchFamily="34" charset="-122"/>
                <a:cs typeface="Arial" pitchFamily="34" charset="-120"/>
              </a:rPr>
              <a:t>name matches</a:t>
            </a:r>
            <a:r>
              <a:rPr lang="en-US" sz="2000" dirty="0">
                <a:solidFill>
                  <a:srgbClr val="33373F"/>
                </a:solidFill>
                <a:latin typeface="Arial" pitchFamily="34" charset="0"/>
                <a:ea typeface="Arial" pitchFamily="34" charset="-122"/>
                <a:cs typeface="Arial" pitchFamily="34" charset="-120"/>
              </a:rPr>
              <a:t>, and that the certificate is unexpired and unrevoked.</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822960" y="640080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Arial" pitchFamily="34" charset="0"/>
                <a:ea typeface="Arial" pitchFamily="34" charset="-122"/>
                <a:cs typeface="Arial" pitchFamily="34" charset="-120"/>
              </a:rPr>
              <a:t>ESCALATE Training Program · Summer 2026</a:t>
            </a:r>
            <a:endParaRPr lang="en-US" sz="900" dirty="0"/>
          </a:p>
        </p:txBody>
      </p:sp>
      <p:sp>
        <p:nvSpPr>
          <p:cNvPr id="4" name="Text 2"/>
          <p:cNvSpPr/>
          <p:nvPr/>
        </p:nvSpPr>
        <p:spPr>
          <a:xfrm>
            <a:off x="822960" y="548640"/>
            <a:ext cx="5486400" cy="274320"/>
          </a:xfrm>
          <a:prstGeom prst="rect">
            <a:avLst/>
          </a:prstGeom>
          <a:noFill/>
          <a:ln/>
        </p:spPr>
        <p:txBody>
          <a:bodyPr wrap="square" lIns="0" tIns="0" rIns="0" bIns="0" rtlCol="0" anchor="t"/>
          <a:lstStyle/>
          <a:p>
            <a:pPr marL="0" indent="0">
              <a:buNone/>
            </a:pPr>
            <a:r>
              <a:rPr lang="en-US" sz="1100" b="1" kern="0" spc="220" dirty="0">
                <a:solidFill>
                  <a:srgbClr val="6B7280"/>
                </a:solidFill>
                <a:latin typeface="Arial" pitchFamily="34" charset="0"/>
                <a:ea typeface="Arial" pitchFamily="34" charset="-122"/>
                <a:cs typeface="Arial" pitchFamily="34" charset="-120"/>
              </a:rPr>
              <a:t>APPENDIX · AUTHENTICATION</a:t>
            </a:r>
            <a:endParaRPr lang="en-US" sz="1100" dirty="0"/>
          </a:p>
        </p:txBody>
      </p:sp>
      <p:sp>
        <p:nvSpPr>
          <p:cNvPr id="5" name="Text 3"/>
          <p:cNvSpPr/>
          <p:nvPr/>
        </p:nvSpPr>
        <p:spPr>
          <a:xfrm>
            <a:off x="822960" y="868680"/>
            <a:ext cx="10607040" cy="1188720"/>
          </a:xfrm>
          <a:prstGeom prst="rect">
            <a:avLst/>
          </a:prstGeom>
          <a:noFill/>
          <a:ln/>
        </p:spPr>
        <p:txBody>
          <a:bodyPr wrap="square" lIns="0" tIns="0" rIns="0" bIns="0" rtlCol="0" anchor="t"/>
          <a:lstStyle/>
          <a:p>
            <a:pPr marL="0" indent="0">
              <a:lnSpc>
                <a:spcPct val="98000"/>
              </a:lnSpc>
              <a:buNone/>
            </a:pPr>
            <a:r>
              <a:rPr lang="en-US" sz="2800" b="1" dirty="0">
                <a:solidFill>
                  <a:srgbClr val="15171C"/>
                </a:solidFill>
                <a:latin typeface="Arial" pitchFamily="34" charset="0"/>
                <a:ea typeface="Arial" pitchFamily="34" charset="-122"/>
                <a:cs typeface="Arial" pitchFamily="34" charset="-120"/>
              </a:rPr>
              <a:t>Authentication, a bird's-eye view (cont.)</a:t>
            </a:r>
            <a:endParaRPr lang="en-US" sz="2800" dirty="0"/>
          </a:p>
        </p:txBody>
      </p:sp>
      <p:sp>
        <p:nvSpPr>
          <p:cNvPr id="22" name="Shape 20"/>
          <p:cNvSpPr/>
          <p:nvPr/>
        </p:nvSpPr>
        <p:spPr>
          <a:xfrm>
            <a:off x="822960" y="2018580"/>
            <a:ext cx="91440" cy="91440"/>
          </a:xfrm>
          <a:prstGeom prst="ellipse">
            <a:avLst/>
          </a:prstGeom>
          <a:solidFill>
            <a:srgbClr val="2B5187"/>
          </a:solidFill>
          <a:ln/>
        </p:spPr>
        <p:txBody>
          <a:bodyPr/>
          <a:lstStyle/>
          <a:p>
            <a:endParaRPr lang="en-US"/>
          </a:p>
        </p:txBody>
      </p:sp>
      <p:sp>
        <p:nvSpPr>
          <p:cNvPr id="23" name="Text 21"/>
          <p:cNvSpPr/>
          <p:nvPr/>
        </p:nvSpPr>
        <p:spPr>
          <a:xfrm>
            <a:off x="1133856" y="1950000"/>
            <a:ext cx="10150000" cy="1040000"/>
          </a:xfrm>
          <a:prstGeom prst="rect">
            <a:avLst/>
          </a:prstGeom>
          <a:noFill/>
          <a:ln/>
        </p:spPr>
        <p:txBody>
          <a:bodyPr wrap="square" lIns="0" tIns="0" rIns="0" bIns="0" rtlCol="0" anchor="t"/>
          <a:lstStyle/>
          <a:p>
            <a:pPr marL="0" indent="0">
              <a:lnSpc>
                <a:spcPct val="103000"/>
              </a:lnSpc>
              <a:buNone/>
            </a:pPr>
            <a:r>
              <a:rPr lang="en-US" sz="2000" b="1" dirty="0">
                <a:solidFill>
                  <a:srgbClr val="15171C"/>
                </a:solidFill>
                <a:latin typeface="Arial" pitchFamily="34" charset="0"/>
                <a:ea typeface="Arial" pitchFamily="34" charset="-122"/>
                <a:cs typeface="Arial" pitchFamily="34" charset="-120"/>
              </a:rPr>
              <a:t>Certificate Transparency </a:t>
            </a:r>
            <a:r>
              <a:rPr lang="en-US" sz="2000" dirty="0">
                <a:solidFill>
                  <a:srgbClr val="33373F"/>
                </a:solidFill>
                <a:latin typeface="Arial" pitchFamily="34" charset="0"/>
                <a:ea typeface="Arial" pitchFamily="34" charset="-122"/>
                <a:cs typeface="Arial" pitchFamily="34" charset="-120"/>
              </a:rPr>
              <a:t>logs publicly record issued certs, so </a:t>
            </a:r>
            <a:r>
              <a:rPr lang="en-US" sz="2000" b="1" dirty="0">
                <a:solidFill>
                  <a:srgbClr val="DB5B40"/>
                </a:solidFill>
                <a:latin typeface="Arial" pitchFamily="34" charset="0"/>
                <a:ea typeface="Arial" pitchFamily="34" charset="-122"/>
                <a:cs typeface="Arial" pitchFamily="34" charset="-120"/>
              </a:rPr>
              <a:t>mis-issuance</a:t>
            </a:r>
            <a:r>
              <a:rPr lang="en-US" sz="2000" dirty="0">
                <a:solidFill>
                  <a:srgbClr val="33373F"/>
                </a:solidFill>
                <a:latin typeface="Arial" pitchFamily="34" charset="0"/>
                <a:ea typeface="Arial" pitchFamily="34" charset="-122"/>
                <a:cs typeface="Arial" pitchFamily="34" charset="-120"/>
              </a:rPr>
              <a:t> can be caught after the fact.</a:t>
            </a:r>
            <a:endParaRPr lang="en-US" sz="1300" dirty="0"/>
          </a:p>
        </p:txBody>
      </p:sp>
      <p:sp>
        <p:nvSpPr>
          <p:cNvPr id="24" name="Shape 22"/>
          <p:cNvSpPr/>
          <p:nvPr/>
        </p:nvSpPr>
        <p:spPr>
          <a:xfrm>
            <a:off x="822960" y="3468580"/>
            <a:ext cx="91440" cy="91440"/>
          </a:xfrm>
          <a:prstGeom prst="ellipse">
            <a:avLst/>
          </a:prstGeom>
          <a:solidFill>
            <a:srgbClr val="2B5187"/>
          </a:solidFill>
          <a:ln/>
        </p:spPr>
        <p:txBody>
          <a:bodyPr/>
          <a:lstStyle/>
          <a:p>
            <a:endParaRPr lang="en-US"/>
          </a:p>
        </p:txBody>
      </p:sp>
      <p:sp>
        <p:nvSpPr>
          <p:cNvPr id="25" name="Text 23"/>
          <p:cNvSpPr/>
          <p:nvPr/>
        </p:nvSpPr>
        <p:spPr>
          <a:xfrm>
            <a:off x="1133856" y="3400000"/>
            <a:ext cx="10150000" cy="1040000"/>
          </a:xfrm>
          <a:prstGeom prst="rect">
            <a:avLst/>
          </a:prstGeom>
          <a:noFill/>
          <a:ln/>
        </p:spPr>
        <p:txBody>
          <a:bodyPr wrap="square" lIns="0" tIns="0" rIns="0" bIns="0" rtlCol="0" anchor="t"/>
          <a:lstStyle/>
          <a:p>
            <a:pPr marL="0" indent="0">
              <a:lnSpc>
                <a:spcPct val="103000"/>
              </a:lnSpc>
              <a:buNone/>
            </a:pPr>
            <a:r>
              <a:rPr lang="en-US" sz="2000" dirty="0">
                <a:solidFill>
                  <a:srgbClr val="33373F"/>
                </a:solidFill>
                <a:latin typeface="Arial" pitchFamily="34" charset="0"/>
                <a:ea typeface="Arial" pitchFamily="34" charset="-122"/>
                <a:cs typeface="Arial" pitchFamily="34" charset="-120"/>
              </a:rPr>
              <a:t>Combine a forged cert with DNS poisoning or a BGP hijack and a site can be impersonated.  Studies of incidents might have to rule out </a:t>
            </a:r>
            <a:r>
              <a:rPr lang="en-US" sz="2000">
                <a:solidFill>
                  <a:srgbClr val="33373F"/>
                </a:solidFill>
                <a:latin typeface="Arial" pitchFamily="34" charset="0"/>
                <a:ea typeface="Arial" pitchFamily="34" charset="-122"/>
                <a:cs typeface="Arial" pitchFamily="34" charset="-120"/>
              </a:rPr>
              <a:t>this scenario.</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822960" y="640080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Arial" pitchFamily="34" charset="0"/>
                <a:ea typeface="Arial" pitchFamily="34" charset="-122"/>
                <a:cs typeface="Arial" pitchFamily="34" charset="-120"/>
              </a:rPr>
              <a:t>ESCALATE Training Program · Summer 2026</a:t>
            </a:r>
            <a:endParaRPr lang="en-US" sz="900" dirty="0"/>
          </a:p>
        </p:txBody>
      </p:sp>
      <p:sp>
        <p:nvSpPr>
          <p:cNvPr id="4" name="Text 2"/>
          <p:cNvSpPr/>
          <p:nvPr/>
        </p:nvSpPr>
        <p:spPr>
          <a:xfrm>
            <a:off x="822960" y="548640"/>
            <a:ext cx="5486400" cy="274320"/>
          </a:xfrm>
          <a:prstGeom prst="rect">
            <a:avLst/>
          </a:prstGeom>
          <a:noFill/>
          <a:ln/>
        </p:spPr>
        <p:txBody>
          <a:bodyPr wrap="square" lIns="0" tIns="0" rIns="0" bIns="0" rtlCol="0" anchor="t"/>
          <a:lstStyle/>
          <a:p>
            <a:pPr marL="0" indent="0">
              <a:buNone/>
            </a:pPr>
            <a:r>
              <a:rPr lang="en-US" sz="1100" b="1" kern="0" spc="220" dirty="0">
                <a:solidFill>
                  <a:srgbClr val="6B7280"/>
                </a:solidFill>
                <a:latin typeface="Arial" pitchFamily="34" charset="0"/>
                <a:ea typeface="Arial" pitchFamily="34" charset="-122"/>
                <a:cs typeface="Arial" pitchFamily="34" charset="-120"/>
              </a:rPr>
              <a:t>APPENDIX · GLOSSARY</a:t>
            </a:r>
            <a:endParaRPr lang="en-US" sz="1100" dirty="0"/>
          </a:p>
        </p:txBody>
      </p:sp>
      <p:sp>
        <p:nvSpPr>
          <p:cNvPr id="5" name="Text 3"/>
          <p:cNvSpPr/>
          <p:nvPr/>
        </p:nvSpPr>
        <p:spPr>
          <a:xfrm>
            <a:off x="822960" y="868680"/>
            <a:ext cx="10607040" cy="1188720"/>
          </a:xfrm>
          <a:prstGeom prst="rect">
            <a:avLst/>
          </a:prstGeom>
          <a:noFill/>
          <a:ln/>
        </p:spPr>
        <p:txBody>
          <a:bodyPr wrap="square" lIns="0" tIns="0" rIns="0" bIns="0" rtlCol="0" anchor="t"/>
          <a:lstStyle/>
          <a:p>
            <a:pPr marL="0" indent="0">
              <a:lnSpc>
                <a:spcPct val="98000"/>
              </a:lnSpc>
              <a:buNone/>
            </a:pPr>
            <a:r>
              <a:rPr lang="en-US" sz="2800" b="1" dirty="0">
                <a:solidFill>
                  <a:srgbClr val="15171C"/>
                </a:solidFill>
                <a:latin typeface="Arial" pitchFamily="34" charset="0"/>
                <a:ea typeface="Arial" pitchFamily="34" charset="-122"/>
                <a:cs typeface="Arial" pitchFamily="34" charset="-120"/>
              </a:rPr>
              <a:t>Reference glossary (A–N)</a:t>
            </a:r>
            <a:endParaRPr lang="en-US" sz="2800" dirty="0"/>
          </a:p>
        </p:txBody>
      </p:sp>
      <p:sp>
        <p:nvSpPr>
          <p:cNvPr id="101" name="Glossary L"/>
          <p:cNvSpPr/>
          <p:nvPr/>
        </p:nvSpPr>
        <p:spPr>
          <a:xfrm>
            <a:off x="822960" y="2090000"/>
            <a:ext cx="5050000" cy="4280000"/>
          </a:xfrm>
          <a:prstGeom prst="rect">
            <a:avLst/>
          </a:prstGeom>
          <a:noFill/>
          <a:ln/>
        </p:spPr>
        <p:txBody>
          <a:bodyPr wrap="square" lIns="0" tIns="0" rIns="0" bIns="0" rtlCol="0" anchor="t">
            <a:normAutofit/>
          </a:bodyPr>
          <a:lstStyle/>
          <a:p>
            <a:pPr>
              <a:lnSpc>
                <a:spcPct val="102000"/>
              </a:lnSpc>
              <a:spcAft>
                <a:spcPts val="500"/>
              </a:spcAft>
              <a:buNone/>
            </a:pPr>
            <a:r>
              <a:rPr lang="en-US" sz="1000" b="1" dirty="0">
                <a:solidFill>
                  <a:srgbClr val="2B5187"/>
                </a:solidFill>
                <a:latin typeface="Arial" pitchFamily="34" charset="0"/>
                <a:cs typeface="Arial" pitchFamily="34" charset="0"/>
              </a:rPr>
              <a:t>Ark</a:t>
            </a:r>
            <a:r>
              <a:rPr lang="en-US" sz="1000" dirty="0">
                <a:solidFill>
                  <a:srgbClr val="33373F"/>
                </a:solidFill>
                <a:latin typeface="Arial" pitchFamily="34" charset="0"/>
                <a:cs typeface="Arial" pitchFamily="34" charset="0"/>
              </a:rPr>
              <a:t> — CAIDA’s Archipelago active-measurement platform; distributed monitors run large-scale traceroute/topology measurements.</a:t>
            </a:r>
          </a:p>
          <a:p>
            <a:pPr>
              <a:lnSpc>
                <a:spcPct val="102000"/>
              </a:lnSpc>
              <a:spcAft>
                <a:spcPts val="500"/>
              </a:spcAft>
              <a:buNone/>
            </a:pPr>
            <a:r>
              <a:rPr lang="en-US" sz="1000" b="1" dirty="0">
                <a:solidFill>
                  <a:srgbClr val="2B5187"/>
                </a:solidFill>
                <a:latin typeface="Arial" pitchFamily="34" charset="0"/>
                <a:cs typeface="Arial" pitchFamily="34" charset="0"/>
              </a:rPr>
              <a:t>AS hegemony</a:t>
            </a:r>
            <a:r>
              <a:rPr lang="en-US" sz="1000" dirty="0">
                <a:solidFill>
                  <a:srgbClr val="33373F"/>
                </a:solidFill>
                <a:latin typeface="Arial" pitchFamily="34" charset="0"/>
                <a:cs typeface="Arial" pitchFamily="34" charset="0"/>
              </a:rPr>
              <a:t> — Fontugne et al.’s metric for the fraction of paths toward a destination (or within a scope) that traverse a given AS; high values flag critical dependencies.</a:t>
            </a:r>
          </a:p>
          <a:p>
            <a:pPr>
              <a:lnSpc>
                <a:spcPct val="102000"/>
              </a:lnSpc>
              <a:spcAft>
                <a:spcPts val="500"/>
              </a:spcAft>
              <a:buNone/>
            </a:pPr>
            <a:r>
              <a:rPr lang="en-US" sz="1000" b="1" dirty="0">
                <a:solidFill>
                  <a:srgbClr val="2B5187"/>
                </a:solidFill>
                <a:latin typeface="Arial" pitchFamily="34" charset="0"/>
                <a:cs typeface="Arial" pitchFamily="34" charset="0"/>
              </a:rPr>
              <a:t>AS-to-Org (as2org)</a:t>
            </a:r>
            <a:r>
              <a:rPr lang="en-US" sz="1000" dirty="0">
                <a:solidFill>
                  <a:srgbClr val="33373F"/>
                </a:solidFill>
                <a:latin typeface="Arial" pitchFamily="34" charset="0"/>
                <a:cs typeface="Arial" pitchFamily="34" charset="0"/>
              </a:rPr>
              <a:t> — CAIDA’s dataset inferring which organization operates each AS (grouping sibling ASNs), derived from WHOIS/registry data.</a:t>
            </a:r>
          </a:p>
          <a:p>
            <a:pPr>
              <a:lnSpc>
                <a:spcPct val="102000"/>
              </a:lnSpc>
              <a:spcAft>
                <a:spcPts val="500"/>
              </a:spcAft>
              <a:buNone/>
            </a:pPr>
            <a:r>
              <a:rPr lang="en-US" sz="1000" b="1" dirty="0">
                <a:solidFill>
                  <a:srgbClr val="2B5187"/>
                </a:solidFill>
                <a:latin typeface="Arial" pitchFamily="34" charset="0"/>
                <a:cs typeface="Arial" pitchFamily="34" charset="0"/>
              </a:rPr>
              <a:t>ASN</a:t>
            </a:r>
            <a:r>
              <a:rPr lang="en-US" sz="1000" dirty="0">
                <a:solidFill>
                  <a:srgbClr val="33373F"/>
                </a:solidFill>
                <a:latin typeface="Arial" pitchFamily="34" charset="0"/>
                <a:cs typeface="Arial" pitchFamily="34" charset="0"/>
              </a:rPr>
              <a:t> — Autonomous System Number: the globally unique 16-/32-bit identifier an RIR assigns to an AS (a network under one routing policy).</a:t>
            </a:r>
          </a:p>
          <a:p>
            <a:pPr>
              <a:lnSpc>
                <a:spcPct val="102000"/>
              </a:lnSpc>
              <a:spcAft>
                <a:spcPts val="500"/>
              </a:spcAft>
              <a:buNone/>
            </a:pPr>
            <a:r>
              <a:rPr lang="en-US" sz="1000" b="1" dirty="0">
                <a:solidFill>
                  <a:srgbClr val="2B5187"/>
                </a:solidFill>
                <a:latin typeface="Arial" pitchFamily="34" charset="0"/>
                <a:cs typeface="Arial" pitchFamily="34" charset="0"/>
              </a:rPr>
              <a:t>BGP</a:t>
            </a:r>
            <a:r>
              <a:rPr lang="en-US" sz="1000" dirty="0">
                <a:solidFill>
                  <a:srgbClr val="33373F"/>
                </a:solidFill>
                <a:latin typeface="Arial" pitchFamily="34" charset="0"/>
                <a:cs typeface="Arial" pitchFamily="34" charset="0"/>
              </a:rPr>
              <a:t> — Border Gateway Protocol: the Internet’s inter-domain, policy-driven path-vector routing protocol.</a:t>
            </a:r>
          </a:p>
          <a:p>
            <a:pPr>
              <a:lnSpc>
                <a:spcPct val="102000"/>
              </a:lnSpc>
              <a:spcAft>
                <a:spcPts val="500"/>
              </a:spcAft>
              <a:buNone/>
            </a:pPr>
            <a:r>
              <a:rPr lang="en-US" sz="1000" b="1" dirty="0">
                <a:solidFill>
                  <a:srgbClr val="2B5187"/>
                </a:solidFill>
                <a:latin typeface="Arial" pitchFamily="34" charset="0"/>
                <a:cs typeface="Arial" pitchFamily="34" charset="0"/>
              </a:rPr>
              <a:t>Cache poisoning</a:t>
            </a:r>
            <a:r>
              <a:rPr lang="en-US" sz="1000" dirty="0">
                <a:solidFill>
                  <a:srgbClr val="33373F"/>
                </a:solidFill>
                <a:latin typeface="Arial" pitchFamily="34" charset="0"/>
                <a:cs typeface="Arial" pitchFamily="34" charset="0"/>
              </a:rPr>
              <a:t> — injecting forged records into a resolver’s cache so it serves attacker-controlled answers (e.g., the Kaminsky attack). The naming-layer failure.</a:t>
            </a:r>
          </a:p>
          <a:p>
            <a:pPr>
              <a:lnSpc>
                <a:spcPct val="102000"/>
              </a:lnSpc>
              <a:spcAft>
                <a:spcPts val="500"/>
              </a:spcAft>
              <a:buNone/>
            </a:pPr>
            <a:r>
              <a:rPr lang="en-US" sz="1000" b="1" dirty="0">
                <a:solidFill>
                  <a:srgbClr val="2B5187"/>
                </a:solidFill>
                <a:latin typeface="Arial" pitchFamily="34" charset="0"/>
                <a:cs typeface="Arial" pitchFamily="34" charset="0"/>
              </a:rPr>
              <a:t>customer cone</a:t>
            </a:r>
            <a:r>
              <a:rPr lang="en-US" sz="1000" dirty="0">
                <a:solidFill>
                  <a:srgbClr val="33373F"/>
                </a:solidFill>
                <a:latin typeface="Arial" pitchFamily="34" charset="0"/>
                <a:cs typeface="Arial" pitchFamily="34" charset="0"/>
              </a:rPr>
              <a:t> — the set of ASes and prefixes an AS can reach using only provider→customer links; a coarse proxy for transit reach.</a:t>
            </a:r>
          </a:p>
          <a:p>
            <a:pPr>
              <a:lnSpc>
                <a:spcPct val="102000"/>
              </a:lnSpc>
              <a:spcAft>
                <a:spcPts val="500"/>
              </a:spcAft>
              <a:buNone/>
            </a:pPr>
            <a:r>
              <a:rPr lang="en-US" sz="1000" b="1" dirty="0">
                <a:solidFill>
                  <a:srgbClr val="2B5187"/>
                </a:solidFill>
                <a:latin typeface="Arial" pitchFamily="34" charset="0"/>
                <a:cs typeface="Arial" pitchFamily="34" charset="0"/>
              </a:rPr>
              <a:t>Expanse</a:t>
            </a:r>
            <a:r>
              <a:rPr lang="en-US" sz="1000" dirty="0">
                <a:solidFill>
                  <a:srgbClr val="33373F"/>
                </a:solidFill>
                <a:latin typeface="Arial" pitchFamily="34" charset="0"/>
                <a:cs typeface="Arial" pitchFamily="34" charset="0"/>
              </a:rPr>
              <a:t> — an NSF/SDSC batch-scheduled HPC supercomputer for large longitudinal jobs.</a:t>
            </a:r>
          </a:p>
          <a:p>
            <a:pPr>
              <a:lnSpc>
                <a:spcPct val="102000"/>
              </a:lnSpc>
              <a:spcAft>
                <a:spcPts val="500"/>
              </a:spcAft>
              <a:buNone/>
            </a:pPr>
            <a:r>
              <a:rPr lang="en-US" sz="1000" b="1" dirty="0">
                <a:solidFill>
                  <a:srgbClr val="2B5187"/>
                </a:solidFill>
                <a:latin typeface="Arial" pitchFamily="34" charset="0"/>
                <a:cs typeface="Arial" pitchFamily="34" charset="0"/>
              </a:rPr>
              <a:t>IANA</a:t>
            </a:r>
            <a:r>
              <a:rPr lang="en-US" sz="1000" dirty="0">
                <a:solidFill>
                  <a:srgbClr val="33373F"/>
                </a:solidFill>
                <a:latin typeface="Arial" pitchFamily="34" charset="0"/>
                <a:cs typeface="Arial" pitchFamily="34" charset="0"/>
              </a:rPr>
              <a:t> — Internet Assigned Numbers Authority: top-level coordinator of IP space, ASNs, and protocol parameters; delegates to the RIRs.</a:t>
            </a:r>
          </a:p>
        </p:txBody>
      </p:sp>
      <p:sp>
        <p:nvSpPr>
          <p:cNvPr id="102" name="Glossary R"/>
          <p:cNvSpPr/>
          <p:nvPr/>
        </p:nvSpPr>
        <p:spPr>
          <a:xfrm>
            <a:off x="6150000" y="2090000"/>
            <a:ext cx="5219040" cy="4280000"/>
          </a:xfrm>
          <a:prstGeom prst="rect">
            <a:avLst/>
          </a:prstGeom>
          <a:noFill/>
          <a:ln/>
        </p:spPr>
        <p:txBody>
          <a:bodyPr wrap="square" lIns="0" tIns="0" rIns="0" bIns="0" rtlCol="0" anchor="t">
            <a:normAutofit/>
          </a:bodyPr>
          <a:lstStyle/>
          <a:p>
            <a:pPr>
              <a:lnSpc>
                <a:spcPct val="102000"/>
              </a:lnSpc>
              <a:spcAft>
                <a:spcPts val="500"/>
              </a:spcAft>
              <a:buNone/>
            </a:pPr>
            <a:r>
              <a:rPr lang="en-US" sz="1000" b="1" dirty="0">
                <a:solidFill>
                  <a:srgbClr val="2B5187"/>
                </a:solidFill>
                <a:latin typeface="Arial" pitchFamily="34" charset="0"/>
                <a:cs typeface="Arial" pitchFamily="34" charset="0"/>
              </a:rPr>
              <a:t>IRR</a:t>
            </a:r>
            <a:r>
              <a:rPr lang="en-US" sz="1000" dirty="0">
                <a:solidFill>
                  <a:srgbClr val="33373F"/>
                </a:solidFill>
                <a:latin typeface="Arial" pitchFamily="34" charset="0"/>
                <a:cs typeface="Arial" pitchFamily="34" charset="0"/>
              </a:rPr>
              <a:t> — Internet Routing Registry: distributed databases where operators publish routing policy and authorized announcements, used to build prefix filters.</a:t>
            </a:r>
          </a:p>
          <a:p>
            <a:pPr>
              <a:lnSpc>
                <a:spcPct val="102000"/>
              </a:lnSpc>
              <a:spcAft>
                <a:spcPts val="500"/>
              </a:spcAft>
              <a:buNone/>
            </a:pPr>
            <a:r>
              <a:rPr lang="en-US" sz="1000" b="1" dirty="0">
                <a:solidFill>
                  <a:srgbClr val="2B5187"/>
                </a:solidFill>
                <a:latin typeface="Arial" pitchFamily="34" charset="0"/>
                <a:cs typeface="Arial" pitchFamily="34" charset="0"/>
              </a:rPr>
              <a:t>IYP</a:t>
            </a:r>
            <a:r>
              <a:rPr lang="en-US" sz="1000" dirty="0">
                <a:solidFill>
                  <a:srgbClr val="33373F"/>
                </a:solidFill>
                <a:latin typeface="Arial" pitchFamily="34" charset="0"/>
                <a:cs typeface="Arial" pitchFamily="34" charset="0"/>
              </a:rPr>
              <a:t> — Internet Yellow Pages: an open Neo4j knowledge graph fusing BGP, DNS, registry and other datasets into queryable linked entities.</a:t>
            </a:r>
          </a:p>
          <a:p>
            <a:pPr>
              <a:lnSpc>
                <a:spcPct val="102000"/>
              </a:lnSpc>
              <a:spcAft>
                <a:spcPts val="500"/>
              </a:spcAft>
              <a:buNone/>
            </a:pPr>
            <a:r>
              <a:rPr lang="en-US" sz="1000" b="1" dirty="0">
                <a:solidFill>
                  <a:srgbClr val="2B5187"/>
                </a:solidFill>
                <a:latin typeface="Arial" pitchFamily="34" charset="0"/>
                <a:cs typeface="Arial" pitchFamily="34" charset="0"/>
              </a:rPr>
              <a:t>JupyterHub</a:t>
            </a:r>
            <a:r>
              <a:rPr lang="en-US" sz="1000" dirty="0">
                <a:solidFill>
                  <a:srgbClr val="33373F"/>
                </a:solidFill>
                <a:latin typeface="Arial" pitchFamily="34" charset="0"/>
                <a:cs typeface="Arial" pitchFamily="34" charset="0"/>
              </a:rPr>
              <a:t> — a multi-user server provisioning per-user browser-based </a:t>
            </a:r>
            <a:r>
              <a:rPr lang="en-US" sz="1000" dirty="0" err="1">
                <a:solidFill>
                  <a:srgbClr val="33373F"/>
                </a:solidFill>
                <a:latin typeface="Arial" pitchFamily="34" charset="0"/>
                <a:cs typeface="Arial" pitchFamily="34" charset="0"/>
              </a:rPr>
              <a:t>Jupyter</a:t>
            </a:r>
            <a:r>
              <a:rPr lang="en-US" sz="1000" dirty="0">
                <a:solidFill>
                  <a:srgbClr val="33373F"/>
                </a:solidFill>
                <a:latin typeface="Arial" pitchFamily="34" charset="0"/>
                <a:cs typeface="Arial" pitchFamily="34" charset="0"/>
              </a:rPr>
              <a:t> notebooks.</a:t>
            </a:r>
          </a:p>
          <a:p>
            <a:pPr>
              <a:lnSpc>
                <a:spcPct val="102000"/>
              </a:lnSpc>
              <a:spcAft>
                <a:spcPts val="500"/>
              </a:spcAft>
              <a:buNone/>
            </a:pPr>
            <a:r>
              <a:rPr lang="en-US" sz="1000" b="1" dirty="0">
                <a:solidFill>
                  <a:srgbClr val="2B5187"/>
                </a:solidFill>
                <a:latin typeface="Arial" pitchFamily="34" charset="0"/>
                <a:cs typeface="Arial" pitchFamily="34" charset="0"/>
              </a:rPr>
              <a:t>LIR</a:t>
            </a:r>
            <a:r>
              <a:rPr lang="en-US" sz="1000" dirty="0">
                <a:solidFill>
                  <a:srgbClr val="33373F"/>
                </a:solidFill>
                <a:latin typeface="Arial" pitchFamily="34" charset="0"/>
                <a:cs typeface="Arial" pitchFamily="34" charset="0"/>
              </a:rPr>
              <a:t> — Local Internet Registry: an organization (usually an ISP) that receives address space from an RIR and assigns it to end users.</a:t>
            </a:r>
          </a:p>
          <a:p>
            <a:pPr>
              <a:lnSpc>
                <a:spcPct val="102000"/>
              </a:lnSpc>
              <a:spcAft>
                <a:spcPts val="500"/>
              </a:spcAft>
              <a:buNone/>
            </a:pPr>
            <a:r>
              <a:rPr lang="en-US" sz="1000" b="1" dirty="0">
                <a:solidFill>
                  <a:srgbClr val="2B5187"/>
                </a:solidFill>
                <a:latin typeface="Arial" pitchFamily="34" charset="0"/>
                <a:cs typeface="Arial" pitchFamily="34" charset="0"/>
              </a:rPr>
              <a:t>Mis-issuance</a:t>
            </a:r>
            <a:r>
              <a:rPr lang="en-US" sz="1000" dirty="0">
                <a:solidFill>
                  <a:srgbClr val="33373F"/>
                </a:solidFill>
                <a:latin typeface="Arial" pitchFamily="34" charset="0"/>
                <a:cs typeface="Arial" pitchFamily="34" charset="0"/>
              </a:rPr>
              <a:t> — a CA issuing a certificate for a domain to the wrong party (error or compromise), enabling impersonation; surfaced via Certificate Transparency.</a:t>
            </a:r>
          </a:p>
          <a:p>
            <a:pPr>
              <a:lnSpc>
                <a:spcPct val="102000"/>
              </a:lnSpc>
              <a:spcAft>
                <a:spcPts val="500"/>
              </a:spcAft>
              <a:buNone/>
            </a:pPr>
            <a:r>
              <a:rPr lang="en-US" sz="1000" b="1" dirty="0">
                <a:solidFill>
                  <a:srgbClr val="2B5187"/>
                </a:solidFill>
                <a:latin typeface="Arial" pitchFamily="34" charset="0"/>
                <a:cs typeface="Arial" pitchFamily="34" charset="0"/>
              </a:rPr>
              <a:t>NAT / CGNAT</a:t>
            </a:r>
            <a:r>
              <a:rPr lang="en-US" sz="1000" dirty="0">
                <a:solidFill>
                  <a:srgbClr val="33373F"/>
                </a:solidFill>
                <a:latin typeface="Arial" pitchFamily="34" charset="0"/>
                <a:cs typeface="Arial" pitchFamily="34" charset="0"/>
              </a:rPr>
              <a:t> — Network Address Translation / Carrier-Grade NAT: rewriting addresses and ports to share scarce public IPv4; CGNAT adds a second, ISP-side translation tier.</a:t>
            </a:r>
          </a:p>
          <a:p>
            <a:pPr>
              <a:lnSpc>
                <a:spcPct val="102000"/>
              </a:lnSpc>
              <a:spcAft>
                <a:spcPts val="500"/>
              </a:spcAft>
              <a:buNone/>
            </a:pPr>
            <a:r>
              <a:rPr lang="en-US" sz="1000" b="1" dirty="0">
                <a:solidFill>
                  <a:srgbClr val="2B5187"/>
                </a:solidFill>
                <a:latin typeface="Arial" pitchFamily="34" charset="0"/>
                <a:cs typeface="Arial" pitchFamily="34" charset="0"/>
              </a:rPr>
              <a:t>Nautilus</a:t>
            </a:r>
            <a:r>
              <a:rPr lang="en-US" sz="1000" dirty="0">
                <a:solidFill>
                  <a:srgbClr val="33373F"/>
                </a:solidFill>
                <a:latin typeface="Arial" pitchFamily="34" charset="0"/>
                <a:cs typeface="Arial" pitchFamily="34" charset="0"/>
              </a:rPr>
              <a:t> — the Kubernetes hypercluster that operates NRP; workloads run as containers/pods.</a:t>
            </a:r>
          </a:p>
          <a:p>
            <a:pPr>
              <a:lnSpc>
                <a:spcPct val="102000"/>
              </a:lnSpc>
              <a:spcAft>
                <a:spcPts val="500"/>
              </a:spcAft>
              <a:buNone/>
            </a:pPr>
            <a:r>
              <a:rPr lang="en-US" sz="1000" b="1" dirty="0">
                <a:solidFill>
                  <a:srgbClr val="2B5187"/>
                </a:solidFill>
                <a:latin typeface="Arial" pitchFamily="34" charset="0"/>
                <a:cs typeface="Arial" pitchFamily="34" charset="0"/>
              </a:rPr>
              <a:t>network telescope</a:t>
            </a:r>
            <a:r>
              <a:rPr lang="en-US" sz="1000" dirty="0">
                <a:solidFill>
                  <a:srgbClr val="33373F"/>
                </a:solidFill>
                <a:latin typeface="Arial" pitchFamily="34" charset="0"/>
                <a:cs typeface="Arial" pitchFamily="34" charset="0"/>
              </a:rPr>
              <a:t> — a darknet — monitored, globally routed but unused IP space whose only inbound traffic is unsolicited (scans, backscatter from spoofed-source DDoS, malware), giving a view of malicious/anomalous activity. CAIDA operates the UCSD network telescope.</a:t>
            </a:r>
          </a:p>
          <a:p>
            <a:pPr>
              <a:lnSpc>
                <a:spcPct val="102000"/>
              </a:lnSpc>
              <a:spcAft>
                <a:spcPts val="500"/>
              </a:spcAft>
              <a:buNone/>
            </a:pPr>
            <a:r>
              <a:rPr lang="en-US" sz="1000" b="1" dirty="0">
                <a:solidFill>
                  <a:srgbClr val="2B5187"/>
                </a:solidFill>
                <a:latin typeface="Arial" pitchFamily="34" charset="0"/>
                <a:cs typeface="Arial" pitchFamily="34" charset="0"/>
              </a:rPr>
              <a:t>NRP</a:t>
            </a:r>
            <a:r>
              <a:rPr lang="en-US" sz="1000" dirty="0">
                <a:solidFill>
                  <a:srgbClr val="33373F"/>
                </a:solidFill>
                <a:latin typeface="Arial" pitchFamily="34" charset="0"/>
                <a:cs typeface="Arial" pitchFamily="34" charset="0"/>
              </a:rPr>
              <a:t> — National Research Platform: NSF-funded distributed cyberinfrastructure federating university compute/GPU/storage, accessed via Kubernetes and JupyterHub.</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822960" y="640080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Arial" pitchFamily="34" charset="0"/>
                <a:ea typeface="Arial" pitchFamily="34" charset="-122"/>
                <a:cs typeface="Arial" pitchFamily="34" charset="-120"/>
              </a:rPr>
              <a:t>ESCALATE Training Program · Summer 2026</a:t>
            </a:r>
            <a:endParaRPr lang="en-US" sz="900" dirty="0"/>
          </a:p>
        </p:txBody>
      </p:sp>
      <p:sp>
        <p:nvSpPr>
          <p:cNvPr id="4" name="Text 2"/>
          <p:cNvSpPr/>
          <p:nvPr/>
        </p:nvSpPr>
        <p:spPr>
          <a:xfrm>
            <a:off x="822960" y="548640"/>
            <a:ext cx="5486400" cy="274320"/>
          </a:xfrm>
          <a:prstGeom prst="rect">
            <a:avLst/>
          </a:prstGeom>
          <a:noFill/>
          <a:ln/>
        </p:spPr>
        <p:txBody>
          <a:bodyPr wrap="square" lIns="0" tIns="0" rIns="0" bIns="0" rtlCol="0" anchor="t"/>
          <a:lstStyle/>
          <a:p>
            <a:pPr marL="0" indent="0">
              <a:buNone/>
            </a:pPr>
            <a:r>
              <a:rPr lang="en-US" sz="1100" b="1" kern="0" spc="220" dirty="0">
                <a:solidFill>
                  <a:srgbClr val="6B7280"/>
                </a:solidFill>
                <a:latin typeface="Arial" pitchFamily="34" charset="0"/>
                <a:ea typeface="Arial" pitchFamily="34" charset="-122"/>
                <a:cs typeface="Arial" pitchFamily="34" charset="-120"/>
              </a:rPr>
              <a:t>APPENDIX · GLOSSARY</a:t>
            </a:r>
            <a:endParaRPr lang="en-US" sz="1100" dirty="0"/>
          </a:p>
        </p:txBody>
      </p:sp>
      <p:sp>
        <p:nvSpPr>
          <p:cNvPr id="5" name="Text 3"/>
          <p:cNvSpPr/>
          <p:nvPr/>
        </p:nvSpPr>
        <p:spPr>
          <a:xfrm>
            <a:off x="822960" y="868680"/>
            <a:ext cx="10607040" cy="1188720"/>
          </a:xfrm>
          <a:prstGeom prst="rect">
            <a:avLst/>
          </a:prstGeom>
          <a:noFill/>
          <a:ln/>
        </p:spPr>
        <p:txBody>
          <a:bodyPr wrap="square" lIns="0" tIns="0" rIns="0" bIns="0" rtlCol="0" anchor="t"/>
          <a:lstStyle/>
          <a:p>
            <a:pPr marL="0" indent="0">
              <a:lnSpc>
                <a:spcPct val="98000"/>
              </a:lnSpc>
              <a:buNone/>
            </a:pPr>
            <a:r>
              <a:rPr lang="en-US" sz="2800" b="1" dirty="0">
                <a:solidFill>
                  <a:srgbClr val="15171C"/>
                </a:solidFill>
                <a:latin typeface="Arial" pitchFamily="34" charset="0"/>
                <a:ea typeface="Arial" pitchFamily="34" charset="-122"/>
                <a:cs typeface="Arial" pitchFamily="34" charset="-120"/>
              </a:rPr>
              <a:t>Reference glossary (P–X)</a:t>
            </a:r>
            <a:endParaRPr lang="en-US" sz="2800" dirty="0"/>
          </a:p>
        </p:txBody>
      </p:sp>
      <p:sp>
        <p:nvSpPr>
          <p:cNvPr id="101" name="Glossary L"/>
          <p:cNvSpPr/>
          <p:nvPr/>
        </p:nvSpPr>
        <p:spPr>
          <a:xfrm>
            <a:off x="822960" y="2090000"/>
            <a:ext cx="5050000" cy="4280000"/>
          </a:xfrm>
          <a:prstGeom prst="rect">
            <a:avLst/>
          </a:prstGeom>
          <a:noFill/>
          <a:ln/>
        </p:spPr>
        <p:txBody>
          <a:bodyPr wrap="square" lIns="0" tIns="0" rIns="0" bIns="0" rtlCol="0" anchor="t">
            <a:normAutofit/>
          </a:bodyPr>
          <a:lstStyle/>
          <a:p>
            <a:pPr>
              <a:lnSpc>
                <a:spcPct val="102000"/>
              </a:lnSpc>
              <a:spcAft>
                <a:spcPts val="500"/>
              </a:spcAft>
              <a:buNone/>
            </a:pPr>
            <a:r>
              <a:rPr lang="en-US" sz="1000" b="1" dirty="0">
                <a:solidFill>
                  <a:srgbClr val="2B5187"/>
                </a:solidFill>
                <a:latin typeface="Arial" pitchFamily="34" charset="0"/>
                <a:cs typeface="Arial" pitchFamily="34" charset="0"/>
              </a:rPr>
              <a:t>PAM</a:t>
            </a:r>
            <a:r>
              <a:rPr lang="en-US" sz="1000" dirty="0">
                <a:solidFill>
                  <a:srgbClr val="33373F"/>
                </a:solidFill>
                <a:latin typeface="Arial" pitchFamily="34" charset="0"/>
                <a:cs typeface="Arial" pitchFamily="34" charset="0"/>
              </a:rPr>
              <a:t> — Passive and Active Measurement Conference.</a:t>
            </a:r>
          </a:p>
          <a:p>
            <a:pPr>
              <a:lnSpc>
                <a:spcPct val="102000"/>
              </a:lnSpc>
              <a:spcAft>
                <a:spcPts val="500"/>
              </a:spcAft>
              <a:buNone/>
            </a:pPr>
            <a:r>
              <a:rPr lang="en-US" sz="1000" b="1" dirty="0">
                <a:solidFill>
                  <a:srgbClr val="2B5187"/>
                </a:solidFill>
                <a:latin typeface="Arial" pitchFamily="34" charset="0"/>
                <a:cs typeface="Arial" pitchFamily="34" charset="0"/>
              </a:rPr>
              <a:t>ppdc-ases</a:t>
            </a:r>
            <a:r>
              <a:rPr lang="en-US" sz="1000" dirty="0">
                <a:solidFill>
                  <a:srgbClr val="33373F"/>
                </a:solidFill>
                <a:latin typeface="Arial" pitchFamily="34" charset="0"/>
                <a:cs typeface="Arial" pitchFamily="34" charset="0"/>
              </a:rPr>
              <a:t> — CAIDA’s customer-cone data file: each line lists an AS followed by the ASNs in its Serial-1 customer cone.</a:t>
            </a:r>
          </a:p>
          <a:p>
            <a:pPr>
              <a:lnSpc>
                <a:spcPct val="102000"/>
              </a:lnSpc>
              <a:spcAft>
                <a:spcPts val="500"/>
              </a:spcAft>
              <a:buNone/>
            </a:pPr>
            <a:r>
              <a:rPr lang="en-US" sz="1000" b="1" dirty="0">
                <a:solidFill>
                  <a:srgbClr val="2B5187"/>
                </a:solidFill>
                <a:latin typeface="Arial" pitchFamily="34" charset="0"/>
                <a:cs typeface="Arial" pitchFamily="34" charset="0"/>
              </a:rPr>
              <a:t>recursive resolver</a:t>
            </a:r>
            <a:r>
              <a:rPr lang="en-US" sz="1000" dirty="0">
                <a:solidFill>
                  <a:srgbClr val="33373F"/>
                </a:solidFill>
                <a:latin typeface="Arial" pitchFamily="34" charset="0"/>
                <a:cs typeface="Arial" pitchFamily="34" charset="0"/>
              </a:rPr>
              <a:t> — a DNS server that resolves a name end-to-end for a client by querying root, TLD, and authoritative servers and caching the results.</a:t>
            </a:r>
          </a:p>
          <a:p>
            <a:pPr>
              <a:lnSpc>
                <a:spcPct val="102000"/>
              </a:lnSpc>
              <a:spcAft>
                <a:spcPts val="500"/>
              </a:spcAft>
              <a:buNone/>
            </a:pPr>
            <a:r>
              <a:rPr lang="en-US" sz="1000" b="1" dirty="0">
                <a:solidFill>
                  <a:srgbClr val="2B5187"/>
                </a:solidFill>
                <a:latin typeface="Arial" pitchFamily="34" charset="0"/>
                <a:cs typeface="Arial" pitchFamily="34" charset="0"/>
              </a:rPr>
              <a:t>RIPE Atlas</a:t>
            </a:r>
            <a:r>
              <a:rPr lang="en-US" sz="1000" dirty="0">
                <a:solidFill>
                  <a:srgbClr val="33373F"/>
                </a:solidFill>
                <a:latin typeface="Arial" pitchFamily="34" charset="0"/>
                <a:cs typeface="Arial" pitchFamily="34" charset="0"/>
              </a:rPr>
              <a:t> — RIPE NCC’s global network of thousands of probes running active measurements (ping, traceroute, DNS).</a:t>
            </a:r>
          </a:p>
          <a:p>
            <a:pPr>
              <a:lnSpc>
                <a:spcPct val="102000"/>
              </a:lnSpc>
              <a:spcAft>
                <a:spcPts val="500"/>
              </a:spcAft>
              <a:buNone/>
            </a:pPr>
            <a:r>
              <a:rPr lang="en-US" sz="1000" b="1" dirty="0">
                <a:solidFill>
                  <a:srgbClr val="2B5187"/>
                </a:solidFill>
                <a:latin typeface="Arial" pitchFamily="34" charset="0"/>
                <a:cs typeface="Arial" pitchFamily="34" charset="0"/>
              </a:rPr>
              <a:t>RIR</a:t>
            </a:r>
            <a:r>
              <a:rPr lang="en-US" sz="1000" dirty="0">
                <a:solidFill>
                  <a:srgbClr val="33373F"/>
                </a:solidFill>
                <a:latin typeface="Arial" pitchFamily="34" charset="0"/>
                <a:cs typeface="Arial" pitchFamily="34" charset="0"/>
              </a:rPr>
              <a:t> — Regional Internet Registry: one of five regional bodies (ARIN, RIPE NCC, APNIC, LACNIC, AFRINIC) allocating address space and ASNs.</a:t>
            </a:r>
          </a:p>
          <a:p>
            <a:pPr>
              <a:lnSpc>
                <a:spcPct val="102000"/>
              </a:lnSpc>
              <a:spcAft>
                <a:spcPts val="500"/>
              </a:spcAft>
              <a:buNone/>
            </a:pPr>
            <a:r>
              <a:rPr lang="en-US" sz="1000" b="1" dirty="0">
                <a:solidFill>
                  <a:srgbClr val="2B5187"/>
                </a:solidFill>
                <a:latin typeface="Arial" pitchFamily="34" charset="0"/>
                <a:cs typeface="Arial" pitchFamily="34" charset="0"/>
              </a:rPr>
              <a:t>Route hijacks &amp; leaks</a:t>
            </a:r>
            <a:r>
              <a:rPr lang="en-US" sz="1000" dirty="0">
                <a:solidFill>
                  <a:srgbClr val="33373F"/>
                </a:solidFill>
                <a:latin typeface="Arial" pitchFamily="34" charset="0"/>
                <a:cs typeface="Arial" pitchFamily="34" charset="0"/>
              </a:rPr>
              <a:t> — a hijack announces a prefix you don’t hold; a leak re-advertises routes beyond policy (e.g., one provider’s routes to another). Both misdirect traffic.</a:t>
            </a:r>
          </a:p>
          <a:p>
            <a:pPr>
              <a:lnSpc>
                <a:spcPct val="102000"/>
              </a:lnSpc>
              <a:spcAft>
                <a:spcPts val="500"/>
              </a:spcAft>
              <a:buNone/>
            </a:pPr>
            <a:r>
              <a:rPr lang="en-US" sz="1000" b="1" dirty="0">
                <a:solidFill>
                  <a:srgbClr val="2B5187"/>
                </a:solidFill>
                <a:latin typeface="Arial" pitchFamily="34" charset="0"/>
                <a:cs typeface="Arial" pitchFamily="34" charset="0"/>
              </a:rPr>
              <a:t>RouteViews / RIS</a:t>
            </a:r>
            <a:r>
              <a:rPr lang="en-US" sz="1000" dirty="0">
                <a:solidFill>
                  <a:srgbClr val="33373F"/>
                </a:solidFill>
                <a:latin typeface="Arial" pitchFamily="34" charset="0"/>
                <a:cs typeface="Arial" pitchFamily="34" charset="0"/>
              </a:rPr>
              <a:t> — public BGP route-collector projects (U. Oregon RouteViews; RIPE NCC Routing Information Service) archiving BGP data from many peers.</a:t>
            </a:r>
          </a:p>
          <a:p>
            <a:pPr>
              <a:lnSpc>
                <a:spcPct val="102000"/>
              </a:lnSpc>
              <a:spcAft>
                <a:spcPts val="500"/>
              </a:spcAft>
              <a:buNone/>
            </a:pPr>
            <a:r>
              <a:rPr lang="en-US" sz="1000" b="1" dirty="0">
                <a:solidFill>
                  <a:srgbClr val="2B5187"/>
                </a:solidFill>
                <a:latin typeface="Arial" pitchFamily="34" charset="0"/>
                <a:cs typeface="Arial" pitchFamily="34" charset="0"/>
              </a:rPr>
              <a:t>ROV</a:t>
            </a:r>
            <a:r>
              <a:rPr lang="en-US" sz="1000" dirty="0">
                <a:solidFill>
                  <a:srgbClr val="33373F"/>
                </a:solidFill>
                <a:latin typeface="Arial" pitchFamily="34" charset="0"/>
                <a:cs typeface="Arial" pitchFamily="34" charset="0"/>
              </a:rPr>
              <a:t> — Route Origin Validation: checking a BGP route’s origin AS against RPKI ROAs and marking it valid / invalid / unknown; invalids may be filtered. Partially deployed.</a:t>
            </a:r>
          </a:p>
        </p:txBody>
      </p:sp>
      <p:sp>
        <p:nvSpPr>
          <p:cNvPr id="102" name="Glossary R"/>
          <p:cNvSpPr/>
          <p:nvPr/>
        </p:nvSpPr>
        <p:spPr>
          <a:xfrm>
            <a:off x="6150000" y="2090000"/>
            <a:ext cx="5219040" cy="4280000"/>
          </a:xfrm>
          <a:prstGeom prst="rect">
            <a:avLst/>
          </a:prstGeom>
          <a:noFill/>
          <a:ln/>
        </p:spPr>
        <p:txBody>
          <a:bodyPr wrap="square" lIns="0" tIns="0" rIns="0" bIns="0" rtlCol="0" anchor="t">
            <a:normAutofit/>
          </a:bodyPr>
          <a:lstStyle/>
          <a:p>
            <a:pPr>
              <a:lnSpc>
                <a:spcPct val="102000"/>
              </a:lnSpc>
              <a:spcAft>
                <a:spcPts val="500"/>
              </a:spcAft>
              <a:buNone/>
            </a:pPr>
            <a:r>
              <a:rPr lang="en-US" sz="1000" b="1" dirty="0">
                <a:solidFill>
                  <a:srgbClr val="2B5187"/>
                </a:solidFill>
                <a:latin typeface="Arial" pitchFamily="34" charset="0"/>
                <a:cs typeface="Arial" pitchFamily="34" charset="0"/>
              </a:rPr>
              <a:t>RPKI</a:t>
            </a:r>
            <a:r>
              <a:rPr lang="en-US" sz="1000" dirty="0">
                <a:solidFill>
                  <a:srgbClr val="33373F"/>
                </a:solidFill>
                <a:latin typeface="Arial" pitchFamily="34" charset="0"/>
                <a:cs typeface="Arial" pitchFamily="34" charset="0"/>
              </a:rPr>
              <a:t> — Resource Public Key Infrastructure: a PKI that cryptographically binds prefixes/ASNs to their holders through signed Route Origin Authorizations (ROAs).</a:t>
            </a:r>
          </a:p>
          <a:p>
            <a:pPr>
              <a:lnSpc>
                <a:spcPct val="102000"/>
              </a:lnSpc>
              <a:spcAft>
                <a:spcPts val="500"/>
              </a:spcAft>
              <a:buNone/>
            </a:pPr>
            <a:r>
              <a:rPr lang="en-US" sz="1000" b="1" dirty="0">
                <a:solidFill>
                  <a:srgbClr val="2B5187"/>
                </a:solidFill>
                <a:latin typeface="Arial" pitchFamily="34" charset="0"/>
                <a:cs typeface="Arial" pitchFamily="34" charset="0"/>
              </a:rPr>
              <a:t>Serial-1</a:t>
            </a:r>
            <a:r>
              <a:rPr lang="en-US" sz="1000" dirty="0">
                <a:solidFill>
                  <a:srgbClr val="33373F"/>
                </a:solidFill>
                <a:latin typeface="Arial" pitchFamily="34" charset="0"/>
                <a:cs typeface="Arial" pitchFamily="34" charset="0"/>
              </a:rPr>
              <a:t> — CAIDA AS Relationships dataset; one of CAIDA’s customer-cone computation methods, based on inferred AS relationships.</a:t>
            </a:r>
          </a:p>
          <a:p>
            <a:pPr>
              <a:lnSpc>
                <a:spcPct val="102000"/>
              </a:lnSpc>
              <a:spcAft>
                <a:spcPts val="500"/>
              </a:spcAft>
              <a:buNone/>
            </a:pPr>
            <a:r>
              <a:rPr lang="en-US" sz="1000" b="1" dirty="0">
                <a:solidFill>
                  <a:srgbClr val="2B5187"/>
                </a:solidFill>
                <a:latin typeface="Arial" pitchFamily="34" charset="0"/>
                <a:cs typeface="Arial" pitchFamily="34" charset="0"/>
              </a:rPr>
              <a:t>Slurm</a:t>
            </a:r>
            <a:r>
              <a:rPr lang="en-US" sz="1000" dirty="0">
                <a:solidFill>
                  <a:srgbClr val="33373F"/>
                </a:solidFill>
                <a:latin typeface="Arial" pitchFamily="34" charset="0"/>
                <a:cs typeface="Arial" pitchFamily="34" charset="0"/>
              </a:rPr>
              <a:t> — the HPC workload manager / batch scheduler used on Expanse.</a:t>
            </a:r>
          </a:p>
          <a:p>
            <a:pPr>
              <a:lnSpc>
                <a:spcPct val="102000"/>
              </a:lnSpc>
              <a:spcAft>
                <a:spcPts val="500"/>
              </a:spcAft>
              <a:buNone/>
            </a:pPr>
            <a:r>
              <a:rPr lang="en-US" sz="1000" b="1" dirty="0">
                <a:solidFill>
                  <a:srgbClr val="2B5187"/>
                </a:solidFill>
                <a:latin typeface="Arial" pitchFamily="34" charset="0"/>
                <a:cs typeface="Arial" pitchFamily="34" charset="0"/>
              </a:rPr>
              <a:t>Spoofing</a:t>
            </a:r>
            <a:r>
              <a:rPr lang="en-US" sz="1000" dirty="0">
                <a:solidFill>
                  <a:srgbClr val="33373F"/>
                </a:solidFill>
                <a:latin typeface="Arial" pitchFamily="34" charset="0"/>
                <a:cs typeface="Arial" pitchFamily="34" charset="0"/>
              </a:rPr>
              <a:t> — forging a packet’s source IP address; underpins reflection/amplification DoS. The addressing-layer failure.</a:t>
            </a:r>
          </a:p>
          <a:p>
            <a:pPr>
              <a:lnSpc>
                <a:spcPct val="102000"/>
              </a:lnSpc>
              <a:spcAft>
                <a:spcPts val="500"/>
              </a:spcAft>
              <a:buNone/>
            </a:pPr>
            <a:r>
              <a:rPr lang="en-US" sz="1000" b="1" dirty="0">
                <a:solidFill>
                  <a:srgbClr val="2B5187"/>
                </a:solidFill>
                <a:latin typeface="Arial" pitchFamily="34" charset="0"/>
                <a:cs typeface="Arial" pitchFamily="34" charset="0"/>
              </a:rPr>
              <a:t>stub network</a:t>
            </a:r>
            <a:r>
              <a:rPr lang="en-US" sz="1000" dirty="0">
                <a:solidFill>
                  <a:srgbClr val="33373F"/>
                </a:solidFill>
                <a:latin typeface="Arial" pitchFamily="34" charset="0"/>
                <a:cs typeface="Arial" pitchFamily="34" charset="0"/>
              </a:rPr>
              <a:t> — an AS with no customers of its own (cone = itself), typically an edge or enterprise network.</a:t>
            </a:r>
          </a:p>
          <a:p>
            <a:pPr>
              <a:lnSpc>
                <a:spcPct val="102000"/>
              </a:lnSpc>
              <a:spcAft>
                <a:spcPts val="500"/>
              </a:spcAft>
              <a:buNone/>
            </a:pPr>
            <a:r>
              <a:rPr lang="en-US" sz="1000" b="1" dirty="0">
                <a:solidFill>
                  <a:srgbClr val="2B5187"/>
                </a:solidFill>
                <a:latin typeface="Arial" pitchFamily="34" charset="0"/>
                <a:cs typeface="Arial" pitchFamily="34" charset="0"/>
              </a:rPr>
              <a:t>valley-free</a:t>
            </a:r>
            <a:r>
              <a:rPr lang="en-US" sz="1000" dirty="0">
                <a:solidFill>
                  <a:srgbClr val="33373F"/>
                </a:solidFill>
                <a:latin typeface="Arial" pitchFamily="34" charset="0"/>
                <a:cs typeface="Arial" pitchFamily="34" charset="0"/>
              </a:rPr>
              <a:t> — the BGP path-validity rule under the Gao–Rexford model: a path climbs customer→provider links, crosses at most one peer link at the apex, then descends provider→customer links, and never ascends again — no AS carries transit for free between its providers or peers.</a:t>
            </a:r>
          </a:p>
          <a:p>
            <a:pPr>
              <a:lnSpc>
                <a:spcPct val="102000"/>
              </a:lnSpc>
              <a:spcAft>
                <a:spcPts val="500"/>
              </a:spcAft>
              <a:buNone/>
            </a:pPr>
            <a:r>
              <a:rPr lang="en-US" sz="1000" b="1" dirty="0">
                <a:solidFill>
                  <a:srgbClr val="2B5187"/>
                </a:solidFill>
                <a:latin typeface="Arial" pitchFamily="34" charset="0"/>
                <a:cs typeface="Arial" pitchFamily="34" charset="0"/>
              </a:rPr>
              <a:t>WHOIS</a:t>
            </a:r>
            <a:r>
              <a:rPr lang="en-US" sz="1000" dirty="0">
                <a:solidFill>
                  <a:srgbClr val="33373F"/>
                </a:solidFill>
                <a:latin typeface="Arial" pitchFamily="34" charset="0"/>
                <a:cs typeface="Arial" pitchFamily="34" charset="0"/>
              </a:rPr>
              <a:t> — the protocol and databases for looking up the registrant of an IP block, ASN, or domain.</a:t>
            </a:r>
          </a:p>
          <a:p>
            <a:pPr>
              <a:lnSpc>
                <a:spcPct val="102000"/>
              </a:lnSpc>
              <a:spcAft>
                <a:spcPts val="500"/>
              </a:spcAft>
              <a:buNone/>
            </a:pPr>
            <a:r>
              <a:rPr lang="en-US" sz="1000" b="1" dirty="0">
                <a:solidFill>
                  <a:srgbClr val="2B5187"/>
                </a:solidFill>
                <a:latin typeface="Arial" pitchFamily="34" charset="0"/>
                <a:cs typeface="Arial" pitchFamily="34" charset="0"/>
              </a:rPr>
              <a:t>X.509</a:t>
            </a:r>
            <a:r>
              <a:rPr lang="en-US" sz="1000" dirty="0">
                <a:solidFill>
                  <a:srgbClr val="33373F"/>
                </a:solidFill>
                <a:latin typeface="Arial" pitchFamily="34" charset="0"/>
                <a:cs typeface="Arial" pitchFamily="34" charset="0"/>
              </a:rPr>
              <a:t> — the standard public-key certificate format (CA-signed binding of identity to key) that TLS uses to authenticate servers.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144</TotalTime>
  <Words>5450</Words>
  <Application>Microsoft Office PowerPoint</Application>
  <PresentationFormat>Widescreen</PresentationFormat>
  <Paragraphs>462</Paragraphs>
  <Slides>40</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ETP Week 1 — How the Internet is organized</dc:title>
  <dc:subject>PptxGenJS Presentation</dc:subject>
  <dc:creator>CAIDA ESCALATE Training Program</dc:creator>
  <cp:lastModifiedBy>Alex Ma</cp:lastModifiedBy>
  <cp:revision>5</cp:revision>
  <dcterms:created xsi:type="dcterms:W3CDTF">2026-06-14T19:27:42Z</dcterms:created>
  <dcterms:modified xsi:type="dcterms:W3CDTF">2026-06-19T15:00:34Z</dcterms:modified>
</cp:coreProperties>
</file>